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356" cy="223113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31136"/>
            <a:ext cx="9753356" cy="5120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526694"/>
            <a:ext cx="8217164" cy="10607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浓香型白酒风味数据库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BDD7EE"/>
                </a:solidFill>
                <a:latin typeface="Microsoft YaHei"/>
                <a:ea typeface="Microsoft YaHei"/>
                <a:cs typeface="Microsoft YaHei"/>
              </a:rPr>
              <a:t>数据清洗与风味物质关系挖掘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726387"/>
            <a:ext cx="821716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9DC3E6"/>
                </a:solidFill>
                <a:latin typeface="Microsoft YaHei"/>
                <a:ea typeface="Microsoft YaHei"/>
                <a:cs typeface="Microsoft YaHei"/>
              </a:rPr>
              <a:t>基于 data总库.xlsx：33 篇文献 · 63 个化合物 · 156 个数值列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721254"/>
            <a:ext cx="8217164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汇报人：夏童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导师：徐岩　教授　　指导小组：马玥　助理研究员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4096512"/>
            <a:ext cx="8217164" cy="804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1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课题方向：</a:t>
            </a:r>
            <a:r>
              <a:rPr sz="11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使用机器学习对浓香型白酒的勾兑进行自动化升级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本次汇报：</a:t>
            </a:r>
            <a:r>
              <a:rPr sz="11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风味数据库的数据清洗、阈值与 OAV 补全、风味物质关系挖掘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汇报提纲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" y="1111910"/>
            <a:ext cx="512064" cy="5120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111191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649" y="1126540"/>
            <a:ext cx="8217164" cy="4974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"/>
              </a:spcAft>
            </a:pPr>
            <a:r>
              <a:rPr sz="136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数据库现状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两部 Excel 的关系、主库结构与 33 篇文献覆盖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1770278"/>
            <a:ext cx="512064" cy="5120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77027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649" y="1784908"/>
            <a:ext cx="8217164" cy="4974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"/>
              </a:spcAft>
            </a:pPr>
            <a:r>
              <a:rPr sz="136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数据清洗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三类系统性损坏的定位与修复、单位统一、阈值与 OAV 补全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2428646"/>
            <a:ext cx="512064" cy="5120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242864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649" y="2443276"/>
            <a:ext cx="8217164" cy="4974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"/>
              </a:spcAft>
            </a:pPr>
            <a:r>
              <a:rPr sz="136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质量判定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156 个数值列哪些可用、哪些需要回原文核对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" y="3087014"/>
            <a:ext cx="512064" cy="5120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3087014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649" y="3101644"/>
            <a:ext cx="8217164" cy="4974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"/>
              </a:spcAft>
            </a:pPr>
            <a:r>
              <a:rPr sz="136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关系挖掘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相关矩阵、变量组聚类、样品 PCA/DBSCAN、共现网络、贡献权重表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" y="3745382"/>
            <a:ext cx="512064" cy="5120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3745382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649" y="3760012"/>
            <a:ext cx="8217164" cy="4974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"/>
              </a:spcAft>
            </a:pPr>
            <a:r>
              <a:rPr sz="136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结论与计划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数据库核心缺口与下一步工作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" y="4447641"/>
            <a:ext cx="8948684" cy="409651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42739"/>
            <a:ext cx="865607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全部分析结果均可在 </a:t>
            </a:r>
            <a:r>
              <a:rPr sz="92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new/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目录复现：脚本 4 个、图表 13 张、结果表 38 个、汇总 Excel 32 个工作表。源文件保持只读未改动。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一、数据库现状：两部 Excel 的关系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同一课题目录下存在两个数据文件，二者并不同步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2336" y="1038758"/>
          <a:ext cx="8948681" cy="1580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9012"/>
                <a:gridCol w="4075637"/>
                <a:gridCol w="3544032"/>
              </a:tblGrid>
              <a:tr h="26334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data总库.xlsx（本次清洗对象）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data.xlsx（姊妹库）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工作表数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 个（all data + 12 个文献表 + 1 个空表）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 个（all data + 34 个文献表）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 data 规模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 行 × 163 列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 行 × 52 列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数值列内容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以浓度为主，数值已提取为纯数字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浓度与 OAV 混排，保留 “±SD” 文本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CAS 列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 行损坏（被删除所有 0）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完整、可用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本次用途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清洗主体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交叉校验与数值修复的参照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02336" y="2721254"/>
            <a:ext cx="8948684" cy="1214323"/>
          </a:xfrm>
          <a:prstGeom prst="rect">
            <a:avLst/>
          </a:prstGeom>
          <a:solidFill>
            <a:srgbClr val="FDF2F2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3270" y="2816352"/>
            <a:ext cx="8626815" cy="10241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08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⚠　三点必须注意的差异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① 两库 all data 的列布局不一致：主库文献 4/6/7/9 组放的是浓度，姊妹库同一位置放的是 OAV → 合并时必须按列名而非按位置对齐。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② 主库只保留了 12 个文献工作表，姊妹库有 34 个 → 主库不是姊妹库的超集，二者信息互补。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③ 主库的 Threshold 与 Concentration（μg/L）两列在源文件中完全为空 → 课题技术路线的第一步即断链。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" y="4037990"/>
            <a:ext cx="8948684" cy="863193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3270" y="4133087"/>
            <a:ext cx="8626815" cy="67299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08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本次处理的策略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以 </a:t>
            </a:r>
            <a:r>
              <a:rPr sz="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data总库.xlsx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为清洗主体，把 </a:t>
            </a:r>
            <a:r>
              <a:rPr sz="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data.xlsx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仅作为校验与修复的参照；两个源文件全程只读打开，未做任何修改。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主库结构：63 个化合物 × 156 个数值列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all data = 7 列元数据 + 156 列文献样品数据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" y="1038758"/>
            <a:ext cx="3145536" cy="3877056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3270" y="1133855"/>
            <a:ext cx="2823667" cy="36868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08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7 列元数据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</a:pP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Order ID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</a:pP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CAS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</a:pP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Odorants（英文名）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</a:pP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中文名称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</a:pP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SMILES（分子结构）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</a:pPr>
            <a:r>
              <a:rPr sz="960" b="0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· Threshold　← 整列全空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</a:pPr>
            <a:r>
              <a:rPr sz="960" b="0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· Concentration（μg/L）　← 整列全空</a:t>
            </a:r>
          </a:p>
          <a:p>
            <a:pPr algn="l">
              <a:lnSpc>
                <a:spcPct val="110000"/>
              </a:lnSpc>
              <a:spcBef>
                <a:spcPts val="960"/>
              </a:spcBef>
              <a:spcAft>
                <a:spcPts val="480"/>
              </a:spcAft>
            </a:pPr>
            <a:r>
              <a:rPr sz="108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156 列数值列的组织方式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只有每组首列带文献编号与单位，后续列是“裸样品名”（GRD-JC、SC2、NX4…）——必须做表头前向填充，才能还原 156 列的语义（已实现）。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94176" y="1024128"/>
            <a:ext cx="2743200" cy="2340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156 列归纳为 33 个研究主题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94176" y="1302104"/>
            <a:ext cx="2743200" cy="3621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　基础酒 vs GJ-1573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　Y1/Y3/Y5/Y8/Y11 陈酿序列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3　LZLJ-M7 / LZLJ-T7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4　LS / FS 液液萃取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5　脉冲电场 PEF（S1–F3）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6　JH / SC 产区样品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7　CB / FB / SB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9　分级基酒 B1–B5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10　风味重组样品 1–8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11　优级/一级/二级/丢糟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12　高粱营养品质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13　四川不同产区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14　GC×GC-MS 含量 A/B/C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15　全二维 GC-TOFMS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16　5 种品牌浓香型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17　北派年份标记物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5624" y="1302104"/>
            <a:ext cx="2743200" cy="3621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18　不同贮存年份 X0–X8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19　浓香型 LZ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20　三种香型 NX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21　浓香型等级评判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22　乙醇代谢 SC1–SC3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23　2 / 3 / 5 年陈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24　典型 5 产区 JNC/WLY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25　山东沂蒙老区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26　一级好酒–三级酒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27　GC-QTOF MS NX1–NX10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28　酱香型 vs 浓香型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29　两种原粮 G1/G2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30　洋河绵柔型白酒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31　天之蓝 vs 二锅头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32　基酒味觉特征分组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33　宜宾产区 S-Y*/S-L*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文献 24 / 25 / 30 / 32 的样品名直接对应产区与品牌，是课题要求的“产区/品牌”标注素材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二、数据清洗：成果总览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针对三类系统性损坏，加上单位与阈值的补全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" y="1038758"/>
            <a:ext cx="2895112" cy="1155801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2336" y="1038758"/>
            <a:ext cx="54864" cy="1155801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2531" y="1148485"/>
            <a:ext cx="2558612" cy="9363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</a:pPr>
            <a:r>
              <a:rPr sz="208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</a:pPr>
            <a:r>
              <a:rPr sz="10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CAS 号通过校验位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63 行中 33 行损坏，全部修复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121" y="1038758"/>
            <a:ext cx="2895112" cy="1155801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121" y="1038758"/>
            <a:ext cx="54864" cy="1155801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9316" y="1148485"/>
            <a:ext cx="2558612" cy="9363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</a:pPr>
            <a:r>
              <a:rPr sz="208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156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</a:pPr>
            <a:r>
              <a:rPr sz="10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个数值列全部标定单位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含 13 列单位纠错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55907" y="1038758"/>
            <a:ext cx="2895112" cy="1155801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55907" y="1038758"/>
            <a:ext cx="54864" cy="115580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6102" y="1148485"/>
            <a:ext cx="2558612" cy="9363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</a:pPr>
            <a:r>
              <a:rPr sz="208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</a:pPr>
            <a:r>
              <a:rPr sz="10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个数值单元被精确还原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「删除 0」指纹比对还原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" y="2340864"/>
            <a:ext cx="2895112" cy="1155801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336" y="2340864"/>
            <a:ext cx="54864" cy="115580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2531" y="2450592"/>
            <a:ext cx="2558612" cy="9363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</a:pPr>
            <a:r>
              <a:rPr sz="208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×1000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</a:pPr>
            <a:r>
              <a:rPr sz="10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修正一处单位错误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文献 2、6 组单位标错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121" y="2340864"/>
            <a:ext cx="2895112" cy="1155801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29121" y="2340864"/>
            <a:ext cx="54864" cy="1155801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9316" y="2450592"/>
            <a:ext cx="2558612" cy="9363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</a:pPr>
            <a:r>
              <a:rPr sz="208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306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</a:pPr>
            <a:r>
              <a:rPr sz="10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个阈值单元被抽取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→ 55 个化合物获得阈值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55907" y="2340864"/>
            <a:ext cx="2895112" cy="1155801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907" y="2340864"/>
            <a:ext cx="54864" cy="1155801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6102" y="2450592"/>
            <a:ext cx="2558612" cy="9363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</a:pPr>
            <a:r>
              <a:rPr sz="208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4 426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</a:pPr>
            <a:r>
              <a:rPr sz="10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个单元算出 OAV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40 个化合物中位 OAV &gt;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" y="3818534"/>
            <a:ext cx="8948684" cy="1097280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3270" y="3913632"/>
            <a:ext cx="8626815" cy="9070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08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为什么必须清洗：不清洗会直接让后续建模失真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CAS 错误 → 化合物无法与风味阈值库、结构库关联，OAV 无法计算。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数值丢位（738,302 被存成 738,32）→ 相关系数、PCA、聚类、OAV 排序同时失真。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单位差 1000 倍 → “保留 OAV &gt; 1”的变量筛选完全失效。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清洗发现 ①　CAS 号被「删除数字中的所有 0」破坏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63 行中 33 行损坏 —— 这是数据集最严重的系统性问题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2336" y="1038758"/>
          <a:ext cx="8948683" cy="2018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096"/>
                <a:gridCol w="7041587"/>
              </a:tblGrid>
              <a:tr h="26334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损坏模式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源文件实例　→　修复结果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中间的 0 被删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18-64-5 → 108-64-5　·　15-54-4 → 105-54-4　·　16–32–1 → 106-32-1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末尾的 0 被删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123-66- → 123-66-0　·　513-86- → 513-86-0　·　11-43- → 110-43-0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 0 被删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11-38-3 → 110-38-3　·　98-- → 98-00-0　·　51-52- → 501-52-0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 Excel 当成日期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3658-08-08 00:00:00 → 3658-80-8　·　216/3/9 → 106-30-9　·　216/7/7 → 106-70-7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进位被抹掉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221-28-5 → 2021-28-5　·　79-9-4 → 79-09-4　·　59-86-3 → 590-86-3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破折号混用（en dash）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16–32–1 → 106-32-1　·　25415–67–2 → 25415-67-2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02336" y="3233318"/>
            <a:ext cx="8948684" cy="1609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</a:pPr>
            <a:r>
              <a:rPr sz="11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三级修复策略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① 规范化连接符：en dash / em dash / 空格 → 半角连字符。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② 以 SMILES 作为分子身份键连接姊妹库 data.xlsx —— 33 行全部命中。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</a:pP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③ 兜底：以 CAS 校验位为约束，在任意位置重新插入 0 搜索合法 CAS（本数据集未用到，逻辑已保留）。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结果：</a:t>
            </a:r>
            <a:r>
              <a:rPr sz="96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63 / 63 行 CAS 全部通过校验位验证。</a:t>
            </a: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　建议同时保留一份原始 CSV 作为对照。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清洗发现 ②　同一机制也污染了浓度数值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用「删除 0」留下的精确指纹，从姊妹库还原了 100 个数值单元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" y="1038758"/>
            <a:ext cx="8948684" cy="877824"/>
          </a:xfrm>
          <a:prstGeom prst="rect">
            <a:avLst/>
          </a:prstGeom>
          <a:solidFill>
            <a:srgbClr val="FDF2F2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3270" y="1133855"/>
            <a:ext cx="8626815" cy="6876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08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判据：把数字中所有「0」去掉后，两者的残留完全相同 → 即判定为丢位损坏，且正确值唯一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主库：</a:t>
            </a:r>
            <a:r>
              <a:rPr sz="10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738,32</a:t>
            </a: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　→ 去零残留 </a:t>
            </a: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「73832」</a:t>
            </a:r>
            <a:r>
              <a:rPr sz="10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　　　姊妹库：</a:t>
            </a:r>
            <a:r>
              <a:rPr sz="100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738,302</a:t>
            </a: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　→ 去零残留 </a:t>
            </a: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「73832」</a:t>
            </a:r>
            <a:r>
              <a:rPr sz="100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　　✓ 命中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02336" y="2048256"/>
          <a:ext cx="8948681" cy="1492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2765"/>
                <a:gridCol w="2323216"/>
                <a:gridCol w="2581350"/>
                <a:gridCol w="2581350"/>
              </a:tblGrid>
              <a:tr h="24871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化合物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列（文献/样品）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主库（损坏）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还原后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己酸乙酯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　LZLJ-T7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738,32 ± 3649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738,302 ± 3649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己酸乙酯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　S1 (mg/L)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126.133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1206.133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丁酸乙酯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　S3 (mg/L)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15.311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105.311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丁酸乙酯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　1mg/L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 ± 14.6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940 ± 14.6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异戊酸乙酯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　S2 (F3) (mg/L)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4.37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4.307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02336" y="3613708"/>
            <a:ext cx="8948684" cy="1331366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3270" y="3708806"/>
            <a:ext cx="8626815" cy="11411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08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这是本次清洗中价值最高的单项修复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若不清洗，相关系数、PCA、聚类与 OAV 排序都会同时失真 —— 而且这类错误很隐蔽：数字看起来完全正常，只是少了一位。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完整 100 条修复记录见 </a:t>
            </a:r>
            <a:r>
              <a:rPr sz="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output/issues_log.csv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中的 value_repair 条目，每条都保留了损坏原值与还原值，可逐条回溯。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清洗发现 ③　一处 ×1000 的单位错误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文献 2、6 组把 mg/L 标成了 μg/L —— 由两条独立证据确认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" y="1038758"/>
            <a:ext cx="8948684" cy="848563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3270" y="1133855"/>
            <a:ext cx="8626815" cy="6583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08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证据一：与姊妹库的表头不一致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</a:pPr>
            <a:r>
              <a:rPr sz="96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主库表头：</a:t>
            </a:r>
            <a:r>
              <a:rPr sz="960" b="0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Y1（μg/L）</a:t>
            </a:r>
            <a:r>
              <a:rPr sz="96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　　姊妹库表头：</a:t>
            </a:r>
            <a:r>
              <a:rPr sz="960" b="0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2  Y1 μg/ml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μg/mL ≡ mg/L，两者相差 </a:t>
            </a:r>
            <a:r>
              <a:rPr sz="96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1000 倍</a:t>
            </a: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—— 单位在从姊妹库复制到主库时被改写。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1989734"/>
            <a:ext cx="8948684" cy="1185062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270" y="2084832"/>
            <a:ext cx="8626815" cy="9948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08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证据二：OAV 恒等式反证（文献 6 组，己酸乙酯）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主库 </a:t>
            </a:r>
            <a:r>
              <a:rPr sz="96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6 JH1</a:t>
            </a: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值为 </a:t>
            </a:r>
            <a:r>
              <a:rPr sz="96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2 491.482</a:t>
            </a: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，若按 mg/L 计：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2 491.482 mg/L ÷ 55.3 μg/L = </a:t>
            </a:r>
            <a:r>
              <a:rPr sz="96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45 054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姊妹库同一位置 </a:t>
            </a:r>
            <a:r>
              <a:rPr sz="96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6 JH1 OAV = 45 299.64</a:t>
            </a:r>
            <a:r>
              <a:rPr sz="96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　→　吻合（差 0.5%）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" y="3277209"/>
            <a:ext cx="8948684" cy="1638604"/>
          </a:xfrm>
          <a:prstGeom prst="rect">
            <a:avLst/>
          </a:prstGeom>
          <a:solidFill>
            <a:srgbClr val="EEF7EE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3270" y="3372307"/>
            <a:ext cx="8626815" cy="14484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08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处理结果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已把文献 2、6 两组共 13 列的单位修正为 mg/L。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在 column_registry.csv 中标记为 corrected_declared，并保留修正前的原值（unit_pre_correction 列）以便追溯。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修正后这 13 列全部通过「己酸乙酯尺度校验」。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单位统一后，5 018 个数值单元全部换算为 μg/L，可直接进入建模。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阈值补全与 OAV 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主库 Threshold 列全空 → 从 12 个文献工作表抽取阈值并建立多来源共识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2336" y="1038758"/>
          <a:ext cx="8948682" cy="19312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096"/>
                <a:gridCol w="806848"/>
                <a:gridCol w="6234738"/>
              </a:tblGrid>
              <a:tr h="26334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</a:tr>
              <a:tr h="27797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抽到的阈值单元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306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来自 12 个文献工作表的阈值列（含主库丢掉的“原始/标准顺序/OAV”并列块）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27797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命中主库化合物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175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未命中的 131 个单元对应主库尚未整合的化合物（见第五部分）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  <a:tr h="27797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建立阈值的化合物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多来源取中位数，同时保留 min / max 供敏感性分析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27797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可计算 OAV 的单元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4 426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其中 3 304 个来自通过单位校验的列，用于 OAV 汇总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  <a:tr h="27797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中位 OAV &gt; 1 的化合物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课题方案要求保留 OAV &gt; 1 的化合物作为建模变量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27797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关键化合物（覆盖 ≥20 列）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满足课题“20 个关键化合物”的规模要求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02336" y="3247948"/>
            <a:ext cx="8948684" cy="1667864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3270" y="3343046"/>
            <a:ext cx="8626815" cy="14776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08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补齐后，课题技术路线的第一步「阈值 → OAV → 保留 OAV&gt;1」已经打通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</a:pPr>
            <a:r>
              <a:rPr sz="96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己酸乙酯</a:t>
            </a: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是唯一的“双高”物质：中位 OAV ≈ 2.3×10⁴，且在 </a:t>
            </a:r>
            <a:r>
              <a:rPr sz="96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109 / 109</a:t>
            </a: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个可用列中全部被报道 —— 与它作为浓香型白酒骨架与标志物的共识一致。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反例：</a:t>
            </a: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乙酸乙酯浓度最高（10⁵–10⁶ μg/L 量级），但阈值高达 32 600 μg/L，中位 OAV 仅 </a:t>
            </a:r>
            <a:r>
              <a:rPr sz="96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15.6</a:t>
            </a: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—— 这正是必须用 OAV 而不是浓度来筛选变量的原因。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阈值来源与分布：output/thresholds_raw.csv、output/thresholds_consensus.csv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三、质量判定：156 个数值列哪些可用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以己酸乙酯为尺度标尺（浓香型白酒定义性组分，文献值 0.5–4 g/L）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" y="1038758"/>
            <a:ext cx="4315968" cy="950976"/>
          </a:xfrm>
          <a:prstGeom prst="rect">
            <a:avLst/>
          </a:prstGeom>
          <a:solidFill>
            <a:srgbClr val="EEF7EE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3270" y="1133855"/>
            <a:ext cx="3994099" cy="7607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08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109 列（70%）通过校验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标记 usable_absolute = True，可用于绝对浓度与 OAV 分析，也用于本报告的 PCA、DBSCAN 与权重表。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864607" y="1038758"/>
            <a:ext cx="4486412" cy="950976"/>
          </a:xfrm>
          <a:prstGeom prst="rect">
            <a:avLst/>
          </a:prstGeom>
          <a:solidFill>
            <a:srgbClr val="FDF2F2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5541" y="1133855"/>
            <a:ext cx="4164543" cy="7607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08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41 列（26%）尺度异常，已隔离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仅参与秩相关等无量纲分析；未自动改写数值，附推断单位供回原文核对。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2092147"/>
            <a:ext cx="8948684" cy="2340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待核对单位清单（按文献分组）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02336" y="2370124"/>
          <a:ext cx="8948681" cy="1814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545"/>
                <a:gridCol w="660148"/>
                <a:gridCol w="1833746"/>
                <a:gridCol w="4034242"/>
              </a:tblGrid>
              <a:tr h="23408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列数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己酸乙酯换算值 (μg/L)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推断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　风味重组样品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 – 1 157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重组模型酒、非真实酒样，低值属正常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　典型 5 产区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883 – 1 591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疑似应为 mg/L（×1000）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　沂蒙老区成品酒 / 新老原酒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182 – 3 152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疑似应为 mg/L（×1000）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　四川不同产区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1.76×10⁸（176 g/L）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声明 g/L 过大，疑似应为 mg/100mL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　基酒味觉特征分组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9.7×10¹⁰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声明 g/L 严重过大，单位待定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22/28/31/12/17/11/23/33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 1–3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 – 7 889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单列异常，需回原文核对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交叉验证：DBSCAN 判出的离群样品与上述单位异常列，独立地指向同一批数据 —— 两个判据互相印证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四、关系挖掘：与课题技术路线的对应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已完成的路段　vs　补齐感官 Y 之后才能执行的路段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" y="1053388"/>
            <a:ext cx="2817083" cy="746150"/>
          </a:xfrm>
          <a:prstGeom prst="rect">
            <a:avLst/>
          </a:prstGeom>
          <a:solidFill>
            <a:srgbClr val="EEF7EE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9379" y="1148485"/>
            <a:ext cx="2582996" cy="5559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</a:pPr>
            <a:r>
              <a:rPr sz="10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阈值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306 单元　</a:t>
            </a:r>
            <a:r>
              <a:rPr sz="84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✓ 已完成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3468136" y="1053388"/>
            <a:ext cx="2817083" cy="746150"/>
          </a:xfrm>
          <a:prstGeom prst="rect">
            <a:avLst/>
          </a:prstGeom>
          <a:solidFill>
            <a:srgbClr val="EEF7EE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5179" y="1148485"/>
            <a:ext cx="2582996" cy="5559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</a:pPr>
            <a:r>
              <a:rPr sz="10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OAV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4 426 单元　</a:t>
            </a:r>
            <a:r>
              <a:rPr sz="84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✓ 已完成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3936" y="1053388"/>
            <a:ext cx="2817083" cy="746150"/>
          </a:xfrm>
          <a:prstGeom prst="rect">
            <a:avLst/>
          </a:prstGeom>
          <a:solidFill>
            <a:srgbClr val="EEF7EE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0979" y="1148485"/>
            <a:ext cx="2582996" cy="5559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</a:pPr>
            <a:r>
              <a:rPr sz="10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层次聚类 + DBSCAN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变量组 + 样本簇　</a:t>
            </a:r>
            <a:r>
              <a:rPr sz="84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✓ 已完成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1975104"/>
            <a:ext cx="2817083" cy="746150"/>
          </a:xfrm>
          <a:prstGeom prst="rect">
            <a:avLst/>
          </a:prstGeom>
          <a:solidFill>
            <a:srgbClr val="EEF7EE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" y="2070201"/>
            <a:ext cx="2582996" cy="5559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</a:pPr>
            <a:r>
              <a:rPr sz="10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风味贡献权重表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已产出基线　</a:t>
            </a:r>
            <a:r>
              <a:rPr sz="84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✓ 已完成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68136" y="1975104"/>
            <a:ext cx="2817083" cy="746150"/>
          </a:xfrm>
          <a:prstGeom prst="rect">
            <a:avLst/>
          </a:prstGeom>
          <a:solidFill>
            <a:srgbClr val="F5F7FA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5179" y="2070201"/>
            <a:ext cx="2582996" cy="5559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</a:pPr>
            <a:r>
              <a:rPr sz="1040" b="1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PLSR / VIP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需感官 Y　</a:t>
            </a:r>
            <a:r>
              <a:rPr sz="840" b="1" i="0">
                <a:solidFill>
                  <a:srgbClr val="BFBFBF"/>
                </a:solidFill>
                <a:latin typeface="Microsoft YaHei"/>
                <a:ea typeface="Microsoft YaHei"/>
                <a:cs typeface="Microsoft YaHei"/>
              </a:rPr>
              <a:t>✗ 待补 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3936" y="1975104"/>
            <a:ext cx="2817083" cy="746150"/>
          </a:xfrm>
          <a:prstGeom prst="rect">
            <a:avLst/>
          </a:prstGeom>
          <a:solidFill>
            <a:srgbClr val="F5F7FA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0979" y="2070201"/>
            <a:ext cx="2582996" cy="5559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</a:pPr>
            <a:r>
              <a:rPr sz="1040" b="1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符号回归 F(X)=Y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需感官 Y　</a:t>
            </a:r>
            <a:r>
              <a:rPr sz="840" b="1" i="0">
                <a:solidFill>
                  <a:srgbClr val="BFBFBF"/>
                </a:solidFill>
                <a:latin typeface="Microsoft YaHei"/>
                <a:ea typeface="Microsoft YaHei"/>
                <a:cs typeface="Microsoft YaHei"/>
              </a:rPr>
              <a:t>✗ 待补 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" y="2852928"/>
            <a:ext cx="8948684" cy="775411"/>
          </a:xfrm>
          <a:prstGeom prst="rect">
            <a:avLst/>
          </a:prstGeom>
          <a:solidFill>
            <a:srgbClr val="FDF2F2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3270" y="2948025"/>
            <a:ext cx="8626815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08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关键限制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数据库里只有 X（化合物浓度），没有任何 Y（感官强度）—— Threshold 列为空、没有 QDA / RATA 评分、没有描述符强度矩阵。因此 PLSR/VIP 与符号回归目前无法真正执行。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" y="3716121"/>
            <a:ext cx="8948684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</a:pPr>
            <a:r>
              <a:rPr sz="108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本次关系挖掘已完成的内容</a:t>
            </a:r>
          </a:p>
          <a:p>
            <a:pPr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</a:pPr>
            <a:r>
              <a:rPr sz="92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相关矩阵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62×62 全库 + 20×20 关键化合物（含 P 值与 FDR 校正）</a:t>
            </a:r>
          </a:p>
          <a:p>
            <a:pPr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</a:pPr>
            <a:r>
              <a:rPr sz="92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变量级层次聚类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在 62 个化合物上聚类，得到 5 个变量组</a:t>
            </a:r>
          </a:p>
          <a:p>
            <a:pPr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</a:pPr>
            <a:r>
              <a:rPr sz="92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样品空间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PCA（前两主成分 56.9%）+ DBSCAN（7 簇 + 28 个离群）</a:t>
            </a:r>
          </a:p>
          <a:p>
            <a:pPr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</a:pPr>
            <a:r>
              <a:rPr sz="92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共现网络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文献内相关 + 跨文献一致性检验 → 34 条稳健边</a:t>
            </a:r>
          </a:p>
          <a:p>
            <a:pPr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</a:pPr>
            <a:r>
              <a:rPr sz="92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风味贡献权重表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相对 OAV 法，已产出可用的基线与对照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20 × 20 关键香气化合物相关矩阵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课题「备选方案」：20×20 热图 + 显著性检验（Spearman R，* P&lt;0.05）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6" name="Picture 5" descr="fig02_corr20_signific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082649"/>
            <a:ext cx="4321684" cy="393557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15584" y="1082649"/>
            <a:ext cx="3535436" cy="3935577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76518" y="1177747"/>
            <a:ext cx="3213567" cy="37453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08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关键化合物怎么选出来的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中位 OAV &gt; 1 且被 ≥20 个可用列报道，按中位 OAV 降序取前 20 个：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己酸乙酯（覆盖 109/109 列）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1-辛烯-3-醇、1-丙醇、二甲基三硫醚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丁酸乙酯、戊酸乙酯、辛酸乙酯、异戊酸乙酯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丁酸、戊酸、己醛、乙醛、1-丁醇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480"/>
              </a:spcAft>
            </a:pPr>
            <a:r>
              <a:rPr sz="10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统计口径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62 个化合物共 1 693 个可检配对，P&lt;0.05 者 1 183 对，经 Benjamini–Hochberg FDR 5% 校正后仍有 1 123 对存活。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热图为下三角：红 = 正相关（协同积累），蓝 = 负相关（此消彼长）；星号越多的格子显著性越高。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酯类之间、酸与酯之间形成明显的深红块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，是本次最直观的关系信号。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完整矩阵见 output/corr_key20_R.csv 与 corr_key20_P.csv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相关矩阵读图要点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酯类同源同向；酸类是酯的前体；痕量高活性物质独立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1038758"/>
            <a:ext cx="8948684" cy="2414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0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酯类之间形成强正相关团</a:t>
            </a:r>
            <a:r>
              <a:rPr sz="104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己酸乙酯—丁酸乙酯 R=0.85***、丁酸乙酯—异丁酸乙酯 R=0.80***、戊酸乙酯—2-甲基丁酸乙酯 R=0.80*** —— 乙酯类同源同向生成，与「己酸菌–酵母酯化体系共同产生」的机理一致。</a:t>
            </a:r>
          </a:p>
          <a:p>
            <a:pPr algn="l">
              <a:lnSpc>
                <a:spcPct val="110000"/>
              </a:lnSpc>
              <a:spcBef>
                <a:spcPts val="960"/>
              </a:spcBef>
              <a:spcAft>
                <a:spcPts val="0"/>
              </a:spcAft>
            </a:pPr>
            <a:r>
              <a:rPr sz="104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0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酸类与酯类同向（前体–产物关系）</a:t>
            </a:r>
            <a:r>
              <a:rPr sz="104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丁酸—异丁酸乙酯 R=0.82***、戊酸—丁酸乙酯 R=0.77***、乙酸乙酯—丁酸 R=0.83*** —— 可直接作为勾兑调控的「联动变量对」。</a:t>
            </a:r>
          </a:p>
          <a:p>
            <a:pPr algn="l">
              <a:lnSpc>
                <a:spcPct val="110000"/>
              </a:lnSpc>
              <a:spcBef>
                <a:spcPts val="960"/>
              </a:spcBef>
              <a:spcAft>
                <a:spcPts val="0"/>
              </a:spcAft>
            </a:pPr>
            <a:r>
              <a:rPr sz="104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0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1-辛烯-3-醇与多个酯类负相关</a:t>
            </a:r>
            <a:r>
              <a:rPr sz="104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与戊酸乙酯 R=−0.50**、与 1-丁醇 R=−0.43* —— 呈现此消彼长，提示发酵条件或陈酿在两个方向上互相排斥。</a:t>
            </a:r>
          </a:p>
          <a:p>
            <a:pPr algn="l">
              <a:lnSpc>
                <a:spcPct val="110000"/>
              </a:lnSpc>
              <a:spcBef>
                <a:spcPts val="960"/>
              </a:spcBef>
              <a:spcAft>
                <a:spcPts val="0"/>
              </a:spcAft>
            </a:pPr>
            <a:r>
              <a:rPr sz="104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0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二甲基三硫醚相对独立</a:t>
            </a:r>
            <a:r>
              <a:rPr sz="104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与多数酯类 R≈0.1–0.4，符合其「极低阈值、独立于酯类代谢」的化学行为。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3584448"/>
            <a:ext cx="8948684" cy="1389888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3270" y="3679545"/>
            <a:ext cx="8626815" cy="11996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08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统计口径与必要提醒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62 个化合物共 1 693 个可检配对，P&lt;0.05 者 1 183 对，经 Benjamini–Hochberg FDR 5% 校正后仍有 </a:t>
            </a:r>
            <a:r>
              <a:rPr sz="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1 123 对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存活。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但样品来自不同文献，跨文献相关会混入「文献间偏移」（不同实验室、稀释倍数、检测方法）。因此下一步改用 </a:t>
            </a:r>
            <a:r>
              <a:rPr sz="92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文献内相关 + 跨文献一致性检验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来给出更稳健的结论（见共现网络一页）。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变量级层次聚类：5 个变量组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课题「1.1 变量级层次聚类」—— 对 1−|Spearman R| 做 Ward 连接聚类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6" name="Picture 5" descr="fig04_dendrogram_compo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263" y="1082649"/>
            <a:ext cx="4692829" cy="29407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颜色 = 化学类别；红色虚线为 5 类切分位置，线下即为「变量组」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5 个变量组的化学解读与建模意义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课题计划「锁定树状图底部紧密聚类的几个化合物」已完成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2336" y="1038758"/>
          <a:ext cx="8948682" cy="2004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746"/>
                <a:gridCol w="440099"/>
                <a:gridCol w="4621041"/>
                <a:gridCol w="2053796"/>
              </a:tblGrid>
              <a:tr h="24871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变量组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代表成员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化学解读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 1　短链乙酯 / 乙酸酯族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戊酸乙酯、辛酸乙酯、异丁酸乙酯、2-甲基丁酸乙酯、乙酸异戊酯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发酵早期生成、香气强度高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 2　主体骨架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己酸乙酯、乙酸乙酯、丁酸乙酯、乳酸乙酯、己酸、丁酸、1-丁醇、己醛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浓香型核心风味集合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 3　陈香 / 芳香族 / 酚醛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苯乙醛、乙酸苯乙酯、3-苯基丙酸乙酯、4-乙基愈创木酚、三甲基吡嗪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糟香 / 窖香 / 烘焙香载体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 4　痕量高活性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二甲基三硫醚、1-辛烯-3-醇、2-庚酮、乳酸乙酯、γ-壬内酯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极低阈值、极高 OAV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 5　醛 / 酸小众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(E)-2-辛烯醛、3-苯基丙酸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样本量少，独立成组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02336" y="3306469"/>
            <a:ext cx="8948684" cy="1609344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3270" y="3401567"/>
            <a:ext cx="8626815" cy="14191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08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对建模的三点直接意义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92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组 4 是符号回归的最佳起点：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与主体酯类弱相关但 OAV 极高，独立信息量最大，最可能提供非线性交互项。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92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组 1、组 2 内部共线性严重：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多条 R&gt;0.8，做 PLSR/VIP 时会被互相稀释，建议先按组降维再建模。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92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组 3 跨越酯–酸–醇类别：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是「香气描述符 ↔ 化合物」映射的关键候选，与计划中的焦香↔吡嗪、糟香↔4-乙基愈创木酚体系直接对应。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样品空间：PCA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89 个样品 × 20 关键化合物（log₁₀ 后 z-score）：PC1 = 48.1%，PC2 = 8.9%，合计 56.9%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6" name="Picture 5" descr="fig05_pca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643" y="1082649"/>
            <a:ext cx="7424068" cy="27944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左：碎石图　中：得分图（按文献编号着色）　右：载荷图；PC1 区分酯类骨架丰度层级，PC2 区分芳香族/酚类方向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DBSCAN：有效样本簇与离群样本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课题「1.2 用 DBSCAN 检查样本是否服从模式」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" y="1038758"/>
            <a:ext cx="8948684" cy="775411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3270" y="1133855"/>
            <a:ext cx="8626815" cy="585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参数：</a:t>
            </a:r>
            <a:r>
              <a:rPr sz="104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eps = 2.28（5-近邻 k-距离拐点）、min_samples = 4　→　</a:t>
            </a:r>
            <a:r>
              <a:rPr sz="104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7 个簇 + 28 个离群样本（31.5%）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最大簇含 25 个样品，其余簇 4–11 个 —— 可直接作为后续符号回归的「有效样本簇」。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1945843"/>
            <a:ext cx="8948684" cy="1477670"/>
          </a:xfrm>
          <a:prstGeom prst="rect">
            <a:avLst/>
          </a:prstGeom>
          <a:solidFill>
            <a:srgbClr val="EEF7EE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270" y="2040940"/>
            <a:ext cx="8626815" cy="12874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08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一个重要的交叉验证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离群样本主要来自两类来源：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</a:pP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① 单位异常的文献组（24 / 25 / 32 / 33）；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</a:pP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② 「重组模型酒」（文献 10）—— 非真实酒样，成分比例被人为设定。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也就是说，</a:t>
            </a:r>
            <a:r>
              <a:rPr sz="96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DBSCAN 的离群判据与单位合理性判据互相独立地指向了同一批样品</a:t>
            </a: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—— 两个完全不同的角度交叉验证了数据质量问题，也为「哪些样品不应进入建模」提供了客观依据。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" y="3555187"/>
            <a:ext cx="8948684" cy="1389888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3270" y="3650284"/>
            <a:ext cx="8626815" cy="11996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08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检测方法差异的提示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化合物 × 文献景观图显示各文献的类别构成差异很大（有的酯类占比 &gt;80%，有的酸类占比显著）—— 这既反映真实样品差异，也反映不同文献的检测与定量策略差异（HS-SPME / LLE / GC×GC 对极性物质回收率不同）。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结论：把「检测方法」作为协变量正式标注进数据库是必要的（课题方案已要求），否则模型会学到方法偏差而非酒体差异。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化合物共现网络：文献内相关 + 跨文献一致性检验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1 219 个化合物对在 ≥2 篇文献中被报道；≥3 篇同向、符号一致率 ≥99%、|平均 R| ≥ 0.6 → 34 条稳健边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6" name="Picture 5" descr="fig11_correlation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906" y="1082649"/>
            <a:ext cx="5029542" cy="28675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红边 = 正相关（协同积累），蓝边 = 负相关（此消彼长）；左图位置由 MDS 按相关距离排布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共现网络给出的稳健关系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这些结论在多篇独立文献中同向出现，而非单一数据集的偶然相关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2336" y="1038758"/>
          <a:ext cx="8948681" cy="2092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5756"/>
                <a:gridCol w="2982894"/>
                <a:gridCol w="1211800"/>
                <a:gridCol w="1398231"/>
              </a:tblGrid>
              <a:tr h="24871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化合物 A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化合物 B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文献数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 R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3-甲基丁基己酸酯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己酸丁酯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+0.98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己酸丁酯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己酸己酯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+0.97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3-甲基丁基己酸酯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壬酸乙酯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+0.96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3-甲基丁基己酸酯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乙酸异戊酯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+0.95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己酸丁酯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丁酸异戊酯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+0.94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壬酸乙酯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庚酸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−0.77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  <a:tr h="263347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棕榈酸乙酯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辛酸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+0.74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02336" y="3379622"/>
            <a:ext cx="8948684" cy="1565452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3270" y="3474720"/>
            <a:ext cx="8626815" cy="13752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08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三条可直接用于建模与生产的结论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92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勾兑联动单元：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正相关对（如己酸丁酯—己酸己酯）在调酒时会同步变化，可作为同一个调控单元处理，减少待优化变量数。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92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反向约束：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负相关对（壬酸乙酯—庚酸）可作为配方寻优的约束条件。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92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符号回归的初始变量组：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优先在正相关团内部寻找比值关系，对应课题提出的「存在比例关系的化合物集合」。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风味贡献权重表（相对 OAV 法）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课题最终交付物《风味贡献权重表》的基线版本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6" name="Picture 5" descr="fig09_flavor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612" y="1082649"/>
            <a:ext cx="8312128" cy="39355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wᵢ = OAVᵢ / ΣOAV（每个样品内部归一化到 100%），再对所有含该化合物的样品取平均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权重表解读与方法学边界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这既是成果，也是后续符号回归应当去检验的假设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1038758"/>
            <a:ext cx="8948684" cy="23408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0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己酸乙酯是第一贡献者</a:t>
            </a:r>
            <a:r>
              <a:rPr sz="104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在 109 个样品上平均占 47.4%，且是数据库中唯一全覆盖的化合物。</a:t>
            </a:r>
          </a:p>
          <a:p>
            <a:pPr algn="l">
              <a:lnSpc>
                <a:spcPct val="110000"/>
              </a:lnSpc>
              <a:spcBef>
                <a:spcPts val="960"/>
              </a:spcBef>
              <a:spcAft>
                <a:spcPts val="0"/>
              </a:spcAft>
            </a:pPr>
            <a:r>
              <a:rPr sz="104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0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1-辛烯-3-醇「少而强」</a:t>
            </a:r>
            <a:r>
              <a:rPr sz="104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只在 32 个样品中被检出，却达到 45.7% 的平均权重 —— 说明在它被检出的那些样品里几乎与己酸乙酯平分香气活性，建议在感官实验中单独关注。</a:t>
            </a:r>
          </a:p>
          <a:p>
            <a:pPr algn="l">
              <a:lnSpc>
                <a:spcPct val="110000"/>
              </a:lnSpc>
              <a:spcBef>
                <a:spcPts val="960"/>
              </a:spcBef>
              <a:spcAft>
                <a:spcPts val="0"/>
              </a:spcAft>
            </a:pPr>
            <a:r>
              <a:rPr sz="104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0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其余物质构成长尾</a:t>
            </a:r>
            <a:r>
              <a:rPr sz="104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均在 1–11% 量级；二甲基三硫醚（阈值仅 0.38 μg/L）占 3.5%，属典型痕量高活性物质，与变量组 4 对应。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3408883"/>
            <a:ext cx="8948684" cy="1536192"/>
          </a:xfrm>
          <a:prstGeom prst="rect">
            <a:avLst/>
          </a:prstGeom>
          <a:solidFill>
            <a:srgbClr val="FDF2F2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3270" y="3503980"/>
            <a:ext cx="8626815" cy="13459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08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方法学限制（必须说明）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本权重采用相对 OAV 法，隐含假设「各化合物香气强度可线性可加」，并未考虑协同 / 拮抗 / 掩蔽效应。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课题计划的 </a:t>
            </a:r>
            <a:r>
              <a:rPr sz="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符号回归正是用来检验这一假设的工具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。因此本表应作为符号回归与泰勒展开的</a:t>
            </a:r>
            <a:r>
              <a:rPr sz="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基线与对照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，而非最终结论。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表内各项分别在不同样品子集上求平均，合计 &gt;100%；需要严格归一化的单样品权重向量，请使用逐样品占比矩阵 oav_share_matrix.csv。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陈酿轴：趋势与 PLSR-VIP 方法演示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数据库中唯一存在的连续 Y —— 陈酿年份（n = 10，来自 2 篇文献）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6" name="Picture 5" descr="fig12_aging_v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994" y="1082649"/>
            <a:ext cx="6207365" cy="27944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VIP&gt;1：乙酸异戊酯 2.48、1-丙醇 1.49、乙醛 1.45、戊酸 1.43、己醛 1.01、乙偶姻 1.00（R²Y = 0.62）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五、结论：两个必须优先解决的核心问题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清洗与分析已经完成，但数据库本身还有两个结构性缺口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" y="1038758"/>
            <a:ext cx="8948684" cy="1536192"/>
          </a:xfrm>
          <a:prstGeom prst="rect">
            <a:avLst/>
          </a:prstGeom>
          <a:solidFill>
            <a:srgbClr val="FDF2F2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7900" y="1133855"/>
            <a:ext cx="8597554" cy="13459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2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问题一　数据库整合率只有 18%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</a:pP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主库 all data 已整合化合物 </a:t>
            </a:r>
            <a:r>
              <a:rPr sz="96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62</a:t>
            </a: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|　12 个文献工作表里出现过的不同化合物名 </a:t>
            </a:r>
            <a:r>
              <a:rPr sz="96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341</a:t>
            </a: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|　能匹配上主库的 </a:t>
            </a:r>
            <a:r>
              <a:rPr sz="96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60（18%）</a:t>
            </a: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|　尚未整合 </a:t>
            </a:r>
            <a:r>
              <a:rPr sz="96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281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例如文献 5 有 119 个、文献 5(PEF) 有 91 个化合物，而主库总共只有 62 行。且工作表内化合物名存在系统性字符损坏：1-Brussol / 2-Brussol（应为 1-/2-Butanol）、1,2-benzachol、2-Peramolium、Pantrol 等，疑似一次全局替换或 OCR 错误 —— 需先修名才能整合。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2648102"/>
            <a:ext cx="8948684" cy="1185062"/>
          </a:xfrm>
          <a:prstGeom prst="rect">
            <a:avLst/>
          </a:prstGeom>
          <a:solidFill>
            <a:srgbClr val="FDF2F2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7900" y="2743200"/>
            <a:ext cx="8597554" cy="9948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2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问题二　数据库只有 X，没有 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Threshold 列为空、没有 QDA / RATA 评分、没有描述符强度矩阵 → PLSR/VIP、符号回归、泰勒展开这三个核心环节目前都无法真正执行。本次已把 X 侧（浓度、阈值、OAV、变量组、样本簇）全部准备好，并给出相对 OAV 权重表作为基线。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" y="3979468"/>
            <a:ext cx="8948684" cy="965606"/>
          </a:xfrm>
          <a:prstGeom prst="rect">
            <a:avLst/>
          </a:prstGeom>
          <a:solidFill>
            <a:srgbClr val="EEF7EE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3270" y="4074566"/>
            <a:ext cx="8626815" cy="775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好消息：</a:t>
            </a: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清洗后的 109 列 × 62 化合物矩阵、55 个化合物阈值、40 个 OAV&gt;1 化合物、5 个变量组、有效样本簇与稳健相关边均已就绪 —— 感官 Y 一旦补齐，建模链路可以立即跑通。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下一步工作计划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按优先级排序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2336" y="1038758"/>
          <a:ext cx="8948682" cy="2809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165"/>
                <a:gridCol w="3942151"/>
                <a:gridCol w="4336366"/>
              </a:tblGrid>
              <a:tr h="24871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优先级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 / 交付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补齐感官 Y 矩阵（QDA / RATA 描述符强度）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 Y，PLSR/VIP、符号回归、泰勒展开无法执行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修复文献工作表中损坏的化合物名，并把 281 个未整合化合物并入主矩阵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直接决定能否达到「150 条样本 × 20 化合物」的目标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 41 个尺度异常列的单位，核对后可用列从 109 扩到约 130 列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重点：文献 24/25 疑似应为 mg/L；文献 13/32 的 g/L 标注有误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把产区 / 品牌 / 工艺 / 检测方法四个标签正式建成列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课题方案明确要求；文献 24/25/30/32 已有对应样品名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 OAV≈1 附近化合物的阈值，并做阈值敏感性分析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对应学期计划第 1 项；阈值共识表已给出多来源 min / max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用变量组 + 稳健相关对作为符号回归的初始变量组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优先在组 4（痕量高活性）内部寻找非线性交互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把权重表作为「权重法配比」，与「OAV 法配比」对比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对应课题第 3 个拟解决问题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02336" y="4184294"/>
            <a:ext cx="8948684" cy="760780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3270" y="4279392"/>
            <a:ext cx="8626815" cy="570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需要老师指导的问题：</a:t>
            </a:r>
            <a:r>
              <a:rPr sz="96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感官实验的描述符体系与强度标度，如何与数据库中的化合物一一对应？（这决定了 Y 矩阵的列定义）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248716"/>
            <a:ext cx="62179" cy="4389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3270" y="219456"/>
            <a:ext cx="8787749" cy="4828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附：本次产出与复现方式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270" y="724204"/>
            <a:ext cx="87292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全部位于 new/ 目录，两个源文件保持只读未改动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950976"/>
            <a:ext cx="8948684" cy="14630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" y="1038758"/>
            <a:ext cx="8948684" cy="950976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3270" y="1133855"/>
            <a:ext cx="8626815" cy="7607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80"/>
              </a:spcAft>
            </a:pPr>
            <a:r>
              <a:rPr sz="108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2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报告　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数据清洗与关系挖掘报告.md</a:t>
            </a:r>
            <a:r>
              <a:rPr sz="92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　　图表　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figures/ 13 张</a:t>
            </a:r>
            <a:r>
              <a:rPr sz="92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　　结果表　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output/ 38 个 CSV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汇总表　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白酒风味数据库_清洗版.xlsx（32 个工作表）</a:t>
            </a:r>
            <a:r>
              <a:rPr sz="92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　　清洗日志　</a:t>
            </a:r>
            <a:r>
              <a:rPr sz="92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issues_log.csv（195 条）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2136038"/>
            <a:ext cx="8948684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复现命令（环境：C:\anaconda\python.exe）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" y="2399385"/>
            <a:ext cx="8948684" cy="936345"/>
          </a:xfrm>
          <a:prstGeom prst="rect">
            <a:avLst/>
          </a:prstGeom>
          <a:solidFill>
            <a:srgbClr val="1F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3270" y="2531059"/>
            <a:ext cx="8626815" cy="7168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</a:pPr>
            <a:r>
              <a:rPr sz="800" b="0" i="0">
                <a:solidFill>
                  <a:srgbClr val="D4D4D4"/>
                </a:solidFill>
                <a:latin typeface="Microsoft YaHei"/>
                <a:ea typeface="Microsoft YaHei"/>
                <a:cs typeface="Microsoft YaHei"/>
              </a:rPr>
              <a:t>$py = "C:\anaconda\python.exe"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</a:pPr>
            <a:r>
              <a:rPr sz="800" b="0" i="0">
                <a:solidFill>
                  <a:srgbClr val="D4D4D4"/>
                </a:solidFill>
                <a:latin typeface="Microsoft YaHei"/>
                <a:ea typeface="Microsoft YaHei"/>
                <a:cs typeface="Microsoft YaHei"/>
              </a:rPr>
              <a:t>&amp; $py new\10_extract_sources.py    # 12 个文献工作表 → 整洁长表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</a:pPr>
            <a:r>
              <a:rPr sz="800" b="0" i="0">
                <a:solidFill>
                  <a:srgbClr val="D4D4D4"/>
                </a:solidFill>
                <a:latin typeface="Microsoft YaHei"/>
                <a:ea typeface="Microsoft YaHei"/>
                <a:cs typeface="Microsoft YaHei"/>
              </a:rPr>
              <a:t>&amp; $py new\20_clean_master.py       # 主库清洗：CAS / 名称 / 单位 / 数值 / 阈值 / OAV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</a:pPr>
            <a:r>
              <a:rPr sz="800" b="0" i="0">
                <a:solidFill>
                  <a:srgbClr val="D4D4D4"/>
                </a:solidFill>
                <a:latin typeface="Microsoft YaHei"/>
                <a:ea typeface="Microsoft YaHei"/>
                <a:cs typeface="Microsoft YaHei"/>
              </a:rPr>
              <a:t>&amp; $py new\30_analyze.py            # 关系挖掘 + 全部绘图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"/>
              </a:spcAft>
            </a:pPr>
            <a:r>
              <a:rPr sz="800" b="0" i="0">
                <a:solidFill>
                  <a:srgbClr val="D4D4D4"/>
                </a:solidFill>
                <a:latin typeface="Microsoft YaHei"/>
                <a:ea typeface="Microsoft YaHei"/>
                <a:cs typeface="Microsoft YaHei"/>
              </a:rPr>
              <a:t>&amp; $py new\40_export_excel.py       # 汇总导出 Excel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02336" y="3452774"/>
          <a:ext cx="8948682" cy="1404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6362"/>
                <a:gridCol w="6072320"/>
              </a:tblGrid>
              <a:tr h="23408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关键结果文件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2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51206" marR="43891" marT="14630" marB="14630" anchor="ctr">
                    <a:solidFill>
                      <a:srgbClr val="1F3864"/>
                    </a:solidFill>
                  </a:tcPr>
                </a:tc>
              </a:tr>
              <a:tr h="23408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column_registry.csv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156 列登记表：文献 / 样品 / 单位 / 可信度 / 是否可用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23408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master_wide_ugL.csv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统一为 μg/L 的宽表（可直接进入建模）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  <a:tr h="23408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corr_key20_R.csv / _P.csv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20×20 相关矩阵与 P 值（课题备选方案的直接产出）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  <a:tr h="23408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consensus_correlations.csv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文献内相关 + 跨文献一致性检验结果</a:t>
                      </a:r>
                    </a:p>
                  </a:txBody>
                  <a:tcPr marL="51206" marR="43891" marT="14630" marB="14630" anchor="ctr">
                    <a:solidFill>
                      <a:srgbClr val="F5F7FA"/>
                    </a:solidFill>
                  </a:tcPr>
                </a:tc>
              </a:tr>
              <a:tr h="23408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oav_weights.csv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风味贡献权重表</a:t>
                      </a:r>
                    </a:p>
                  </a:txBody>
                  <a:tcPr marL="51206" marR="43891" marT="14630" marB="1463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02336" y="5106009"/>
            <a:ext cx="8217164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2652" y="5106009"/>
            <a:ext cx="658368" cy="2048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719072"/>
            <a:ext cx="9753356" cy="4389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89734"/>
            <a:ext cx="8290316" cy="10241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280"/>
              </a:spcAft>
            </a:pPr>
            <a:r>
              <a:rPr sz="304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请老师批评指正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汇报人：夏童　|　导师：徐岩　教授　|　指导小组：马玥　助理研究员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