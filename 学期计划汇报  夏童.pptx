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8147" r:id="rId2"/>
    <p:sldId id="8148" r:id="rId3"/>
    <p:sldId id="8178" r:id="rId4"/>
    <p:sldId id="8181" r:id="rId5"/>
    <p:sldId id="8176" r:id="rId6"/>
    <p:sldId id="8177" r:id="rId7"/>
    <p:sldId id="8183" r:id="rId8"/>
    <p:sldId id="8180" r:id="rId9"/>
    <p:sldId id="8165" r:id="rId10"/>
    <p:sldId id="8172" r:id="rId11"/>
    <p:sldId id="8182"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2" autoAdjust="0"/>
    <p:restoredTop sz="94660"/>
  </p:normalViewPr>
  <p:slideViewPr>
    <p:cSldViewPr snapToGrid="0">
      <p:cViewPr varScale="1">
        <p:scale>
          <a:sx n="84" d="100"/>
          <a:sy n="84" d="100"/>
        </p:scale>
        <p:origin x="254"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8FB86D-29CB-4134-BC15-AB446CD889CC}" type="datetimeFigureOut">
              <a:rPr lang="zh-CN" altLang="en-US" smtClean="0"/>
              <a:t>2026/3/13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85BE16-8BA5-4826-87D0-9DE2DF127673}" type="slidenum">
              <a:rPr lang="zh-CN" altLang="en-US" smtClean="0"/>
              <a:t>‹#›</a:t>
            </a:fld>
            <a:endParaRPr lang="zh-CN" altLang="en-US"/>
          </a:p>
        </p:txBody>
      </p:sp>
    </p:spTree>
    <p:extLst>
      <p:ext uri="{BB962C8B-B14F-4D97-AF65-F5344CB8AC3E}">
        <p14:creationId xmlns:p14="http://schemas.microsoft.com/office/powerpoint/2010/main" val="1738891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7B47FB-5D94-46A4-A268-F56FF3CE01C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E0CD2-7330-1D56-CBAE-74D81405FD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1F37EF-F0F5-9753-D68B-3256454330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EC1A55-DFB1-6F53-757B-162A15681D7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02405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A5185-C332-8611-33D9-39EC1A9FB4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AB1209-29CA-5BF0-64C9-40B895D134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D258FF-4CA0-3A8B-FEC2-D5918AB4FEB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44179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F8E8A-BD11-001F-0FA1-7FC0812387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542039-26A1-1E47-0942-E7E6A43943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D4A01B-9965-87DD-A9C9-77E335F8B85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71432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5216B-2BB8-C31F-016E-2C6D5638B6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A4DC3A-9178-6FC0-8E22-F664EA839C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83C36B-AFAC-A031-1B55-286C84A65C3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81805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694A4-1EC8-C000-F128-CCA6237A63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016DB9-D9EB-6BBA-416C-54F836C657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7C0888-9A08-4C57-7793-42BB69F42F3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40903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751EC-760B-310E-D8AE-B52DBF74FFB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E9F8AA-1BDF-E672-5EFF-19B48D087D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443A62-CCA4-B336-BEA1-66CDE812243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68343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94149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EB3DC-BB67-6726-B053-D3D3B31D57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08905D-4737-5C14-9A1C-A1E48A7800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101877-DAA4-6399-001A-A490EEDACEF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80962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A49A9-EBE6-A136-BF36-EC8C450DE6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61C188-80B2-7EF1-A6AB-E67BAA2425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A35733-70F5-DF98-5B18-7DCFC94138A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80576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C72F84-E168-7B01-95DD-876F6C4FE45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DDD388B-54C3-4E89-EF36-C5A28ACC1D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8B39CE0-FA46-02ED-9517-5592263996A3}"/>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5" name="页脚占位符 4">
            <a:extLst>
              <a:ext uri="{FF2B5EF4-FFF2-40B4-BE49-F238E27FC236}">
                <a16:creationId xmlns:a16="http://schemas.microsoft.com/office/drawing/2014/main" id="{62B9DF05-0DCD-ABA8-0B02-9AC27A942E0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3458D08-93D6-8B09-6BE2-C1DCD4361574}"/>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3327518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8C8DBD-0887-AAC6-6BC7-21FAF615ECF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09BC89C-55B9-BA25-B383-F6434AB392D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166EDF-C723-982E-A01A-37120AEE5FB0}"/>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5" name="页脚占位符 4">
            <a:extLst>
              <a:ext uri="{FF2B5EF4-FFF2-40B4-BE49-F238E27FC236}">
                <a16:creationId xmlns:a16="http://schemas.microsoft.com/office/drawing/2014/main" id="{93145604-5EB6-68E8-1423-B3CE6F59EC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3126A9-D084-CD51-A235-12D3DDD7B39F}"/>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61480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8911A1-5D09-6A3E-1528-436218DBE2B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415F9F9-1B20-232A-DBDC-12B5D4C731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02EA9F5-CBDD-4D05-4C70-D08761F4D9C0}"/>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5" name="页脚占位符 4">
            <a:extLst>
              <a:ext uri="{FF2B5EF4-FFF2-40B4-BE49-F238E27FC236}">
                <a16:creationId xmlns:a16="http://schemas.microsoft.com/office/drawing/2014/main" id="{D2438FFF-FFA7-AAAB-946B-3618675B2E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7D5265-6CB0-4BB4-A7B5-16EF03631A8A}"/>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3458345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910B2A-CC2F-51C2-ADA1-55483F6E387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DC6A7DA-11DF-37F0-9B5F-2BBB31EC3C6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485603D-A5F5-BAE6-F4E2-F60FCEA0AF3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ED0289B-49C1-09F8-39A3-6D696A63C4F4}"/>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6" name="页脚占位符 5">
            <a:extLst>
              <a:ext uri="{FF2B5EF4-FFF2-40B4-BE49-F238E27FC236}">
                <a16:creationId xmlns:a16="http://schemas.microsoft.com/office/drawing/2014/main" id="{67295AA8-C2CA-A315-286D-5801C10F6B1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4B114B7-56E7-937B-6320-85AB62A9CC3D}"/>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474925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79F6FE-9020-2AAA-C100-2F6377AC3CF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39033FB-2506-1E5A-8ADB-4E3DA14F92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6126D87-7BC4-08D3-EEF3-815C439A1D4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D6446C3-F959-9E52-A6B9-E02A399410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56B4FE4-69C8-C68A-7805-A3FED516BD0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E20CAD9-A3C2-4EC8-A62E-25236150EE99}"/>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8" name="页脚占位符 7">
            <a:extLst>
              <a:ext uri="{FF2B5EF4-FFF2-40B4-BE49-F238E27FC236}">
                <a16:creationId xmlns:a16="http://schemas.microsoft.com/office/drawing/2014/main" id="{61F27B3A-261E-435E-9257-AAD152480F8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62230C7-943A-ED8E-4017-B499D4ACFFE0}"/>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684624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F964B2-4037-B69B-003D-A44FF3074F6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FE97593-67CC-F9A5-8573-090A0E787979}"/>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4" name="页脚占位符 3">
            <a:extLst>
              <a:ext uri="{FF2B5EF4-FFF2-40B4-BE49-F238E27FC236}">
                <a16:creationId xmlns:a16="http://schemas.microsoft.com/office/drawing/2014/main" id="{92AB5776-C1CF-861D-F134-60032BD49E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2928E97-BDA2-C203-42F1-4199E3DA3E3F}"/>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1420997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BD85DC8-F79E-91BC-9D91-DDA9B40DFFFB}"/>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3" name="页脚占位符 2">
            <a:extLst>
              <a:ext uri="{FF2B5EF4-FFF2-40B4-BE49-F238E27FC236}">
                <a16:creationId xmlns:a16="http://schemas.microsoft.com/office/drawing/2014/main" id="{95E2D031-F92D-B8C8-3871-810B9B035FE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7C2C5A9-6B28-E22D-145C-6DD4D73133BA}"/>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2361719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CCB688-0720-2B7D-5772-032E274D6BD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90406F2-D5C8-8234-4929-7898F90004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892CADE-2335-198B-CE67-AB32CB099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56D6EB6-1C9C-FA30-1F57-D411DDF9B200}"/>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6" name="页脚占位符 5">
            <a:extLst>
              <a:ext uri="{FF2B5EF4-FFF2-40B4-BE49-F238E27FC236}">
                <a16:creationId xmlns:a16="http://schemas.microsoft.com/office/drawing/2014/main" id="{D6015B1F-D815-BD9C-882A-AF564D42D6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D43BCFC-6C99-FE5A-2DD1-5460B71B3495}"/>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2413303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3F63D4-C67E-C419-A5B6-782EB57FC4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F843574-5C7B-71DB-A8A7-E189C8F5E6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36B06E9-54C0-8168-A548-DFFAAE3F88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9D6DE54-FF20-880E-9805-2B5CD30FF8E8}"/>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6" name="页脚占位符 5">
            <a:extLst>
              <a:ext uri="{FF2B5EF4-FFF2-40B4-BE49-F238E27FC236}">
                <a16:creationId xmlns:a16="http://schemas.microsoft.com/office/drawing/2014/main" id="{141B2EE4-E824-3590-FC10-9B6188BD91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BE430C6-00C6-E0DF-A3BB-9B9CD6C7D953}"/>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1602705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57518E-9F61-3689-472C-4AFA4335157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F7BF4A5-4E41-F71C-0CC5-F62383D730D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625DEF-5FB1-725A-6562-A53061DE3D41}"/>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5" name="页脚占位符 4">
            <a:extLst>
              <a:ext uri="{FF2B5EF4-FFF2-40B4-BE49-F238E27FC236}">
                <a16:creationId xmlns:a16="http://schemas.microsoft.com/office/drawing/2014/main" id="{5072F21E-C41B-0A87-9852-14AD750910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5E55EA-674A-5BF3-294D-021D5B39CC63}"/>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346031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B7A1B16-B487-A902-F9E6-53DBED59535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AFBB581-5D11-108A-2F4F-49EAF4A2C6D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F0E02E4-A851-E6E3-2EF4-FB3C682B8E94}"/>
              </a:ext>
            </a:extLst>
          </p:cNvPr>
          <p:cNvSpPr>
            <a:spLocks noGrp="1"/>
          </p:cNvSpPr>
          <p:nvPr>
            <p:ph type="dt" sz="half" idx="10"/>
          </p:nvPr>
        </p:nvSpPr>
        <p:spPr/>
        <p:txBody>
          <a:bodyPr/>
          <a:lstStyle/>
          <a:p>
            <a:fld id="{C9EACFD9-1B37-48EF-98A4-0124974F385B}" type="datetimeFigureOut">
              <a:rPr lang="zh-CN" altLang="en-US" smtClean="0"/>
              <a:t>2026/3/13</a:t>
            </a:fld>
            <a:endParaRPr lang="zh-CN" altLang="en-US"/>
          </a:p>
        </p:txBody>
      </p:sp>
      <p:sp>
        <p:nvSpPr>
          <p:cNvPr id="5" name="页脚占位符 4">
            <a:extLst>
              <a:ext uri="{FF2B5EF4-FFF2-40B4-BE49-F238E27FC236}">
                <a16:creationId xmlns:a16="http://schemas.microsoft.com/office/drawing/2014/main" id="{5824D9BC-FCD1-5867-0D28-504443E1F5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3DFBDD1-8E71-32DF-E6C6-F4830E6D0C02}"/>
              </a:ext>
            </a:extLst>
          </p:cNvPr>
          <p:cNvSpPr>
            <a:spLocks noGrp="1"/>
          </p:cNvSpPr>
          <p:nvPr>
            <p:ph type="sldNum" sz="quarter" idx="12"/>
          </p:nvPr>
        </p:nvSpPr>
        <p:spPr/>
        <p:txBody>
          <a:body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1201679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DAB7775-4F45-4270-6534-EBF9AE54F5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2F9DF17-2CC0-A0D5-D4EE-F913132E65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EAFEA9F-B832-7D8C-B924-AD5D71C646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ACFD9-1B37-48EF-98A4-0124974F385B}" type="datetimeFigureOut">
              <a:rPr lang="zh-CN" altLang="en-US" smtClean="0"/>
              <a:t>2026/3/13</a:t>
            </a:fld>
            <a:endParaRPr lang="zh-CN" altLang="en-US"/>
          </a:p>
        </p:txBody>
      </p:sp>
      <p:sp>
        <p:nvSpPr>
          <p:cNvPr id="5" name="页脚占位符 4">
            <a:extLst>
              <a:ext uri="{FF2B5EF4-FFF2-40B4-BE49-F238E27FC236}">
                <a16:creationId xmlns:a16="http://schemas.microsoft.com/office/drawing/2014/main" id="{41B04B2D-D38A-D87D-DE06-4690570960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32F6E23-8036-6604-E240-67825E6ABF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6C205B-DB0E-404E-B508-F9C8D25D7111}" type="slidenum">
              <a:rPr lang="zh-CN" altLang="en-US" smtClean="0"/>
              <a:t>‹#›</a:t>
            </a:fld>
            <a:endParaRPr lang="zh-CN" altLang="en-US"/>
          </a:p>
        </p:txBody>
      </p:sp>
    </p:spTree>
    <p:extLst>
      <p:ext uri="{BB962C8B-B14F-4D97-AF65-F5344CB8AC3E}">
        <p14:creationId xmlns:p14="http://schemas.microsoft.com/office/powerpoint/2010/main" val="267579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474042" y="4887162"/>
            <a:ext cx="3000372" cy="657168"/>
          </a:xfrm>
          <a:prstGeom prst="rect">
            <a:avLst/>
          </a:prstGeom>
        </p:spPr>
        <p:txBody>
          <a:bodyPr wrap="square">
            <a:spAutoFit/>
          </a:bodyPr>
          <a:lstStyle/>
          <a:p>
            <a:pPr algn="ctr">
              <a:lnSpc>
                <a:spcPts val="5400"/>
              </a:lnSpc>
            </a:pPr>
            <a:endParaRPr lang="en-US" altLang="zh-CN" sz="2100" b="1" dirty="0">
              <a:latin typeface="黑体" panose="02010609060101010101" pitchFamily="49" charset="-122"/>
              <a:ea typeface="黑体" panose="02010609060101010101" pitchFamily="49" charset="-122"/>
            </a:endParaRPr>
          </a:p>
        </p:txBody>
      </p:sp>
      <p:sp>
        <p:nvSpPr>
          <p:cNvPr id="2049" name="Rectangle 1"/>
          <p:cNvSpPr>
            <a:spLocks noChangeArrowheads="1"/>
          </p:cNvSpPr>
          <p:nvPr/>
        </p:nvSpPr>
        <p:spPr bwMode="auto">
          <a:xfrm>
            <a:off x="5016246" y="3974226"/>
            <a:ext cx="1882567" cy="2151871"/>
          </a:xfrm>
          <a:prstGeom prst="rect">
            <a:avLst/>
          </a:prstGeom>
          <a:noFill/>
          <a:ln w="9525">
            <a:noFill/>
            <a:miter lim="800000"/>
          </a:ln>
          <a:effectLst/>
        </p:spPr>
        <p:txBody>
          <a:bodyPr vert="horz" wrap="none" lIns="68580" tIns="34290" rIns="68580" bIns="34290" numCol="1" anchor="ctr" anchorCtr="0" compatLnSpc="1">
            <a:spAutoFit/>
          </a:bodyPr>
          <a:lstStyle/>
          <a:p>
            <a:pPr indent="127000" algn="ctr" defTabSz="914400" fontAlgn="base">
              <a:lnSpc>
                <a:spcPts val="3800"/>
              </a:lnSpc>
              <a:spcBef>
                <a:spcPct val="0"/>
              </a:spcBef>
              <a:spcAft>
                <a:spcPct val="0"/>
              </a:spcAft>
            </a:pPr>
            <a:r>
              <a:rPr lang="zh-CN" altLang="en-US" dirty="0">
                <a:latin typeface="黑体" panose="02010609060101010101" pitchFamily="49" charset="-122"/>
                <a:ea typeface="黑体" panose="02010609060101010101" pitchFamily="49" charset="-122"/>
                <a:cs typeface="方正小标宋简体" panose="02010601030101010101" pitchFamily="65" charset="-122"/>
              </a:rPr>
              <a:t>导师：徐岩</a:t>
            </a:r>
            <a:endParaRPr lang="en-US" altLang="zh-CN" dirty="0">
              <a:latin typeface="黑体" panose="02010609060101010101" pitchFamily="49" charset="-122"/>
              <a:ea typeface="黑体" panose="02010609060101010101" pitchFamily="49" charset="-122"/>
              <a:cs typeface="方正小标宋简体" panose="02010601030101010101" pitchFamily="65" charset="-122"/>
            </a:endParaRPr>
          </a:p>
          <a:p>
            <a:pPr indent="127000" algn="ctr" defTabSz="914400" fontAlgn="base">
              <a:lnSpc>
                <a:spcPts val="3800"/>
              </a:lnSpc>
              <a:spcBef>
                <a:spcPct val="0"/>
              </a:spcBef>
              <a:spcAft>
                <a:spcPct val="0"/>
              </a:spcAft>
            </a:pPr>
            <a:r>
              <a:rPr lang="zh-CN" altLang="en-US" dirty="0">
                <a:latin typeface="黑体" panose="02010609060101010101" pitchFamily="49" charset="-122"/>
                <a:ea typeface="黑体" panose="02010609060101010101" pitchFamily="49" charset="-122"/>
                <a:cs typeface="方正小标宋简体" panose="02010601030101010101" pitchFamily="65" charset="-122"/>
              </a:rPr>
              <a:t>指导小组：马玥</a:t>
            </a:r>
          </a:p>
          <a:p>
            <a:pPr indent="127000" algn="ctr" defTabSz="914400" eaLnBrk="0" fontAlgn="base" hangingPunct="0">
              <a:spcBef>
                <a:spcPct val="0"/>
              </a:spcBef>
              <a:spcAft>
                <a:spcPct val="0"/>
              </a:spcAft>
            </a:pPr>
            <a:endParaRPr lang="zh-CN" altLang="en-US" dirty="0">
              <a:latin typeface="黑体" panose="02010609060101010101" pitchFamily="49" charset="-122"/>
              <a:ea typeface="黑体" panose="02010609060101010101" pitchFamily="49" charset="-122"/>
              <a:cs typeface="宋体" panose="02010600030101010101" pitchFamily="2" charset="-122"/>
            </a:endParaRPr>
          </a:p>
          <a:p>
            <a:pPr indent="127000" algn="ctr" defTabSz="914400" eaLnBrk="0" fontAlgn="base" hangingPunct="0">
              <a:spcBef>
                <a:spcPct val="0"/>
              </a:spcBef>
              <a:spcAft>
                <a:spcPct val="0"/>
              </a:spcAft>
            </a:pPr>
            <a:r>
              <a:rPr lang="zh-CN" altLang="en-US" dirty="0">
                <a:latin typeface="黑体" panose="02010609060101010101" pitchFamily="49" charset="-122"/>
                <a:ea typeface="黑体" panose="02010609060101010101" pitchFamily="49" charset="-122"/>
                <a:cs typeface="方正小标宋简体" panose="02010601030101010101" pitchFamily="65" charset="-122"/>
              </a:rPr>
              <a:t>汇报人：夏童</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indent="127000" algn="ctr" defTabSz="914400" eaLnBrk="0" fontAlgn="base" hangingPunct="0">
              <a:spcBef>
                <a:spcPct val="0"/>
              </a:spcBef>
              <a:spcAft>
                <a:spcPct val="0"/>
              </a:spcAft>
            </a:pP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indent="127000" algn="ctr" defTabSz="914400" eaLnBrk="0" fontAlgn="base" hangingPunct="0">
              <a:spcBef>
                <a:spcPct val="0"/>
              </a:spcBef>
              <a:spcAft>
                <a:spcPct val="0"/>
              </a:spcAft>
            </a:pPr>
            <a:r>
              <a:rPr lang="en-US" altLang="zh-CN" dirty="0">
                <a:latin typeface="黑体" panose="02010609060101010101" pitchFamily="49" charset="-122"/>
                <a:ea typeface="黑体" panose="02010609060101010101" pitchFamily="49" charset="-122"/>
                <a:cs typeface="方正小标宋简体" panose="02010601030101010101" pitchFamily="65" charset="-122"/>
              </a:rPr>
              <a:t>2025</a:t>
            </a:r>
            <a:r>
              <a:rPr lang="zh-CN" altLang="en-US" dirty="0">
                <a:latin typeface="黑体" panose="02010609060101010101" pitchFamily="49" charset="-122"/>
                <a:ea typeface="黑体" panose="02010609060101010101" pitchFamily="49" charset="-122"/>
                <a:cs typeface="方正小标宋简体" panose="02010601030101010101" pitchFamily="65" charset="-122"/>
              </a:rPr>
              <a:t>年</a:t>
            </a:r>
            <a:r>
              <a:rPr lang="en-US" altLang="zh-CN" dirty="0">
                <a:latin typeface="黑体" panose="02010609060101010101" pitchFamily="49" charset="-122"/>
                <a:ea typeface="黑体" panose="02010609060101010101" pitchFamily="49" charset="-122"/>
                <a:cs typeface="方正小标宋简体" panose="02010601030101010101" pitchFamily="65" charset="-122"/>
              </a:rPr>
              <a:t>3</a:t>
            </a:r>
            <a:r>
              <a:rPr lang="zh-CN" altLang="en-US" dirty="0">
                <a:latin typeface="黑体" panose="02010609060101010101" pitchFamily="49" charset="-122"/>
                <a:ea typeface="黑体" panose="02010609060101010101" pitchFamily="49" charset="-122"/>
                <a:cs typeface="方正小标宋简体" panose="02010601030101010101" pitchFamily="65" charset="-122"/>
              </a:rPr>
              <a:t>月</a:t>
            </a:r>
            <a:r>
              <a:rPr lang="en-US" altLang="zh-CN" dirty="0">
                <a:latin typeface="黑体" panose="02010609060101010101" pitchFamily="49" charset="-122"/>
                <a:ea typeface="黑体" panose="02010609060101010101" pitchFamily="49" charset="-122"/>
                <a:cs typeface="方正小标宋简体" panose="02010601030101010101" pitchFamily="65" charset="-122"/>
              </a:rPr>
              <a:t>9</a:t>
            </a:r>
            <a:r>
              <a:rPr lang="zh-CN" altLang="en-US" dirty="0">
                <a:latin typeface="黑体" panose="02010609060101010101" pitchFamily="49" charset="-122"/>
                <a:ea typeface="黑体" panose="02010609060101010101" pitchFamily="49" charset="-122"/>
                <a:cs typeface="方正小标宋简体" panose="02010601030101010101" pitchFamily="65" charset="-122"/>
              </a:rPr>
              <a:t>日</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53020" y="239275"/>
            <a:ext cx="989442" cy="985258"/>
          </a:xfrm>
          <a:prstGeom prst="rect">
            <a:avLst/>
          </a:prstGeom>
        </p:spPr>
      </p:pic>
      <p:sp>
        <p:nvSpPr>
          <p:cNvPr id="9" name="文本框 8"/>
          <p:cNvSpPr txBox="1"/>
          <p:nvPr/>
        </p:nvSpPr>
        <p:spPr>
          <a:xfrm>
            <a:off x="1748159" y="2246389"/>
            <a:ext cx="8962371" cy="1292662"/>
          </a:xfrm>
          <a:prstGeom prst="rect">
            <a:avLst/>
          </a:prstGeom>
          <a:noFill/>
        </p:spPr>
        <p:txBody>
          <a:bodyPr wrap="square">
            <a:spAutoFit/>
          </a:bodyPr>
          <a:lstStyle/>
          <a:p>
            <a:pPr algn="ctr">
              <a:spcBef>
                <a:spcPts val="600"/>
              </a:spcBef>
              <a:spcAft>
                <a:spcPts val="600"/>
              </a:spcAft>
            </a:pPr>
            <a:r>
              <a:rPr lang="en-US" altLang="zh-CN" sz="4000" dirty="0">
                <a:latin typeface="黑体" panose="02010609060101010101" pitchFamily="49" charset="-122"/>
                <a:ea typeface="黑体" panose="02010609060101010101" pitchFamily="49" charset="-122"/>
              </a:rPr>
              <a:t>2026</a:t>
            </a:r>
            <a:r>
              <a:rPr lang="zh-CN" altLang="en-US" sz="4000" dirty="0">
                <a:latin typeface="黑体" panose="02010609060101010101" pitchFamily="49" charset="-122"/>
                <a:ea typeface="黑体" panose="02010609060101010101" pitchFamily="49" charset="-122"/>
              </a:rPr>
              <a:t>年研一下学期计划</a:t>
            </a:r>
            <a:endParaRPr lang="en-US" altLang="zh-CN" sz="4000" dirty="0">
              <a:latin typeface="黑体" panose="02010609060101010101" pitchFamily="49" charset="-122"/>
              <a:ea typeface="黑体" panose="02010609060101010101" pitchFamily="49" charset="-122"/>
            </a:endParaRPr>
          </a:p>
          <a:p>
            <a:pPr algn="ctr">
              <a:spcBef>
                <a:spcPts val="600"/>
              </a:spcBef>
              <a:spcAft>
                <a:spcPts val="600"/>
              </a:spcAft>
            </a:pPr>
            <a:r>
              <a:rPr lang="zh-CN" altLang="en-US" sz="2800" dirty="0">
                <a:latin typeface="黑体" panose="02010609060101010101" pitchFamily="49" charset="-122"/>
                <a:ea typeface="黑体" panose="02010609060101010101" pitchFamily="49" charset="-122"/>
              </a:rPr>
              <a:t>课题：机器学习结合进行浓香型白酒勾兑方案优化</a:t>
            </a:r>
            <a:endParaRPr lang="en-US" altLang="zh-CN" sz="2800" dirty="0">
              <a:latin typeface="黑体" panose="02010609060101010101" pitchFamily="49" charset="-122"/>
              <a:ea typeface="黑体" panose="02010609060101010101" pitchFamily="49" charset="-122"/>
            </a:endParaRPr>
          </a:p>
        </p:txBody>
      </p:sp>
      <p:pic>
        <p:nvPicPr>
          <p:cNvPr id="7" name="Picture 5" descr="http://lbmae.jiangnan.edu.cn/dfiles/12095/public/home/myjda/imags/logo.jpg"/>
          <p:cNvPicPr>
            <a:picLocks noChangeAspect="1" noChangeArrowheads="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5656095" y="239275"/>
            <a:ext cx="2318134" cy="9332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26391" y="2771"/>
            <a:ext cx="9968402" cy="583565"/>
          </a:xfrm>
          <a:prstGeom prst="rect">
            <a:avLst/>
          </a:prstGeom>
          <a:noFill/>
        </p:spPr>
        <p:txBody>
          <a:bodyPr wrap="square">
            <a:spAutoFit/>
          </a:bodyPr>
          <a:lstStyle/>
          <a:p>
            <a:r>
              <a:rPr lang="zh-CN" altLang="en-US" sz="3200" b="1" dirty="0">
                <a:solidFill>
                  <a:schemeClr val="accent1">
                    <a:lumMod val="75000"/>
                  </a:schemeClr>
                </a:solidFill>
                <a:latin typeface="微软雅黑" panose="020B0503020204020204" charset="-122"/>
                <a:ea typeface="微软雅黑" panose="020B0503020204020204" charset="-122"/>
              </a:rPr>
              <a:t>目录</a:t>
            </a:r>
            <a:endParaRPr lang="zh-CN" altLang="en-US" sz="2400" b="1" dirty="0">
              <a:solidFill>
                <a:schemeClr val="accent1">
                  <a:lumMod val="75000"/>
                </a:schemeClr>
              </a:solidFill>
              <a:latin typeface="微软雅黑" panose="020B0503020204020204" charset="-122"/>
              <a:ea typeface="微软雅黑" panose="020B0503020204020204" charset="-122"/>
            </a:endParaRPr>
          </a:p>
        </p:txBody>
      </p:sp>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64155" y="92440"/>
            <a:ext cx="646689" cy="643954"/>
          </a:xfrm>
          <a:prstGeom prst="rect">
            <a:avLst/>
          </a:prstGeom>
        </p:spPr>
      </p:pic>
      <p:cxnSp>
        <p:nvCxnSpPr>
          <p:cNvPr id="19" name="直接连接符 18"/>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sp>
        <p:nvSpPr>
          <p:cNvPr id="14" name="文本框 13"/>
          <p:cNvSpPr txBox="1"/>
          <p:nvPr/>
        </p:nvSpPr>
        <p:spPr>
          <a:xfrm>
            <a:off x="3065392" y="1184266"/>
            <a:ext cx="6333490" cy="584775"/>
          </a:xfrm>
          <a:prstGeom prst="rect">
            <a:avLst/>
          </a:prstGeom>
          <a:noFill/>
        </p:spPr>
        <p:txBody>
          <a:bodyPr wrap="square" rtlCol="0">
            <a:spAutoFit/>
          </a:bodyPr>
          <a:lstStyle/>
          <a:p>
            <a:r>
              <a:rPr lang="en-US" altLang="zh-CN" sz="3200" b="1" dirty="0">
                <a:solidFill>
                  <a:srgbClr val="2F5597"/>
                </a:solidFill>
                <a:latin typeface="微软雅黑" panose="020B0503020204020204" charset="-122"/>
                <a:ea typeface="微软雅黑" panose="020B0503020204020204" charset="-122"/>
                <a:cs typeface="微软雅黑" panose="020B0503020204020204" charset="-122"/>
              </a:rPr>
              <a:t>1.</a:t>
            </a:r>
            <a:r>
              <a:rPr lang="zh-CN" altLang="en-US" sz="3200" b="1" dirty="0">
                <a:solidFill>
                  <a:srgbClr val="2F5597"/>
                </a:solidFill>
                <a:latin typeface="微软雅黑" panose="020B0503020204020204" charset="-122"/>
                <a:ea typeface="微软雅黑" panose="020B0503020204020204" charset="-122"/>
              </a:rPr>
              <a:t>研究背景</a:t>
            </a:r>
          </a:p>
        </p:txBody>
      </p:sp>
      <p:sp>
        <p:nvSpPr>
          <p:cNvPr id="26" name="文本框 25"/>
          <p:cNvSpPr txBox="1"/>
          <p:nvPr/>
        </p:nvSpPr>
        <p:spPr>
          <a:xfrm>
            <a:off x="3065392" y="3628498"/>
            <a:ext cx="7452445" cy="583565"/>
          </a:xfrm>
          <a:prstGeom prst="rect">
            <a:avLst/>
          </a:prstGeom>
          <a:noFill/>
        </p:spPr>
        <p:txBody>
          <a:bodyPr wrap="square" rtlCol="0">
            <a:spAutoFit/>
          </a:bodyPr>
          <a:lstStyle/>
          <a:p>
            <a:r>
              <a:rPr lang="en-US" altLang="zh-CN" sz="3200" b="1" dirty="0">
                <a:solidFill>
                  <a:srgbClr val="2F5597"/>
                </a:solidFill>
                <a:latin typeface="微软雅黑" panose="020B0503020204020204" charset="-122"/>
                <a:ea typeface="微软雅黑" panose="020B0503020204020204" charset="-122"/>
                <a:cs typeface="微软雅黑" panose="020B0503020204020204" charset="-122"/>
              </a:rPr>
              <a:t>3.</a:t>
            </a:r>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sym typeface="+mn-ea"/>
              </a:rPr>
              <a:t>大论文框架及课题研究内容</a:t>
            </a:r>
            <a:endParaRPr lang="zh-CN" altLang="en-US" sz="3200" b="1" dirty="0">
              <a:solidFill>
                <a:srgbClr val="2F5597"/>
              </a:solidFill>
              <a:latin typeface="微软雅黑" panose="020B0503020204020204" charset="-122"/>
              <a:ea typeface="微软雅黑" panose="020B0503020204020204" charset="-122"/>
              <a:cs typeface="微软雅黑" panose="020B0503020204020204" charset="-122"/>
            </a:endParaRPr>
          </a:p>
        </p:txBody>
      </p:sp>
      <p:cxnSp>
        <p:nvCxnSpPr>
          <p:cNvPr id="28" name="直接连接符 27"/>
          <p:cNvCxnSpPr/>
          <p:nvPr/>
        </p:nvCxnSpPr>
        <p:spPr>
          <a:xfrm>
            <a:off x="2793117" y="1322128"/>
            <a:ext cx="0" cy="4541565"/>
          </a:xfrm>
          <a:prstGeom prst="line">
            <a:avLst/>
          </a:prstGeom>
          <a:ln w="38100">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9" name="组合 18"/>
          <p:cNvGrpSpPr/>
          <p:nvPr/>
        </p:nvGrpSpPr>
        <p:grpSpPr bwMode="auto">
          <a:xfrm>
            <a:off x="1054925" y="2547331"/>
            <a:ext cx="1247774" cy="1250822"/>
            <a:chOff x="1709739" y="2636838"/>
            <a:chExt cx="1590160" cy="1584325"/>
          </a:xfrm>
          <a:solidFill>
            <a:schemeClr val="accent1">
              <a:lumMod val="60000"/>
              <a:lumOff val="40000"/>
            </a:schemeClr>
          </a:solidFill>
        </p:grpSpPr>
        <p:sp>
          <p:nvSpPr>
            <p:cNvPr id="30" name="Freeform 6"/>
            <p:cNvSpPr/>
            <p:nvPr/>
          </p:nvSpPr>
          <p:spPr bwMode="auto">
            <a:xfrm>
              <a:off x="1709739" y="2636838"/>
              <a:ext cx="1468438" cy="1467206"/>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lIns="55721" tIns="27861" rIns="55721" bIns="27861"/>
            <a:lstStyle/>
            <a:p>
              <a:pPr algn="l" defTabSz="371475" eaLnBrk="1" fontAlgn="auto" hangingPunct="1">
                <a:spcBef>
                  <a:spcPts val="0"/>
                </a:spcBef>
                <a:spcAft>
                  <a:spcPts val="0"/>
                </a:spcAft>
                <a:defRPr/>
              </a:pPr>
              <a:endParaRPr lang="zh-HK" altLang="en-US" sz="1095" b="1">
                <a:solidFill>
                  <a:prstClr val="black"/>
                </a:solidFill>
                <a:latin typeface="Calibri" panose="020F0502020204030204"/>
                <a:ea typeface="PMingLiU" panose="02020500000000000000" pitchFamily="18" charset="-120"/>
              </a:endParaRPr>
            </a:p>
          </p:txBody>
        </p:sp>
        <p:sp>
          <p:nvSpPr>
            <p:cNvPr id="31" name="Freeform 7"/>
            <p:cNvSpPr>
              <a:spLocks noEditPoints="1"/>
            </p:cNvSpPr>
            <p:nvPr/>
          </p:nvSpPr>
          <p:spPr bwMode="auto">
            <a:xfrm>
              <a:off x="2570860" y="3653586"/>
              <a:ext cx="569764" cy="567577"/>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lIns="55721" tIns="27861" rIns="55721" bIns="27861"/>
            <a:lstStyle/>
            <a:p>
              <a:pPr algn="l" defTabSz="371475" eaLnBrk="1" fontAlgn="auto" hangingPunct="1">
                <a:spcBef>
                  <a:spcPts val="0"/>
                </a:spcBef>
                <a:spcAft>
                  <a:spcPts val="0"/>
                </a:spcAft>
                <a:defRPr/>
              </a:pPr>
              <a:endParaRPr lang="zh-HK" altLang="en-US" sz="1095" b="1">
                <a:solidFill>
                  <a:prstClr val="black"/>
                </a:solidFill>
                <a:latin typeface="Calibri" panose="020F0502020204030204"/>
                <a:ea typeface="PMingLiU" panose="02020500000000000000" pitchFamily="18" charset="-120"/>
              </a:endParaRPr>
            </a:p>
          </p:txBody>
        </p:sp>
        <p:sp>
          <p:nvSpPr>
            <p:cNvPr id="32" name="Freeform 8"/>
            <p:cNvSpPr/>
            <p:nvPr/>
          </p:nvSpPr>
          <p:spPr bwMode="auto">
            <a:xfrm>
              <a:off x="2262670" y="3371728"/>
              <a:ext cx="607316" cy="119694"/>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lIns="55721" tIns="27861" rIns="55721" bIns="27861"/>
            <a:lstStyle/>
            <a:p>
              <a:pPr algn="l" defTabSz="371475" eaLnBrk="1" fontAlgn="auto" hangingPunct="1">
                <a:spcBef>
                  <a:spcPts val="0"/>
                </a:spcBef>
                <a:spcAft>
                  <a:spcPts val="0"/>
                </a:spcAft>
                <a:defRPr/>
              </a:pPr>
              <a:endParaRPr lang="zh-HK" altLang="en-US" sz="1095" b="1">
                <a:solidFill>
                  <a:prstClr val="black"/>
                </a:solidFill>
                <a:latin typeface="Calibri" panose="020F0502020204030204"/>
                <a:ea typeface="PMingLiU" panose="02020500000000000000" pitchFamily="18" charset="-120"/>
              </a:endParaRPr>
            </a:p>
          </p:txBody>
        </p:sp>
        <p:sp>
          <p:nvSpPr>
            <p:cNvPr id="33" name="Freeform 9"/>
            <p:cNvSpPr/>
            <p:nvPr/>
          </p:nvSpPr>
          <p:spPr bwMode="auto">
            <a:xfrm>
              <a:off x="2262670" y="3127193"/>
              <a:ext cx="607316" cy="119694"/>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lIns="55721" tIns="27861" rIns="55721" bIns="27861"/>
            <a:lstStyle/>
            <a:p>
              <a:pPr algn="l" defTabSz="371475" eaLnBrk="1" fontAlgn="auto" hangingPunct="1">
                <a:spcBef>
                  <a:spcPts val="0"/>
                </a:spcBef>
                <a:spcAft>
                  <a:spcPts val="0"/>
                </a:spcAft>
                <a:defRPr/>
              </a:pPr>
              <a:endParaRPr lang="zh-HK" altLang="en-US" sz="1095" b="1">
                <a:solidFill>
                  <a:prstClr val="black"/>
                </a:solidFill>
                <a:latin typeface="Calibri" panose="020F0502020204030204"/>
                <a:ea typeface="PMingLiU" panose="02020500000000000000" pitchFamily="18" charset="-120"/>
              </a:endParaRPr>
            </a:p>
          </p:txBody>
        </p:sp>
        <p:sp>
          <p:nvSpPr>
            <p:cNvPr id="34" name="Freeform 10"/>
            <p:cNvSpPr/>
            <p:nvPr/>
          </p:nvSpPr>
          <p:spPr bwMode="auto">
            <a:xfrm>
              <a:off x="2262670" y="3616262"/>
              <a:ext cx="550340" cy="119694"/>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lIns="55721" tIns="27861" rIns="55721" bIns="27861"/>
            <a:lstStyle/>
            <a:p>
              <a:pPr algn="l" defTabSz="371475" eaLnBrk="1" fontAlgn="auto" hangingPunct="1">
                <a:spcBef>
                  <a:spcPts val="0"/>
                </a:spcBef>
                <a:spcAft>
                  <a:spcPts val="0"/>
                </a:spcAft>
                <a:defRPr/>
              </a:pPr>
              <a:endParaRPr lang="zh-HK" altLang="en-US" sz="1095" b="1">
                <a:solidFill>
                  <a:prstClr val="black"/>
                </a:solidFill>
                <a:latin typeface="Calibri" panose="020F0502020204030204"/>
                <a:ea typeface="PMingLiU" panose="02020500000000000000" pitchFamily="18" charset="-120"/>
              </a:endParaRPr>
            </a:p>
          </p:txBody>
        </p:sp>
        <p:sp>
          <p:nvSpPr>
            <p:cNvPr id="35" name="Freeform 11"/>
            <p:cNvSpPr/>
            <p:nvPr/>
          </p:nvSpPr>
          <p:spPr bwMode="auto">
            <a:xfrm>
              <a:off x="3016312" y="3492708"/>
              <a:ext cx="283587" cy="280571"/>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lIns="55721" tIns="27861" rIns="55721" bIns="27861"/>
            <a:lstStyle/>
            <a:p>
              <a:pPr algn="l" defTabSz="371475" eaLnBrk="1" fontAlgn="auto" hangingPunct="1">
                <a:spcBef>
                  <a:spcPts val="0"/>
                </a:spcBef>
                <a:spcAft>
                  <a:spcPts val="0"/>
                </a:spcAft>
                <a:defRPr/>
              </a:pPr>
              <a:endParaRPr lang="zh-HK" altLang="en-US" sz="1095" b="1">
                <a:solidFill>
                  <a:prstClr val="black"/>
                </a:solidFill>
                <a:latin typeface="Calibri" panose="020F0502020204030204"/>
                <a:ea typeface="PMingLiU" panose="02020500000000000000" pitchFamily="18" charset="-120"/>
              </a:endParaRPr>
            </a:p>
          </p:txBody>
        </p:sp>
        <p:sp>
          <p:nvSpPr>
            <p:cNvPr id="36" name="Freeform 12"/>
            <p:cNvSpPr/>
            <p:nvPr/>
          </p:nvSpPr>
          <p:spPr bwMode="auto">
            <a:xfrm>
              <a:off x="2016635" y="3373015"/>
              <a:ext cx="120427" cy="117119"/>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lIns="55721" tIns="27861" rIns="55721" bIns="27861"/>
            <a:lstStyle/>
            <a:p>
              <a:pPr algn="l" defTabSz="371475" eaLnBrk="1" fontAlgn="auto" hangingPunct="1">
                <a:spcBef>
                  <a:spcPts val="0"/>
                </a:spcBef>
                <a:spcAft>
                  <a:spcPts val="0"/>
                </a:spcAft>
                <a:defRPr/>
              </a:pPr>
              <a:endParaRPr lang="zh-HK" altLang="en-US" sz="1095" b="1">
                <a:solidFill>
                  <a:prstClr val="black"/>
                </a:solidFill>
                <a:latin typeface="Calibri" panose="020F0502020204030204"/>
                <a:ea typeface="PMingLiU" panose="02020500000000000000" pitchFamily="18" charset="-120"/>
              </a:endParaRPr>
            </a:p>
          </p:txBody>
        </p:sp>
        <p:sp>
          <p:nvSpPr>
            <p:cNvPr id="37" name="Freeform 13"/>
            <p:cNvSpPr/>
            <p:nvPr/>
          </p:nvSpPr>
          <p:spPr bwMode="auto">
            <a:xfrm>
              <a:off x="2017930" y="3128481"/>
              <a:ext cx="119133" cy="118406"/>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lIns="55721" tIns="27861" rIns="55721" bIns="27861"/>
            <a:lstStyle/>
            <a:p>
              <a:pPr algn="l" defTabSz="371475" eaLnBrk="1" fontAlgn="auto" hangingPunct="1">
                <a:spcBef>
                  <a:spcPts val="0"/>
                </a:spcBef>
                <a:spcAft>
                  <a:spcPts val="0"/>
                </a:spcAft>
                <a:defRPr/>
              </a:pPr>
              <a:endParaRPr lang="zh-HK" altLang="en-US" sz="1095" b="1">
                <a:solidFill>
                  <a:prstClr val="black"/>
                </a:solidFill>
                <a:latin typeface="Calibri" panose="020F0502020204030204"/>
                <a:ea typeface="PMingLiU" panose="02020500000000000000" pitchFamily="18" charset="-120"/>
              </a:endParaRPr>
            </a:p>
          </p:txBody>
        </p:sp>
        <p:sp>
          <p:nvSpPr>
            <p:cNvPr id="38" name="Freeform 14"/>
            <p:cNvSpPr/>
            <p:nvPr/>
          </p:nvSpPr>
          <p:spPr bwMode="auto">
            <a:xfrm>
              <a:off x="2017930" y="3616262"/>
              <a:ext cx="119133" cy="11969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lIns="55721" tIns="27861" rIns="55721" bIns="27861"/>
            <a:lstStyle/>
            <a:p>
              <a:pPr algn="l" defTabSz="371475" eaLnBrk="1" fontAlgn="auto" hangingPunct="1">
                <a:spcBef>
                  <a:spcPts val="0"/>
                </a:spcBef>
                <a:spcAft>
                  <a:spcPts val="0"/>
                </a:spcAft>
                <a:defRPr/>
              </a:pPr>
              <a:endParaRPr lang="zh-HK" altLang="en-US" sz="1095" b="1">
                <a:solidFill>
                  <a:prstClr val="black"/>
                </a:solidFill>
                <a:latin typeface="Calibri" panose="020F0502020204030204"/>
                <a:ea typeface="PMingLiU" panose="02020500000000000000" pitchFamily="18" charset="-120"/>
              </a:endParaRPr>
            </a:p>
          </p:txBody>
        </p:sp>
      </p:grpSp>
      <p:sp>
        <p:nvSpPr>
          <p:cNvPr id="39" name="文本框 38"/>
          <p:cNvSpPr txBox="1"/>
          <p:nvPr/>
        </p:nvSpPr>
        <p:spPr>
          <a:xfrm>
            <a:off x="481837" y="3945108"/>
            <a:ext cx="2303457" cy="354841"/>
          </a:xfrm>
          <a:prstGeom prst="rect">
            <a:avLst/>
          </a:prstGeom>
          <a:noFill/>
        </p:spPr>
        <p:txBody>
          <a:bodyPr wrap="square">
            <a:spAutoFit/>
          </a:bodyPr>
          <a:lstStyle/>
          <a:p>
            <a:pPr algn="ctr" defTabSz="371475" eaLnBrk="1" fontAlgn="auto" hangingPunct="1">
              <a:spcBef>
                <a:spcPts val="0"/>
              </a:spcBef>
              <a:spcAft>
                <a:spcPts val="0"/>
              </a:spcAft>
              <a:defRPr/>
            </a:pPr>
            <a:r>
              <a:rPr lang="en-US" altLang="zh-CN" sz="1705" b="1" spc="183" dirty="0">
                <a:solidFill>
                  <a:schemeClr val="accent1">
                    <a:lumMod val="60000"/>
                    <a:lumOff val="40000"/>
                  </a:schemeClr>
                </a:solidFill>
                <a:latin typeface="微软雅黑" panose="020B0503020204020204" charset="-122"/>
                <a:ea typeface="微软雅黑" panose="020B0503020204020204" charset="-122"/>
              </a:rPr>
              <a:t>CONTANTS</a:t>
            </a:r>
            <a:endParaRPr lang="zh-HK" altLang="en-US" sz="1705" b="1" spc="183" dirty="0">
              <a:solidFill>
                <a:schemeClr val="accent1">
                  <a:lumMod val="60000"/>
                  <a:lumOff val="40000"/>
                </a:schemeClr>
              </a:solidFill>
              <a:latin typeface="微软雅黑" panose="020B0503020204020204" charset="-122"/>
              <a:ea typeface="微软雅黑" panose="020B0503020204020204" charset="-122"/>
            </a:endParaRPr>
          </a:p>
        </p:txBody>
      </p:sp>
      <p:sp>
        <p:nvSpPr>
          <p:cNvPr id="4" name="文本框 3">
            <a:extLst>
              <a:ext uri="{FF2B5EF4-FFF2-40B4-BE49-F238E27FC236}">
                <a16:creationId xmlns:a16="http://schemas.microsoft.com/office/drawing/2014/main" id="{D5BBCC5E-1A86-5259-2872-D47812EFD1B4}"/>
              </a:ext>
            </a:extLst>
          </p:cNvPr>
          <p:cNvSpPr txBox="1"/>
          <p:nvPr/>
        </p:nvSpPr>
        <p:spPr>
          <a:xfrm>
            <a:off x="3065392" y="2406382"/>
            <a:ext cx="7374660" cy="584775"/>
          </a:xfrm>
          <a:prstGeom prst="rect">
            <a:avLst/>
          </a:prstGeom>
          <a:noFill/>
        </p:spPr>
        <p:txBody>
          <a:bodyPr wrap="square" rtlCol="0">
            <a:spAutoFit/>
          </a:bodyPr>
          <a:lstStyle/>
          <a:p>
            <a:r>
              <a:rPr lang="en-US" altLang="zh-CN" sz="3200" b="1" dirty="0">
                <a:solidFill>
                  <a:srgbClr val="2F5597"/>
                </a:solidFill>
                <a:latin typeface="微软雅黑" panose="020B0503020204020204" charset="-122"/>
                <a:ea typeface="微软雅黑" panose="020B0503020204020204" charset="-122"/>
                <a:cs typeface="微软雅黑" panose="020B0503020204020204" charset="-122"/>
              </a:rPr>
              <a:t>2.</a:t>
            </a:r>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研究目标</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38FA901F-1E90-DB34-D9DF-54E2BAEC44E5}"/>
              </a:ext>
            </a:extLst>
          </p:cNvPr>
          <p:cNvSpPr txBox="1"/>
          <p:nvPr/>
        </p:nvSpPr>
        <p:spPr>
          <a:xfrm>
            <a:off x="3065392" y="4935963"/>
            <a:ext cx="6929397" cy="584775"/>
          </a:xfrm>
          <a:prstGeom prst="rect">
            <a:avLst/>
          </a:prstGeom>
          <a:noFill/>
        </p:spPr>
        <p:txBody>
          <a:bodyPr wrap="square" rtlCol="0">
            <a:spAutoFit/>
          </a:bodyPr>
          <a:lstStyle/>
          <a:p>
            <a:r>
              <a:rPr lang="en-US" altLang="zh-CN" sz="3200" b="1" dirty="0">
                <a:solidFill>
                  <a:srgbClr val="2F5597"/>
                </a:solidFill>
                <a:latin typeface="微软雅黑" panose="020B0503020204020204" charset="-122"/>
                <a:ea typeface="微软雅黑" panose="020B0503020204020204" charset="-122"/>
                <a:cs typeface="微软雅黑" panose="020B0503020204020204" charset="-122"/>
              </a:rPr>
              <a:t>4.</a:t>
            </a:r>
            <a:r>
              <a:rPr lang="zh-CN" altLang="en-US" sz="3200" b="1" dirty="0">
                <a:solidFill>
                  <a:srgbClr val="2F5597"/>
                </a:solidFill>
                <a:latin typeface="微软雅黑" panose="020B0503020204020204" charset="-122"/>
                <a:ea typeface="微软雅黑" panose="020B0503020204020204" charset="-122"/>
              </a:rPr>
              <a:t>本学期计划完成研究目标及其方案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D2231-BFAE-AC7F-1D00-0740184FC7AC}"/>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60B0BEF7-27C2-A924-2D96-0A3025F2F468}"/>
              </a:ext>
            </a:extLst>
          </p:cNvPr>
          <p:cNvSpPr txBox="1"/>
          <p:nvPr/>
        </p:nvSpPr>
        <p:spPr>
          <a:xfrm>
            <a:off x="26391" y="2771"/>
            <a:ext cx="9968402" cy="584775"/>
          </a:xfrm>
          <a:prstGeom prst="rect">
            <a:avLst/>
          </a:prstGeom>
          <a:noFill/>
        </p:spPr>
        <p:txBody>
          <a:bodyPr wrap="square">
            <a:spAutoFit/>
          </a:bodyPr>
          <a:lstStyle/>
          <a:p>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研究背景</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pic>
        <p:nvPicPr>
          <p:cNvPr id="17" name="图片 16">
            <a:extLst>
              <a:ext uri="{FF2B5EF4-FFF2-40B4-BE49-F238E27FC236}">
                <a16:creationId xmlns:a16="http://schemas.microsoft.com/office/drawing/2014/main" id="{85055C92-E49C-6CF6-F2D4-F72023709A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714" y="64216"/>
            <a:ext cx="646689" cy="643954"/>
          </a:xfrm>
          <a:prstGeom prst="rect">
            <a:avLst/>
          </a:prstGeom>
        </p:spPr>
      </p:pic>
      <p:cxnSp>
        <p:nvCxnSpPr>
          <p:cNvPr id="19" name="直接连接符 18">
            <a:extLst>
              <a:ext uri="{FF2B5EF4-FFF2-40B4-BE49-F238E27FC236}">
                <a16:creationId xmlns:a16="http://schemas.microsoft.com/office/drawing/2014/main" id="{FAB2E7D3-9077-745E-D719-D09F5648A727}"/>
              </a:ext>
            </a:extLst>
          </p:cNvPr>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sp>
        <p:nvSpPr>
          <p:cNvPr id="2" name="文本框 1">
            <a:extLst>
              <a:ext uri="{FF2B5EF4-FFF2-40B4-BE49-F238E27FC236}">
                <a16:creationId xmlns:a16="http://schemas.microsoft.com/office/drawing/2014/main" id="{0736BAA2-0742-0669-36A6-B008EF7094D8}"/>
              </a:ext>
            </a:extLst>
          </p:cNvPr>
          <p:cNvSpPr txBox="1"/>
          <p:nvPr/>
        </p:nvSpPr>
        <p:spPr>
          <a:xfrm>
            <a:off x="127220" y="759207"/>
            <a:ext cx="1926356" cy="369332"/>
          </a:xfrm>
          <a:prstGeom prst="rect">
            <a:avLst/>
          </a:prstGeom>
          <a:noFill/>
        </p:spPr>
        <p:txBody>
          <a:bodyPr wrap="square" rtlCol="0">
            <a:spAutoFit/>
          </a:bodyPr>
          <a:lstStyle/>
          <a:p>
            <a:r>
              <a:rPr lang="zh-CN" altLang="en-US" b="1" dirty="0">
                <a:solidFill>
                  <a:srgbClr val="FF0000"/>
                </a:solidFill>
              </a:rPr>
              <a:t>白酒勾兑流程</a:t>
            </a:r>
          </a:p>
        </p:txBody>
      </p:sp>
      <p:sp>
        <p:nvSpPr>
          <p:cNvPr id="52" name="箭头: 右 51">
            <a:extLst>
              <a:ext uri="{FF2B5EF4-FFF2-40B4-BE49-F238E27FC236}">
                <a16:creationId xmlns:a16="http://schemas.microsoft.com/office/drawing/2014/main" id="{5A7330DC-1042-71B0-7683-DAFD8F76E8D6}"/>
              </a:ext>
            </a:extLst>
          </p:cNvPr>
          <p:cNvSpPr/>
          <p:nvPr/>
        </p:nvSpPr>
        <p:spPr>
          <a:xfrm>
            <a:off x="2506781" y="2718507"/>
            <a:ext cx="381644" cy="206744"/>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pSp>
        <p:nvGrpSpPr>
          <p:cNvPr id="8" name="组合 7">
            <a:extLst>
              <a:ext uri="{FF2B5EF4-FFF2-40B4-BE49-F238E27FC236}">
                <a16:creationId xmlns:a16="http://schemas.microsoft.com/office/drawing/2014/main" id="{2F1FB892-EDE0-71A5-19F9-4ECD7047602A}"/>
              </a:ext>
            </a:extLst>
          </p:cNvPr>
          <p:cNvGrpSpPr/>
          <p:nvPr/>
        </p:nvGrpSpPr>
        <p:grpSpPr>
          <a:xfrm>
            <a:off x="138686" y="1238906"/>
            <a:ext cx="7522818" cy="369331"/>
            <a:chOff x="2147204" y="819000"/>
            <a:chExt cx="5516401" cy="288241"/>
          </a:xfrm>
        </p:grpSpPr>
        <p:sp>
          <p:nvSpPr>
            <p:cNvPr id="20" name="矩形: 圆角 19">
              <a:extLst>
                <a:ext uri="{FF2B5EF4-FFF2-40B4-BE49-F238E27FC236}">
                  <a16:creationId xmlns:a16="http://schemas.microsoft.com/office/drawing/2014/main" id="{DE89E664-671B-5CBC-7A9B-A0AD55DEDE00}"/>
                </a:ext>
              </a:extLst>
            </p:cNvPr>
            <p:cNvSpPr/>
            <p:nvPr/>
          </p:nvSpPr>
          <p:spPr>
            <a:xfrm>
              <a:off x="2147204" y="827641"/>
              <a:ext cx="887672" cy="26976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b="1" dirty="0"/>
                <a:t>原酒分级</a:t>
              </a:r>
              <a:endParaRPr lang="zh-CN" altLang="en-US" dirty="0"/>
            </a:p>
          </p:txBody>
        </p:sp>
        <p:sp>
          <p:nvSpPr>
            <p:cNvPr id="23" name="矩形: 圆角 22">
              <a:extLst>
                <a:ext uri="{FF2B5EF4-FFF2-40B4-BE49-F238E27FC236}">
                  <a16:creationId xmlns:a16="http://schemas.microsoft.com/office/drawing/2014/main" id="{22E04696-59E1-E0D4-6F18-12D0F87CB1DC}"/>
                </a:ext>
              </a:extLst>
            </p:cNvPr>
            <p:cNvSpPr/>
            <p:nvPr/>
          </p:nvSpPr>
          <p:spPr>
            <a:xfrm>
              <a:off x="3207156" y="827641"/>
              <a:ext cx="1032269" cy="26976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b="1" dirty="0"/>
                <a:t>入库贮存</a:t>
              </a:r>
              <a:endParaRPr lang="zh-CN" altLang="en-US" dirty="0"/>
            </a:p>
          </p:txBody>
        </p:sp>
        <p:sp>
          <p:nvSpPr>
            <p:cNvPr id="27" name="矩形: 圆角 26">
              <a:extLst>
                <a:ext uri="{FF2B5EF4-FFF2-40B4-BE49-F238E27FC236}">
                  <a16:creationId xmlns:a16="http://schemas.microsoft.com/office/drawing/2014/main" id="{8C2EE0B7-A3D1-4605-C99E-8EBD3EBA4125}"/>
                </a:ext>
              </a:extLst>
            </p:cNvPr>
            <p:cNvSpPr/>
            <p:nvPr/>
          </p:nvSpPr>
          <p:spPr>
            <a:xfrm>
              <a:off x="4393457" y="826231"/>
              <a:ext cx="925213" cy="26976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b="1" dirty="0"/>
                <a:t>酒体分析</a:t>
              </a:r>
              <a:endParaRPr lang="zh-CN" altLang="en-US" dirty="0"/>
            </a:p>
          </p:txBody>
        </p:sp>
        <p:sp>
          <p:nvSpPr>
            <p:cNvPr id="29" name="矩形: 圆角 28">
              <a:extLst>
                <a:ext uri="{FF2B5EF4-FFF2-40B4-BE49-F238E27FC236}">
                  <a16:creationId xmlns:a16="http://schemas.microsoft.com/office/drawing/2014/main" id="{18AE50B1-5F52-363B-9DF2-0DE41E0B0D43}"/>
                </a:ext>
              </a:extLst>
            </p:cNvPr>
            <p:cNvSpPr/>
            <p:nvPr/>
          </p:nvSpPr>
          <p:spPr>
            <a:xfrm>
              <a:off x="5492949" y="826231"/>
              <a:ext cx="1029895" cy="28101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b="1" dirty="0"/>
                <a:t>（小样勾兑）</a:t>
              </a:r>
              <a:endParaRPr lang="zh-CN" altLang="en-US" dirty="0"/>
            </a:p>
          </p:txBody>
        </p:sp>
        <p:sp>
          <p:nvSpPr>
            <p:cNvPr id="30" name="矩形: 圆角 29">
              <a:extLst>
                <a:ext uri="{FF2B5EF4-FFF2-40B4-BE49-F238E27FC236}">
                  <a16:creationId xmlns:a16="http://schemas.microsoft.com/office/drawing/2014/main" id="{90D3FD76-C195-9216-4667-5152B7A9A36E}"/>
                </a:ext>
              </a:extLst>
            </p:cNvPr>
            <p:cNvSpPr/>
            <p:nvPr/>
          </p:nvSpPr>
          <p:spPr>
            <a:xfrm>
              <a:off x="6687677" y="819000"/>
              <a:ext cx="975928" cy="28101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b="1" dirty="0"/>
                <a:t>配比勾兑</a:t>
              </a:r>
            </a:p>
          </p:txBody>
        </p:sp>
        <p:cxnSp>
          <p:nvCxnSpPr>
            <p:cNvPr id="34" name="直接箭头连接符 33">
              <a:extLst>
                <a:ext uri="{FF2B5EF4-FFF2-40B4-BE49-F238E27FC236}">
                  <a16:creationId xmlns:a16="http://schemas.microsoft.com/office/drawing/2014/main" id="{96499804-73BB-A714-DAB1-A18CA05D6491}"/>
                </a:ext>
              </a:extLst>
            </p:cNvPr>
            <p:cNvCxnSpPr>
              <a:cxnSpLocks/>
              <a:stCxn id="20" idx="3"/>
              <a:endCxn id="23" idx="1"/>
            </p:cNvCxnSpPr>
            <p:nvPr/>
          </p:nvCxnSpPr>
          <p:spPr>
            <a:xfrm>
              <a:off x="3034876" y="962522"/>
              <a:ext cx="172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605AE5F2-5FF2-D307-24DC-21C82DA164BC}"/>
                </a:ext>
              </a:extLst>
            </p:cNvPr>
            <p:cNvCxnSpPr>
              <a:cxnSpLocks/>
              <a:stCxn id="23" idx="3"/>
              <a:endCxn id="27" idx="1"/>
            </p:cNvCxnSpPr>
            <p:nvPr/>
          </p:nvCxnSpPr>
          <p:spPr>
            <a:xfrm flipV="1">
              <a:off x="4239425" y="961112"/>
              <a:ext cx="154032" cy="1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59" name="直接箭头连接符 58">
            <a:extLst>
              <a:ext uri="{FF2B5EF4-FFF2-40B4-BE49-F238E27FC236}">
                <a16:creationId xmlns:a16="http://schemas.microsoft.com/office/drawing/2014/main" id="{62D2F1AA-9997-6BFC-FD9A-C2B07F1CD09C}"/>
              </a:ext>
            </a:extLst>
          </p:cNvPr>
          <p:cNvCxnSpPr>
            <a:cxnSpLocks/>
            <a:stCxn id="27" idx="3"/>
            <a:endCxn id="29" idx="1"/>
          </p:cNvCxnSpPr>
          <p:nvPr/>
        </p:nvCxnSpPr>
        <p:spPr>
          <a:xfrm>
            <a:off x="4463673" y="1420997"/>
            <a:ext cx="237667" cy="7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A8070FEF-5F2A-9A40-C01F-7603007FD5D7}"/>
              </a:ext>
            </a:extLst>
          </p:cNvPr>
          <p:cNvCxnSpPr>
            <a:cxnSpLocks/>
            <a:stCxn id="29" idx="3"/>
            <a:endCxn id="30" idx="1"/>
          </p:cNvCxnSpPr>
          <p:nvPr/>
        </p:nvCxnSpPr>
        <p:spPr>
          <a:xfrm flipV="1">
            <a:off x="6105827" y="1418939"/>
            <a:ext cx="224786" cy="9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勾兑工艺_酒志词条_中国酒志网">
            <a:extLst>
              <a:ext uri="{FF2B5EF4-FFF2-40B4-BE49-F238E27FC236}">
                <a16:creationId xmlns:a16="http://schemas.microsoft.com/office/drawing/2014/main" id="{683DBD85-D165-A2CC-6B0E-142E6DE5A7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806" y="2041434"/>
            <a:ext cx="2017769" cy="1513327"/>
          </a:xfrm>
          <a:prstGeom prst="rect">
            <a:avLst/>
          </a:prstGeom>
          <a:noFill/>
          <a:extLst>
            <a:ext uri="{909E8E84-426E-40DD-AFC4-6F175D3DCCD1}">
              <a14:hiddenFill xmlns:a14="http://schemas.microsoft.com/office/drawing/2010/main">
                <a:solidFill>
                  <a:srgbClr val="FFFFFF"/>
                </a:solidFill>
              </a14:hiddenFill>
            </a:ext>
          </a:extLst>
        </p:spPr>
      </p:pic>
      <p:sp>
        <p:nvSpPr>
          <p:cNvPr id="154" name="文本框 153">
            <a:extLst>
              <a:ext uri="{FF2B5EF4-FFF2-40B4-BE49-F238E27FC236}">
                <a16:creationId xmlns:a16="http://schemas.microsoft.com/office/drawing/2014/main" id="{F26F00E7-9636-E3F1-5F94-4C7BB96DD334}"/>
              </a:ext>
            </a:extLst>
          </p:cNvPr>
          <p:cNvSpPr txBox="1"/>
          <p:nvPr/>
        </p:nvSpPr>
        <p:spPr>
          <a:xfrm>
            <a:off x="2991886" y="2041434"/>
            <a:ext cx="3445984" cy="1513323"/>
          </a:xfrm>
          <a:prstGeom prst="rect">
            <a:avLst/>
          </a:prstGeom>
          <a:noFill/>
          <a:ln w="25400">
            <a:solidFill>
              <a:schemeClr val="accent1"/>
            </a:solidFill>
          </a:ln>
        </p:spPr>
        <p:txBody>
          <a:bodyPr wrap="square" rtlCol="0">
            <a:noAutofit/>
          </a:bodyPr>
          <a:lstStyle/>
          <a:p>
            <a:r>
              <a:rPr lang="zh-CN" altLang="en-US" dirty="0"/>
              <a:t>勾兑主要用酒为进行分级且风味基底不同的基酒，这些基酒往往经过不同年份的陈酿，风味物质也会产生变化，除此以外还有少量的调味酒。</a:t>
            </a:r>
          </a:p>
        </p:txBody>
      </p:sp>
      <p:pic>
        <p:nvPicPr>
          <p:cNvPr id="4" name="Picture 2" descr="勾兑酒、酒勾兑、勾兑、新工艺酒，这些关于白酒的词你了解多少？ - 知乎">
            <a:extLst>
              <a:ext uri="{FF2B5EF4-FFF2-40B4-BE49-F238E27FC236}">
                <a16:creationId xmlns:a16="http://schemas.microsoft.com/office/drawing/2014/main" id="{3D9CE6CB-DE01-8704-CC4E-1053564601A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2483" b="14243"/>
          <a:stretch>
            <a:fillRect/>
          </a:stretch>
        </p:blipFill>
        <p:spPr bwMode="auto">
          <a:xfrm>
            <a:off x="7146516" y="1977481"/>
            <a:ext cx="2538703" cy="1577274"/>
          </a:xfrm>
          <a:prstGeom prst="rect">
            <a:avLst/>
          </a:prstGeom>
          <a:noFill/>
          <a:extLst>
            <a:ext uri="{909E8E84-426E-40DD-AFC4-6F175D3DCCD1}">
              <a14:hiddenFill xmlns:a14="http://schemas.microsoft.com/office/drawing/2010/main">
                <a:solidFill>
                  <a:srgbClr val="FFFFFF"/>
                </a:solidFill>
              </a14:hiddenFill>
            </a:ext>
          </a:extLst>
        </p:spPr>
      </p:pic>
      <p:sp>
        <p:nvSpPr>
          <p:cNvPr id="5" name="箭头: 右 4">
            <a:extLst>
              <a:ext uri="{FF2B5EF4-FFF2-40B4-BE49-F238E27FC236}">
                <a16:creationId xmlns:a16="http://schemas.microsoft.com/office/drawing/2014/main" id="{DF1552E8-6159-FAD6-4A42-48E4FE6F2265}"/>
              </a:ext>
            </a:extLst>
          </p:cNvPr>
          <p:cNvSpPr/>
          <p:nvPr/>
        </p:nvSpPr>
        <p:spPr>
          <a:xfrm>
            <a:off x="6541331" y="2718507"/>
            <a:ext cx="381644" cy="206744"/>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左大括号 5">
            <a:extLst>
              <a:ext uri="{FF2B5EF4-FFF2-40B4-BE49-F238E27FC236}">
                <a16:creationId xmlns:a16="http://schemas.microsoft.com/office/drawing/2014/main" id="{EB961643-ADD7-7DA5-789D-F7BF9B95F28D}"/>
              </a:ext>
            </a:extLst>
          </p:cNvPr>
          <p:cNvSpPr/>
          <p:nvPr/>
        </p:nvSpPr>
        <p:spPr>
          <a:xfrm>
            <a:off x="1796691" y="4173389"/>
            <a:ext cx="692694" cy="2029713"/>
          </a:xfrm>
          <a:prstGeom prst="leftBrace">
            <a:avLst/>
          </a:prstGeom>
          <a:noFill/>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493EADA-1B9E-568A-A4FD-9121F82EA913}"/>
              </a:ext>
            </a:extLst>
          </p:cNvPr>
          <p:cNvSpPr txBox="1"/>
          <p:nvPr/>
        </p:nvSpPr>
        <p:spPr>
          <a:xfrm>
            <a:off x="435590" y="5003579"/>
            <a:ext cx="1460452" cy="369332"/>
          </a:xfrm>
          <a:prstGeom prst="rect">
            <a:avLst/>
          </a:prstGeom>
          <a:noFill/>
        </p:spPr>
        <p:txBody>
          <a:bodyPr wrap="square" rtlCol="0">
            <a:spAutoFit/>
          </a:bodyPr>
          <a:lstStyle/>
          <a:p>
            <a:r>
              <a:rPr lang="zh-CN" altLang="en-US" dirty="0"/>
              <a:t>传统勾兑师</a:t>
            </a:r>
          </a:p>
        </p:txBody>
      </p:sp>
      <p:sp>
        <p:nvSpPr>
          <p:cNvPr id="9" name="箭头: 右 8">
            <a:extLst>
              <a:ext uri="{FF2B5EF4-FFF2-40B4-BE49-F238E27FC236}">
                <a16:creationId xmlns:a16="http://schemas.microsoft.com/office/drawing/2014/main" id="{6164F74E-FDF4-81D9-DFAA-5BAC554774C8}"/>
              </a:ext>
            </a:extLst>
          </p:cNvPr>
          <p:cNvSpPr/>
          <p:nvPr/>
        </p:nvSpPr>
        <p:spPr>
          <a:xfrm>
            <a:off x="9908760" y="2718507"/>
            <a:ext cx="381644" cy="206744"/>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0" name="文本框 9">
            <a:extLst>
              <a:ext uri="{FF2B5EF4-FFF2-40B4-BE49-F238E27FC236}">
                <a16:creationId xmlns:a16="http://schemas.microsoft.com/office/drawing/2014/main" id="{0115B411-4BE2-DA92-5B34-8593E43745A2}"/>
              </a:ext>
            </a:extLst>
          </p:cNvPr>
          <p:cNvSpPr txBox="1"/>
          <p:nvPr/>
        </p:nvSpPr>
        <p:spPr>
          <a:xfrm>
            <a:off x="10513945" y="2474929"/>
            <a:ext cx="1486341" cy="646331"/>
          </a:xfrm>
          <a:prstGeom prst="rect">
            <a:avLst/>
          </a:prstGeom>
          <a:noFill/>
        </p:spPr>
        <p:txBody>
          <a:bodyPr wrap="square" rtlCol="0">
            <a:spAutoFit/>
          </a:bodyPr>
          <a:lstStyle/>
          <a:p>
            <a:r>
              <a:rPr lang="zh-CN" altLang="en-US" dirty="0">
                <a:solidFill>
                  <a:srgbClr val="FF0000"/>
                </a:solidFill>
              </a:rPr>
              <a:t>品质风味统一的品牌酒</a:t>
            </a:r>
          </a:p>
        </p:txBody>
      </p:sp>
      <p:sp>
        <p:nvSpPr>
          <p:cNvPr id="11" name="文本框 10">
            <a:extLst>
              <a:ext uri="{FF2B5EF4-FFF2-40B4-BE49-F238E27FC236}">
                <a16:creationId xmlns:a16="http://schemas.microsoft.com/office/drawing/2014/main" id="{2F89662E-5D5A-6B40-3D20-4072F2B18909}"/>
              </a:ext>
            </a:extLst>
          </p:cNvPr>
          <p:cNvSpPr txBox="1"/>
          <p:nvPr/>
        </p:nvSpPr>
        <p:spPr>
          <a:xfrm>
            <a:off x="2383271" y="4332176"/>
            <a:ext cx="2776047" cy="1712135"/>
          </a:xfrm>
          <a:prstGeom prst="rect">
            <a:avLst/>
          </a:prstGeom>
          <a:noFill/>
        </p:spPr>
        <p:txBody>
          <a:bodyPr wrap="square" rtlCol="0">
            <a:spAutoFit/>
          </a:bodyPr>
          <a:lstStyle/>
          <a:p>
            <a:pPr>
              <a:lnSpc>
                <a:spcPct val="150000"/>
              </a:lnSpc>
            </a:pPr>
            <a:r>
              <a:rPr lang="zh-CN" altLang="en-US" dirty="0"/>
              <a:t>需要长期统一的训练</a:t>
            </a:r>
            <a:endParaRPr lang="en-US" altLang="zh-CN" dirty="0"/>
          </a:p>
          <a:p>
            <a:pPr>
              <a:lnSpc>
                <a:spcPct val="150000"/>
              </a:lnSpc>
            </a:pPr>
            <a:r>
              <a:rPr lang="zh-CN" altLang="en-US" dirty="0"/>
              <a:t>勾兑师味觉嗅觉的灵敏度</a:t>
            </a:r>
            <a:endParaRPr lang="en-US" altLang="zh-CN" dirty="0"/>
          </a:p>
          <a:p>
            <a:pPr>
              <a:lnSpc>
                <a:spcPct val="150000"/>
              </a:lnSpc>
            </a:pPr>
            <a:r>
              <a:rPr lang="zh-CN" altLang="en-US" dirty="0"/>
              <a:t>学习教导的师承</a:t>
            </a:r>
            <a:endParaRPr lang="en-US" altLang="zh-CN" dirty="0"/>
          </a:p>
          <a:p>
            <a:pPr>
              <a:lnSpc>
                <a:spcPct val="150000"/>
              </a:lnSpc>
            </a:pPr>
            <a:r>
              <a:rPr lang="zh-CN" altLang="en-US" dirty="0"/>
              <a:t>最终风味统一程度</a:t>
            </a:r>
          </a:p>
        </p:txBody>
      </p:sp>
      <p:sp>
        <p:nvSpPr>
          <p:cNvPr id="12" name="箭头: 右 11">
            <a:extLst>
              <a:ext uri="{FF2B5EF4-FFF2-40B4-BE49-F238E27FC236}">
                <a16:creationId xmlns:a16="http://schemas.microsoft.com/office/drawing/2014/main" id="{D4311CC1-0177-FE03-5E35-1B43B07554DB}"/>
              </a:ext>
            </a:extLst>
          </p:cNvPr>
          <p:cNvSpPr/>
          <p:nvPr/>
        </p:nvSpPr>
        <p:spPr>
          <a:xfrm>
            <a:off x="4964259" y="5044226"/>
            <a:ext cx="2098607" cy="328687"/>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3" name="文本框 12">
            <a:extLst>
              <a:ext uri="{FF2B5EF4-FFF2-40B4-BE49-F238E27FC236}">
                <a16:creationId xmlns:a16="http://schemas.microsoft.com/office/drawing/2014/main" id="{A77EF31A-7218-40BE-DF90-4B6D23605DC7}"/>
              </a:ext>
            </a:extLst>
          </p:cNvPr>
          <p:cNvSpPr txBox="1"/>
          <p:nvPr/>
        </p:nvSpPr>
        <p:spPr>
          <a:xfrm>
            <a:off x="5416712" y="4674292"/>
            <a:ext cx="1400623" cy="369332"/>
          </a:xfrm>
          <a:prstGeom prst="rect">
            <a:avLst/>
          </a:prstGeom>
          <a:noFill/>
        </p:spPr>
        <p:txBody>
          <a:bodyPr wrap="square" rtlCol="0">
            <a:spAutoFit/>
          </a:bodyPr>
          <a:lstStyle/>
          <a:p>
            <a:r>
              <a:rPr lang="en-US" altLang="zh-CN" dirty="0"/>
              <a:t> </a:t>
            </a:r>
            <a:r>
              <a:rPr lang="zh-CN" altLang="en-US" dirty="0"/>
              <a:t>培养成本高</a:t>
            </a:r>
          </a:p>
        </p:txBody>
      </p:sp>
      <p:sp>
        <p:nvSpPr>
          <p:cNvPr id="14" name="文本框 13">
            <a:extLst>
              <a:ext uri="{FF2B5EF4-FFF2-40B4-BE49-F238E27FC236}">
                <a16:creationId xmlns:a16="http://schemas.microsoft.com/office/drawing/2014/main" id="{48973186-C070-3EE6-0B83-2FA5776E3B13}"/>
              </a:ext>
            </a:extLst>
          </p:cNvPr>
          <p:cNvSpPr txBox="1"/>
          <p:nvPr/>
        </p:nvSpPr>
        <p:spPr>
          <a:xfrm>
            <a:off x="5416712" y="5379285"/>
            <a:ext cx="1400623" cy="369332"/>
          </a:xfrm>
          <a:prstGeom prst="rect">
            <a:avLst/>
          </a:prstGeom>
          <a:noFill/>
        </p:spPr>
        <p:txBody>
          <a:bodyPr wrap="square" rtlCol="0">
            <a:spAutoFit/>
          </a:bodyPr>
          <a:lstStyle/>
          <a:p>
            <a:r>
              <a:rPr lang="en-US" altLang="zh-CN" dirty="0"/>
              <a:t> </a:t>
            </a:r>
            <a:r>
              <a:rPr lang="zh-CN" altLang="en-US" dirty="0"/>
              <a:t>时间耗费长</a:t>
            </a:r>
          </a:p>
        </p:txBody>
      </p:sp>
      <p:sp>
        <p:nvSpPr>
          <p:cNvPr id="16" name="文本框 15">
            <a:extLst>
              <a:ext uri="{FF2B5EF4-FFF2-40B4-BE49-F238E27FC236}">
                <a16:creationId xmlns:a16="http://schemas.microsoft.com/office/drawing/2014/main" id="{872614BE-1CE4-FA2F-F59D-03CA8799E5CD}"/>
              </a:ext>
            </a:extLst>
          </p:cNvPr>
          <p:cNvSpPr txBox="1"/>
          <p:nvPr/>
        </p:nvSpPr>
        <p:spPr>
          <a:xfrm>
            <a:off x="7146516" y="5003578"/>
            <a:ext cx="1400623" cy="369332"/>
          </a:xfrm>
          <a:prstGeom prst="rect">
            <a:avLst/>
          </a:prstGeom>
          <a:noFill/>
        </p:spPr>
        <p:txBody>
          <a:bodyPr wrap="square" rtlCol="0">
            <a:spAutoFit/>
          </a:bodyPr>
          <a:lstStyle/>
          <a:p>
            <a:r>
              <a:rPr lang="zh-CN" altLang="en-US" dirty="0"/>
              <a:t>尝试</a:t>
            </a:r>
            <a:r>
              <a:rPr lang="en-US" altLang="zh-CN" dirty="0"/>
              <a:t>AI</a:t>
            </a:r>
            <a:r>
              <a:rPr lang="zh-CN" altLang="en-US" dirty="0"/>
              <a:t>勾兑</a:t>
            </a:r>
          </a:p>
        </p:txBody>
      </p:sp>
      <p:sp>
        <p:nvSpPr>
          <p:cNvPr id="18" name="左大括号 17">
            <a:extLst>
              <a:ext uri="{FF2B5EF4-FFF2-40B4-BE49-F238E27FC236}">
                <a16:creationId xmlns:a16="http://schemas.microsoft.com/office/drawing/2014/main" id="{7458B274-22CB-D7B9-DBE3-CFFBFE0FC309}"/>
              </a:ext>
            </a:extLst>
          </p:cNvPr>
          <p:cNvSpPr/>
          <p:nvPr/>
        </p:nvSpPr>
        <p:spPr>
          <a:xfrm>
            <a:off x="8458186" y="4148686"/>
            <a:ext cx="692694" cy="2029713"/>
          </a:xfrm>
          <a:prstGeom prst="leftBrace">
            <a:avLst/>
          </a:prstGeom>
          <a:noFill/>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CC28CCF-AC7C-962C-FC5A-FC37B3577808}"/>
              </a:ext>
            </a:extLst>
          </p:cNvPr>
          <p:cNvSpPr txBox="1"/>
          <p:nvPr/>
        </p:nvSpPr>
        <p:spPr>
          <a:xfrm>
            <a:off x="9126183" y="4285239"/>
            <a:ext cx="2775523" cy="1712135"/>
          </a:xfrm>
          <a:prstGeom prst="rect">
            <a:avLst/>
          </a:prstGeom>
          <a:noFill/>
        </p:spPr>
        <p:txBody>
          <a:bodyPr wrap="square" rtlCol="0">
            <a:spAutoFit/>
          </a:bodyPr>
          <a:lstStyle/>
          <a:p>
            <a:pPr>
              <a:lnSpc>
                <a:spcPct val="150000"/>
              </a:lnSpc>
            </a:pPr>
            <a:r>
              <a:rPr lang="zh-CN" altLang="en-US" dirty="0"/>
              <a:t>降低人工品控成本</a:t>
            </a:r>
            <a:endParaRPr lang="en-US" altLang="zh-CN" dirty="0"/>
          </a:p>
          <a:p>
            <a:pPr>
              <a:lnSpc>
                <a:spcPct val="150000"/>
              </a:lnSpc>
            </a:pPr>
            <a:r>
              <a:rPr lang="zh-CN" altLang="en-US" dirty="0"/>
              <a:t>提供可能存在的新配方</a:t>
            </a:r>
            <a:endParaRPr lang="en-US" altLang="zh-CN" dirty="0"/>
          </a:p>
          <a:p>
            <a:pPr>
              <a:lnSpc>
                <a:spcPct val="150000"/>
              </a:lnSpc>
            </a:pPr>
            <a:r>
              <a:rPr lang="zh-CN" altLang="en-US" dirty="0"/>
              <a:t>减少智能化生产人工干预</a:t>
            </a:r>
            <a:endParaRPr lang="en-US" altLang="zh-CN" dirty="0"/>
          </a:p>
          <a:p>
            <a:pPr>
              <a:lnSpc>
                <a:spcPct val="150000"/>
              </a:lnSpc>
            </a:pPr>
            <a:r>
              <a:rPr lang="zh-CN" altLang="en-US" dirty="0"/>
              <a:t>减少最终品质波动误差</a:t>
            </a:r>
          </a:p>
        </p:txBody>
      </p:sp>
    </p:spTree>
    <p:extLst>
      <p:ext uri="{BB962C8B-B14F-4D97-AF65-F5344CB8AC3E}">
        <p14:creationId xmlns:p14="http://schemas.microsoft.com/office/powerpoint/2010/main" val="507140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EB9E7-30BD-A0CD-FDAA-3E8BE4572AC2}"/>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F7AAEB50-3DB8-4D46-D774-34BB54C0399A}"/>
              </a:ext>
            </a:extLst>
          </p:cNvPr>
          <p:cNvSpPr txBox="1"/>
          <p:nvPr/>
        </p:nvSpPr>
        <p:spPr>
          <a:xfrm>
            <a:off x="26391" y="2771"/>
            <a:ext cx="9968402" cy="584775"/>
          </a:xfrm>
          <a:prstGeom prst="rect">
            <a:avLst/>
          </a:prstGeom>
          <a:noFill/>
        </p:spPr>
        <p:txBody>
          <a:bodyPr wrap="square">
            <a:spAutoFit/>
          </a:bodyPr>
          <a:lstStyle/>
          <a:p>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研究背景</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pic>
        <p:nvPicPr>
          <p:cNvPr id="17" name="图片 16">
            <a:extLst>
              <a:ext uri="{FF2B5EF4-FFF2-40B4-BE49-F238E27FC236}">
                <a16:creationId xmlns:a16="http://schemas.microsoft.com/office/drawing/2014/main" id="{2D9A3FA8-6FED-A84D-3EBD-E6B7063F93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714" y="64216"/>
            <a:ext cx="646689" cy="643954"/>
          </a:xfrm>
          <a:prstGeom prst="rect">
            <a:avLst/>
          </a:prstGeom>
        </p:spPr>
      </p:pic>
      <p:cxnSp>
        <p:nvCxnSpPr>
          <p:cNvPr id="19" name="直接连接符 18">
            <a:extLst>
              <a:ext uri="{FF2B5EF4-FFF2-40B4-BE49-F238E27FC236}">
                <a16:creationId xmlns:a16="http://schemas.microsoft.com/office/drawing/2014/main" id="{5210ED98-C0A3-C73F-B18F-B2F3C70E826E}"/>
              </a:ext>
            </a:extLst>
          </p:cNvPr>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sp>
        <p:nvSpPr>
          <p:cNvPr id="154" name="文本框 153">
            <a:extLst>
              <a:ext uri="{FF2B5EF4-FFF2-40B4-BE49-F238E27FC236}">
                <a16:creationId xmlns:a16="http://schemas.microsoft.com/office/drawing/2014/main" id="{AE4E7AA7-8575-9EEF-0D07-5A32EF588E56}"/>
              </a:ext>
            </a:extLst>
          </p:cNvPr>
          <p:cNvSpPr txBox="1"/>
          <p:nvPr/>
        </p:nvSpPr>
        <p:spPr>
          <a:xfrm>
            <a:off x="6868886" y="3328415"/>
            <a:ext cx="1147905" cy="409565"/>
          </a:xfrm>
          <a:prstGeom prst="rect">
            <a:avLst/>
          </a:prstGeom>
          <a:noFill/>
          <a:ln w="25400">
            <a:solidFill>
              <a:srgbClr val="FF0000"/>
            </a:solidFill>
          </a:ln>
        </p:spPr>
        <p:txBody>
          <a:bodyPr wrap="square" rtlCol="0">
            <a:noAutofit/>
          </a:bodyPr>
          <a:lstStyle/>
          <a:p>
            <a:r>
              <a:rPr lang="zh-CN" altLang="en-US" dirty="0"/>
              <a:t>原料制曲</a:t>
            </a:r>
          </a:p>
        </p:txBody>
      </p:sp>
      <p:sp>
        <p:nvSpPr>
          <p:cNvPr id="6" name="左大括号 5">
            <a:extLst>
              <a:ext uri="{FF2B5EF4-FFF2-40B4-BE49-F238E27FC236}">
                <a16:creationId xmlns:a16="http://schemas.microsoft.com/office/drawing/2014/main" id="{621BE611-A774-0D90-BE24-5FA2C13DCCBB}"/>
              </a:ext>
            </a:extLst>
          </p:cNvPr>
          <p:cNvSpPr/>
          <p:nvPr/>
        </p:nvSpPr>
        <p:spPr>
          <a:xfrm>
            <a:off x="1651487" y="2850307"/>
            <a:ext cx="692694" cy="2029713"/>
          </a:xfrm>
          <a:prstGeom prst="leftBrace">
            <a:avLst/>
          </a:prstGeom>
          <a:noFill/>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7B9E1AC-67D5-CBD1-A262-64ABF2C1F438}"/>
              </a:ext>
            </a:extLst>
          </p:cNvPr>
          <p:cNvSpPr txBox="1"/>
          <p:nvPr/>
        </p:nvSpPr>
        <p:spPr>
          <a:xfrm>
            <a:off x="145090" y="3680497"/>
            <a:ext cx="1605748" cy="369332"/>
          </a:xfrm>
          <a:prstGeom prst="rect">
            <a:avLst/>
          </a:prstGeom>
          <a:noFill/>
        </p:spPr>
        <p:txBody>
          <a:bodyPr wrap="square" rtlCol="0">
            <a:spAutoFit/>
          </a:bodyPr>
          <a:lstStyle/>
          <a:p>
            <a:r>
              <a:rPr lang="zh-CN" altLang="en-US" dirty="0"/>
              <a:t>当前结合方向</a:t>
            </a:r>
          </a:p>
        </p:txBody>
      </p:sp>
      <p:sp>
        <p:nvSpPr>
          <p:cNvPr id="11" name="文本框 10">
            <a:extLst>
              <a:ext uri="{FF2B5EF4-FFF2-40B4-BE49-F238E27FC236}">
                <a16:creationId xmlns:a16="http://schemas.microsoft.com/office/drawing/2014/main" id="{DAE1A1C9-224F-00D1-3172-DB322EAC07BA}"/>
              </a:ext>
            </a:extLst>
          </p:cNvPr>
          <p:cNvSpPr txBox="1"/>
          <p:nvPr/>
        </p:nvSpPr>
        <p:spPr>
          <a:xfrm>
            <a:off x="2430927" y="2962157"/>
            <a:ext cx="2098606" cy="1712135"/>
          </a:xfrm>
          <a:prstGeom prst="rect">
            <a:avLst/>
          </a:prstGeom>
          <a:noFill/>
        </p:spPr>
        <p:txBody>
          <a:bodyPr wrap="square" rtlCol="0">
            <a:spAutoFit/>
          </a:bodyPr>
          <a:lstStyle/>
          <a:p>
            <a:pPr>
              <a:lnSpc>
                <a:spcPct val="150000"/>
              </a:lnSpc>
            </a:pPr>
            <a:r>
              <a:rPr lang="zh-CN" altLang="en-US" dirty="0"/>
              <a:t>原料制曲</a:t>
            </a:r>
            <a:endParaRPr lang="en-US" altLang="zh-CN" dirty="0"/>
          </a:p>
          <a:p>
            <a:pPr>
              <a:lnSpc>
                <a:spcPct val="150000"/>
              </a:lnSpc>
            </a:pPr>
            <a:r>
              <a:rPr lang="zh-CN" altLang="en-US" dirty="0"/>
              <a:t>酿造发酵</a:t>
            </a:r>
            <a:endParaRPr lang="en-US" altLang="zh-CN" dirty="0"/>
          </a:p>
          <a:p>
            <a:pPr>
              <a:lnSpc>
                <a:spcPct val="150000"/>
              </a:lnSpc>
            </a:pPr>
            <a:r>
              <a:rPr lang="zh-CN" altLang="en-US" dirty="0"/>
              <a:t>成品分析</a:t>
            </a:r>
            <a:endParaRPr lang="en-US" altLang="zh-CN" dirty="0"/>
          </a:p>
          <a:p>
            <a:pPr>
              <a:lnSpc>
                <a:spcPct val="150000"/>
              </a:lnSpc>
            </a:pPr>
            <a:r>
              <a:rPr lang="zh-CN" altLang="en-US" dirty="0"/>
              <a:t>数据处理技术</a:t>
            </a:r>
          </a:p>
        </p:txBody>
      </p:sp>
      <p:sp>
        <p:nvSpPr>
          <p:cNvPr id="3" name="文本框 2">
            <a:extLst>
              <a:ext uri="{FF2B5EF4-FFF2-40B4-BE49-F238E27FC236}">
                <a16:creationId xmlns:a16="http://schemas.microsoft.com/office/drawing/2014/main" id="{7B06F749-932A-6BB6-ED7A-DE8329F56E31}"/>
              </a:ext>
            </a:extLst>
          </p:cNvPr>
          <p:cNvSpPr txBox="1"/>
          <p:nvPr/>
        </p:nvSpPr>
        <p:spPr>
          <a:xfrm>
            <a:off x="127220" y="759207"/>
            <a:ext cx="3219484" cy="369332"/>
          </a:xfrm>
          <a:prstGeom prst="rect">
            <a:avLst/>
          </a:prstGeom>
          <a:noFill/>
        </p:spPr>
        <p:txBody>
          <a:bodyPr wrap="square" rtlCol="0">
            <a:spAutoFit/>
          </a:bodyPr>
          <a:lstStyle/>
          <a:p>
            <a:r>
              <a:rPr lang="zh-CN" altLang="en-US" b="1" dirty="0">
                <a:solidFill>
                  <a:srgbClr val="FF0000"/>
                </a:solidFill>
              </a:rPr>
              <a:t>机器学习当前与白酒结合方向</a:t>
            </a:r>
          </a:p>
        </p:txBody>
      </p:sp>
      <p:cxnSp>
        <p:nvCxnSpPr>
          <p:cNvPr id="22" name="直接连接符 21">
            <a:extLst>
              <a:ext uri="{FF2B5EF4-FFF2-40B4-BE49-F238E27FC236}">
                <a16:creationId xmlns:a16="http://schemas.microsoft.com/office/drawing/2014/main" id="{83483D43-FC6E-DB37-A7B7-33F7378A14B4}"/>
              </a:ext>
            </a:extLst>
          </p:cNvPr>
          <p:cNvCxnSpPr/>
          <p:nvPr/>
        </p:nvCxnSpPr>
        <p:spPr>
          <a:xfrm>
            <a:off x="8199550" y="1128539"/>
            <a:ext cx="0" cy="5461665"/>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5B5B1A3B-3A68-A077-3C9D-3AF60B598720}"/>
              </a:ext>
            </a:extLst>
          </p:cNvPr>
          <p:cNvCxnSpPr>
            <a:cxnSpLocks/>
          </p:cNvCxnSpPr>
          <p:nvPr/>
        </p:nvCxnSpPr>
        <p:spPr>
          <a:xfrm flipH="1">
            <a:off x="4261104" y="3938315"/>
            <a:ext cx="7665299"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5871CE81-49A3-5056-D7C6-47C1943EFF5A}"/>
              </a:ext>
            </a:extLst>
          </p:cNvPr>
          <p:cNvSpPr txBox="1"/>
          <p:nvPr/>
        </p:nvSpPr>
        <p:spPr>
          <a:xfrm>
            <a:off x="8382310" y="3328415"/>
            <a:ext cx="1147905" cy="409565"/>
          </a:xfrm>
          <a:prstGeom prst="rect">
            <a:avLst/>
          </a:prstGeom>
          <a:noFill/>
          <a:ln w="25400">
            <a:solidFill>
              <a:srgbClr val="FF0000"/>
            </a:solidFill>
          </a:ln>
        </p:spPr>
        <p:txBody>
          <a:bodyPr wrap="square" rtlCol="0">
            <a:noAutofit/>
          </a:bodyPr>
          <a:lstStyle/>
          <a:p>
            <a:r>
              <a:rPr lang="zh-CN" altLang="en-US" dirty="0"/>
              <a:t>酿造发酵</a:t>
            </a:r>
          </a:p>
        </p:txBody>
      </p:sp>
      <p:sp>
        <p:nvSpPr>
          <p:cNvPr id="32" name="文本框 31">
            <a:extLst>
              <a:ext uri="{FF2B5EF4-FFF2-40B4-BE49-F238E27FC236}">
                <a16:creationId xmlns:a16="http://schemas.microsoft.com/office/drawing/2014/main" id="{E34762AB-15F6-E8D1-A56D-B30FE3B6495A}"/>
              </a:ext>
            </a:extLst>
          </p:cNvPr>
          <p:cNvSpPr txBox="1"/>
          <p:nvPr/>
        </p:nvSpPr>
        <p:spPr>
          <a:xfrm>
            <a:off x="6868886" y="4138651"/>
            <a:ext cx="1147905" cy="409565"/>
          </a:xfrm>
          <a:prstGeom prst="rect">
            <a:avLst/>
          </a:prstGeom>
          <a:noFill/>
          <a:ln w="25400">
            <a:solidFill>
              <a:srgbClr val="FF0000"/>
            </a:solidFill>
          </a:ln>
        </p:spPr>
        <p:txBody>
          <a:bodyPr wrap="square" rtlCol="0">
            <a:noAutofit/>
          </a:bodyPr>
          <a:lstStyle/>
          <a:p>
            <a:r>
              <a:rPr lang="zh-CN" altLang="en-US" dirty="0"/>
              <a:t>成品分析</a:t>
            </a:r>
          </a:p>
        </p:txBody>
      </p:sp>
      <p:sp>
        <p:nvSpPr>
          <p:cNvPr id="33" name="文本框 32">
            <a:extLst>
              <a:ext uri="{FF2B5EF4-FFF2-40B4-BE49-F238E27FC236}">
                <a16:creationId xmlns:a16="http://schemas.microsoft.com/office/drawing/2014/main" id="{01ED0A82-A2FB-F435-018E-CFB217E979F8}"/>
              </a:ext>
            </a:extLst>
          </p:cNvPr>
          <p:cNvSpPr txBox="1"/>
          <p:nvPr/>
        </p:nvSpPr>
        <p:spPr>
          <a:xfrm>
            <a:off x="8382310" y="4138651"/>
            <a:ext cx="1612482" cy="409565"/>
          </a:xfrm>
          <a:prstGeom prst="rect">
            <a:avLst/>
          </a:prstGeom>
          <a:noFill/>
          <a:ln w="25400">
            <a:solidFill>
              <a:srgbClr val="FF0000"/>
            </a:solidFill>
          </a:ln>
        </p:spPr>
        <p:txBody>
          <a:bodyPr wrap="square" rtlCol="0">
            <a:noAutofit/>
          </a:bodyPr>
          <a:lstStyle/>
          <a:p>
            <a:r>
              <a:rPr lang="zh-CN" altLang="en-US" dirty="0"/>
              <a:t>数据处理技术</a:t>
            </a:r>
          </a:p>
        </p:txBody>
      </p:sp>
      <p:sp>
        <p:nvSpPr>
          <p:cNvPr id="35" name="椭圆 34">
            <a:extLst>
              <a:ext uri="{FF2B5EF4-FFF2-40B4-BE49-F238E27FC236}">
                <a16:creationId xmlns:a16="http://schemas.microsoft.com/office/drawing/2014/main" id="{62F10963-4F4B-F8E7-1AB5-906CBF22C63A}"/>
              </a:ext>
            </a:extLst>
          </p:cNvPr>
          <p:cNvSpPr/>
          <p:nvPr/>
        </p:nvSpPr>
        <p:spPr>
          <a:xfrm>
            <a:off x="4367677" y="2432366"/>
            <a:ext cx="1982812" cy="1279437"/>
          </a:xfrm>
          <a:prstGeom prst="ellipse">
            <a:avLst/>
          </a:prstGeom>
          <a:no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高粱、小麦等原料品质分级（决策融合算法）</a:t>
            </a:r>
          </a:p>
        </p:txBody>
      </p:sp>
      <p:sp>
        <p:nvSpPr>
          <p:cNvPr id="37" name="椭圆 36">
            <a:extLst>
              <a:ext uri="{FF2B5EF4-FFF2-40B4-BE49-F238E27FC236}">
                <a16:creationId xmlns:a16="http://schemas.microsoft.com/office/drawing/2014/main" id="{082CAA06-CFA2-D304-5895-A4E269A023C1}"/>
              </a:ext>
            </a:extLst>
          </p:cNvPr>
          <p:cNvSpPr/>
          <p:nvPr/>
        </p:nvSpPr>
        <p:spPr>
          <a:xfrm>
            <a:off x="5922151" y="1286427"/>
            <a:ext cx="1896862" cy="1185611"/>
          </a:xfrm>
          <a:prstGeom prst="ellipse">
            <a:avLst/>
          </a:prstGeom>
          <a:no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大曲制曲分级（深度学习、卷积神经网络）</a:t>
            </a:r>
          </a:p>
        </p:txBody>
      </p:sp>
      <p:sp>
        <p:nvSpPr>
          <p:cNvPr id="38" name="椭圆 37">
            <a:extLst>
              <a:ext uri="{FF2B5EF4-FFF2-40B4-BE49-F238E27FC236}">
                <a16:creationId xmlns:a16="http://schemas.microsoft.com/office/drawing/2014/main" id="{FE90A5AC-7CC1-70F6-97D2-FB88464F31BC}"/>
              </a:ext>
            </a:extLst>
          </p:cNvPr>
          <p:cNvSpPr/>
          <p:nvPr/>
        </p:nvSpPr>
        <p:spPr>
          <a:xfrm>
            <a:off x="8493985" y="1319694"/>
            <a:ext cx="1946069" cy="1292673"/>
          </a:xfrm>
          <a:prstGeom prst="ellipse">
            <a:avLst/>
          </a:prstGeom>
          <a:no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发酵过程数据监测（传感器检测</a:t>
            </a:r>
            <a:r>
              <a:rPr lang="en-US" altLang="zh-CN" dirty="0">
                <a:solidFill>
                  <a:schemeClr val="tx1"/>
                </a:solidFill>
              </a:rPr>
              <a:t>+</a:t>
            </a:r>
            <a:r>
              <a:rPr lang="zh-CN" altLang="en-US" dirty="0">
                <a:solidFill>
                  <a:schemeClr val="tx1"/>
                </a:solidFill>
              </a:rPr>
              <a:t>模型产出）</a:t>
            </a:r>
          </a:p>
        </p:txBody>
      </p:sp>
      <p:sp>
        <p:nvSpPr>
          <p:cNvPr id="39" name="椭圆 38">
            <a:extLst>
              <a:ext uri="{FF2B5EF4-FFF2-40B4-BE49-F238E27FC236}">
                <a16:creationId xmlns:a16="http://schemas.microsoft.com/office/drawing/2014/main" id="{5FEF2431-7B16-310C-C104-ED177C04629A}"/>
              </a:ext>
            </a:extLst>
          </p:cNvPr>
          <p:cNvSpPr/>
          <p:nvPr/>
        </p:nvSpPr>
        <p:spPr>
          <a:xfrm>
            <a:off x="9761453" y="2387824"/>
            <a:ext cx="1946069" cy="1292673"/>
          </a:xfrm>
          <a:prstGeom prst="ellipse">
            <a:avLst/>
          </a:prstGeom>
          <a:no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风味物质监测（总酸、脂快速检出分析）</a:t>
            </a:r>
          </a:p>
        </p:txBody>
      </p:sp>
      <p:sp>
        <p:nvSpPr>
          <p:cNvPr id="40" name="椭圆 39">
            <a:extLst>
              <a:ext uri="{FF2B5EF4-FFF2-40B4-BE49-F238E27FC236}">
                <a16:creationId xmlns:a16="http://schemas.microsoft.com/office/drawing/2014/main" id="{E3063D44-E43D-FA05-D273-33882C46A091}"/>
              </a:ext>
            </a:extLst>
          </p:cNvPr>
          <p:cNvSpPr/>
          <p:nvPr/>
        </p:nvSpPr>
        <p:spPr>
          <a:xfrm>
            <a:off x="4494066" y="4199565"/>
            <a:ext cx="1800053" cy="1279437"/>
          </a:xfrm>
          <a:prstGeom prst="ellipse">
            <a:avLst/>
          </a:prstGeom>
          <a:no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基酒等级判别（</a:t>
            </a:r>
            <a:r>
              <a:rPr lang="en-US" altLang="zh-CN" dirty="0" err="1">
                <a:solidFill>
                  <a:schemeClr val="tx1"/>
                </a:solidFill>
              </a:rPr>
              <a:t>XGBoost</a:t>
            </a:r>
            <a:r>
              <a:rPr lang="zh-CN" altLang="en-US" dirty="0">
                <a:solidFill>
                  <a:schemeClr val="tx1"/>
                </a:solidFill>
              </a:rPr>
              <a:t>、</a:t>
            </a:r>
            <a:r>
              <a:rPr lang="en-US" altLang="zh-CN" dirty="0">
                <a:solidFill>
                  <a:schemeClr val="tx1"/>
                </a:solidFill>
              </a:rPr>
              <a:t>RFECA</a:t>
            </a:r>
            <a:r>
              <a:rPr lang="zh-CN" altLang="en-US" dirty="0">
                <a:solidFill>
                  <a:schemeClr val="tx1"/>
                </a:solidFill>
              </a:rPr>
              <a:t>）</a:t>
            </a:r>
          </a:p>
        </p:txBody>
      </p:sp>
      <p:sp>
        <p:nvSpPr>
          <p:cNvPr id="41" name="椭圆 40">
            <a:extLst>
              <a:ext uri="{FF2B5EF4-FFF2-40B4-BE49-F238E27FC236}">
                <a16:creationId xmlns:a16="http://schemas.microsoft.com/office/drawing/2014/main" id="{E3A0BC21-7DC7-C79B-1990-1AE36B4396AF}"/>
              </a:ext>
            </a:extLst>
          </p:cNvPr>
          <p:cNvSpPr/>
          <p:nvPr/>
        </p:nvSpPr>
        <p:spPr>
          <a:xfrm>
            <a:off x="6117771" y="5035978"/>
            <a:ext cx="1800053" cy="1279437"/>
          </a:xfrm>
          <a:prstGeom prst="ellipse">
            <a:avLst/>
          </a:prstGeom>
          <a:no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真假酒辨别（分类算法）</a:t>
            </a:r>
          </a:p>
        </p:txBody>
      </p:sp>
      <p:sp>
        <p:nvSpPr>
          <p:cNvPr id="42" name="椭圆 41">
            <a:extLst>
              <a:ext uri="{FF2B5EF4-FFF2-40B4-BE49-F238E27FC236}">
                <a16:creationId xmlns:a16="http://schemas.microsoft.com/office/drawing/2014/main" id="{1620A69D-9B76-BBF7-0937-7BC5DE2E6878}"/>
              </a:ext>
            </a:extLst>
          </p:cNvPr>
          <p:cNvSpPr/>
          <p:nvPr/>
        </p:nvSpPr>
        <p:spPr>
          <a:xfrm>
            <a:off x="8434782" y="5006445"/>
            <a:ext cx="1800053" cy="1279437"/>
          </a:xfrm>
          <a:prstGeom prst="ellipse">
            <a:avLst/>
          </a:prstGeom>
          <a:no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红外光谱快速检测（数据优化处理）</a:t>
            </a:r>
          </a:p>
        </p:txBody>
      </p:sp>
      <p:sp>
        <p:nvSpPr>
          <p:cNvPr id="43" name="椭圆 42">
            <a:extLst>
              <a:ext uri="{FF2B5EF4-FFF2-40B4-BE49-F238E27FC236}">
                <a16:creationId xmlns:a16="http://schemas.microsoft.com/office/drawing/2014/main" id="{DFBC55D7-98D8-D528-C39F-C1DFD514A1B7}"/>
              </a:ext>
            </a:extLst>
          </p:cNvPr>
          <p:cNvSpPr/>
          <p:nvPr/>
        </p:nvSpPr>
        <p:spPr>
          <a:xfrm>
            <a:off x="10177551" y="4267343"/>
            <a:ext cx="1934823" cy="1177552"/>
          </a:xfrm>
          <a:prstGeom prst="ellipse">
            <a:avLst/>
          </a:prstGeom>
          <a:no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PCA</a:t>
            </a:r>
            <a:r>
              <a:rPr lang="zh-CN" altLang="en-US" dirty="0">
                <a:solidFill>
                  <a:schemeClr val="tx1"/>
                </a:solidFill>
              </a:rPr>
              <a:t>、</a:t>
            </a:r>
            <a:r>
              <a:rPr lang="en-US" altLang="zh-CN" dirty="0">
                <a:solidFill>
                  <a:schemeClr val="tx1"/>
                </a:solidFill>
              </a:rPr>
              <a:t>PLS</a:t>
            </a:r>
            <a:r>
              <a:rPr lang="zh-CN" altLang="en-US" dirty="0">
                <a:solidFill>
                  <a:schemeClr val="tx1"/>
                </a:solidFill>
              </a:rPr>
              <a:t>等其他数据处理方法</a:t>
            </a:r>
          </a:p>
        </p:txBody>
      </p:sp>
    </p:spTree>
    <p:extLst>
      <p:ext uri="{BB962C8B-B14F-4D97-AF65-F5344CB8AC3E}">
        <p14:creationId xmlns:p14="http://schemas.microsoft.com/office/powerpoint/2010/main" val="1926308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D6527-0EC7-BCB4-06DA-68E2E3CB7285}"/>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641D4817-41E4-F175-9547-6DFC198BC339}"/>
              </a:ext>
            </a:extLst>
          </p:cNvPr>
          <p:cNvSpPr txBox="1"/>
          <p:nvPr/>
        </p:nvSpPr>
        <p:spPr>
          <a:xfrm>
            <a:off x="26391" y="2771"/>
            <a:ext cx="9968402" cy="584775"/>
          </a:xfrm>
          <a:prstGeom prst="rect">
            <a:avLst/>
          </a:prstGeom>
          <a:noFill/>
        </p:spPr>
        <p:txBody>
          <a:bodyPr wrap="square">
            <a:spAutoFit/>
          </a:bodyPr>
          <a:lstStyle/>
          <a:p>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课题内容及目标</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pic>
        <p:nvPicPr>
          <p:cNvPr id="17" name="图片 16">
            <a:extLst>
              <a:ext uri="{FF2B5EF4-FFF2-40B4-BE49-F238E27FC236}">
                <a16:creationId xmlns:a16="http://schemas.microsoft.com/office/drawing/2014/main" id="{05B779CE-92B0-1A45-C43C-40434BA9F3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714" y="64216"/>
            <a:ext cx="646689" cy="643954"/>
          </a:xfrm>
          <a:prstGeom prst="rect">
            <a:avLst/>
          </a:prstGeom>
        </p:spPr>
      </p:pic>
      <p:cxnSp>
        <p:nvCxnSpPr>
          <p:cNvPr id="19" name="直接连接符 18">
            <a:extLst>
              <a:ext uri="{FF2B5EF4-FFF2-40B4-BE49-F238E27FC236}">
                <a16:creationId xmlns:a16="http://schemas.microsoft.com/office/drawing/2014/main" id="{5662529A-C1C1-E7CB-2280-0328E5377CB3}"/>
              </a:ext>
            </a:extLst>
          </p:cNvPr>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cxnSp>
        <p:nvCxnSpPr>
          <p:cNvPr id="38" name="直接连接符 37">
            <a:extLst>
              <a:ext uri="{FF2B5EF4-FFF2-40B4-BE49-F238E27FC236}">
                <a16:creationId xmlns:a16="http://schemas.microsoft.com/office/drawing/2014/main" id="{6FE35F9E-B3D0-BE8E-36C7-C3C89509A937}"/>
              </a:ext>
            </a:extLst>
          </p:cNvPr>
          <p:cNvCxnSpPr/>
          <p:nvPr/>
        </p:nvCxnSpPr>
        <p:spPr>
          <a:xfrm>
            <a:off x="7879510" y="1276409"/>
            <a:ext cx="0" cy="5461665"/>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5" name="文本框 154">
            <a:extLst>
              <a:ext uri="{FF2B5EF4-FFF2-40B4-BE49-F238E27FC236}">
                <a16:creationId xmlns:a16="http://schemas.microsoft.com/office/drawing/2014/main" id="{8107C89D-C5BB-853D-146F-7FB32CE8E28C}"/>
              </a:ext>
            </a:extLst>
          </p:cNvPr>
          <p:cNvSpPr txBox="1"/>
          <p:nvPr/>
        </p:nvSpPr>
        <p:spPr>
          <a:xfrm>
            <a:off x="110920" y="751913"/>
            <a:ext cx="5347128" cy="369332"/>
          </a:xfrm>
          <a:prstGeom prst="rect">
            <a:avLst/>
          </a:prstGeom>
          <a:noFill/>
        </p:spPr>
        <p:txBody>
          <a:bodyPr wrap="square" rtlCol="0">
            <a:spAutoFit/>
          </a:bodyPr>
          <a:lstStyle/>
          <a:p>
            <a:r>
              <a:rPr lang="zh-CN" altLang="en-US" b="1" dirty="0">
                <a:solidFill>
                  <a:srgbClr val="FF0000"/>
                </a:solidFill>
              </a:rPr>
              <a:t>本课题目标：构建机器学习模型协助控制勾兑配比</a:t>
            </a:r>
          </a:p>
        </p:txBody>
      </p:sp>
      <p:pic>
        <p:nvPicPr>
          <p:cNvPr id="157" name="图片 156">
            <a:extLst>
              <a:ext uri="{FF2B5EF4-FFF2-40B4-BE49-F238E27FC236}">
                <a16:creationId xmlns:a16="http://schemas.microsoft.com/office/drawing/2014/main" id="{81495381-3918-4CAC-BD9F-115CCE054F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4267" y="3428721"/>
            <a:ext cx="1813691" cy="1221137"/>
          </a:xfrm>
          <a:prstGeom prst="rect">
            <a:avLst/>
          </a:prstGeom>
        </p:spPr>
      </p:pic>
      <p:pic>
        <p:nvPicPr>
          <p:cNvPr id="161" name="图片 160" descr="日历&#10;&#10;AI 生成的内容可能不正确。">
            <a:extLst>
              <a:ext uri="{FF2B5EF4-FFF2-40B4-BE49-F238E27FC236}">
                <a16:creationId xmlns:a16="http://schemas.microsoft.com/office/drawing/2014/main" id="{06FDA8F2-A338-3302-0E5B-DEC233DFD370}"/>
              </a:ext>
            </a:extLst>
          </p:cNvPr>
          <p:cNvPicPr>
            <a:picLocks noChangeAspect="1"/>
          </p:cNvPicPr>
          <p:nvPr/>
        </p:nvPicPr>
        <p:blipFill>
          <a:blip r:embed="rId5"/>
          <a:stretch>
            <a:fillRect/>
          </a:stretch>
        </p:blipFill>
        <p:spPr>
          <a:xfrm>
            <a:off x="205366" y="1473482"/>
            <a:ext cx="2771100" cy="1270727"/>
          </a:xfrm>
          <a:prstGeom prst="rect">
            <a:avLst/>
          </a:prstGeom>
        </p:spPr>
      </p:pic>
      <p:sp>
        <p:nvSpPr>
          <p:cNvPr id="162" name="文本框 161">
            <a:extLst>
              <a:ext uri="{FF2B5EF4-FFF2-40B4-BE49-F238E27FC236}">
                <a16:creationId xmlns:a16="http://schemas.microsoft.com/office/drawing/2014/main" id="{98E63EA9-33CD-BDBA-867E-2FF394FD5C36}"/>
              </a:ext>
            </a:extLst>
          </p:cNvPr>
          <p:cNvSpPr txBox="1"/>
          <p:nvPr/>
        </p:nvSpPr>
        <p:spPr>
          <a:xfrm>
            <a:off x="2976466" y="1728530"/>
            <a:ext cx="1663143" cy="646331"/>
          </a:xfrm>
          <a:prstGeom prst="rect">
            <a:avLst/>
          </a:prstGeom>
          <a:noFill/>
        </p:spPr>
        <p:txBody>
          <a:bodyPr wrap="square" rtlCol="0">
            <a:spAutoFit/>
          </a:bodyPr>
          <a:lstStyle/>
          <a:p>
            <a:r>
              <a:rPr lang="zh-CN" altLang="en-US" dirty="0"/>
              <a:t>收集定性定量数据测试集</a:t>
            </a:r>
          </a:p>
        </p:txBody>
      </p:sp>
      <p:sp>
        <p:nvSpPr>
          <p:cNvPr id="165" name="箭头: 右 164">
            <a:extLst>
              <a:ext uri="{FF2B5EF4-FFF2-40B4-BE49-F238E27FC236}">
                <a16:creationId xmlns:a16="http://schemas.microsoft.com/office/drawing/2014/main" id="{20B37F73-0044-4622-7D9A-CDECB1EF0391}"/>
              </a:ext>
            </a:extLst>
          </p:cNvPr>
          <p:cNvSpPr/>
          <p:nvPr/>
        </p:nvSpPr>
        <p:spPr>
          <a:xfrm rot="5400000">
            <a:off x="1220290" y="3014897"/>
            <a:ext cx="381644" cy="206744"/>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66" name="文本框 165">
            <a:extLst>
              <a:ext uri="{FF2B5EF4-FFF2-40B4-BE49-F238E27FC236}">
                <a16:creationId xmlns:a16="http://schemas.microsoft.com/office/drawing/2014/main" id="{B4261DB7-1A70-6BF6-6181-699BB98C24B1}"/>
              </a:ext>
            </a:extLst>
          </p:cNvPr>
          <p:cNvSpPr txBox="1"/>
          <p:nvPr/>
        </p:nvSpPr>
        <p:spPr>
          <a:xfrm>
            <a:off x="2360515" y="3712974"/>
            <a:ext cx="1675410" cy="646331"/>
          </a:xfrm>
          <a:prstGeom prst="rect">
            <a:avLst/>
          </a:prstGeom>
          <a:noFill/>
        </p:spPr>
        <p:txBody>
          <a:bodyPr wrap="square" rtlCol="0">
            <a:spAutoFit/>
          </a:bodyPr>
          <a:lstStyle/>
          <a:p>
            <a:r>
              <a:rPr lang="zh-CN" altLang="en-US" dirty="0"/>
              <a:t>提取感官描述符作为属性词</a:t>
            </a:r>
          </a:p>
        </p:txBody>
      </p:sp>
      <p:pic>
        <p:nvPicPr>
          <p:cNvPr id="1028" name="Picture 4" descr="风味轮设计图__PSD分层素材_PSD分层素材_设计图库_昵图网">
            <a:extLst>
              <a:ext uri="{FF2B5EF4-FFF2-40B4-BE49-F238E27FC236}">
                <a16:creationId xmlns:a16="http://schemas.microsoft.com/office/drawing/2014/main" id="{43D7CE50-2722-3902-9F78-B66595AAFF64}"/>
              </a:ext>
            </a:extLst>
          </p:cNvPr>
          <p:cNvPicPr>
            <a:picLocks noChangeArrowheads="1"/>
          </p:cNvPicPr>
          <p:nvPr/>
        </p:nvPicPr>
        <p:blipFill rotWithShape="1">
          <a:blip r:embed="rId6">
            <a:extLst>
              <a:ext uri="{28A0092B-C50C-407E-A947-70E740481C1C}">
                <a14:useLocalDpi xmlns:a14="http://schemas.microsoft.com/office/drawing/2010/main" val="0"/>
              </a:ext>
            </a:extLst>
          </a:blip>
          <a:srcRect l="13443" t="1154" r="10787" b="8089"/>
          <a:stretch>
            <a:fillRect/>
          </a:stretch>
        </p:blipFill>
        <p:spPr bwMode="auto">
          <a:xfrm>
            <a:off x="475295" y="5195373"/>
            <a:ext cx="1813688" cy="1654164"/>
          </a:xfrm>
          <a:prstGeom prst="rect">
            <a:avLst/>
          </a:prstGeom>
          <a:noFill/>
          <a:extLst>
            <a:ext uri="{909E8E84-426E-40DD-AFC4-6F175D3DCCD1}">
              <a14:hiddenFill xmlns:a14="http://schemas.microsoft.com/office/drawing/2010/main">
                <a:solidFill>
                  <a:srgbClr val="FFFFFF"/>
                </a:solidFill>
              </a14:hiddenFill>
            </a:ext>
          </a:extLst>
        </p:spPr>
      </p:pic>
      <p:sp>
        <p:nvSpPr>
          <p:cNvPr id="167" name="箭头: 右 166">
            <a:extLst>
              <a:ext uri="{FF2B5EF4-FFF2-40B4-BE49-F238E27FC236}">
                <a16:creationId xmlns:a16="http://schemas.microsoft.com/office/drawing/2014/main" id="{99533251-8221-EB0B-0985-4770A47E40BF}"/>
              </a:ext>
            </a:extLst>
          </p:cNvPr>
          <p:cNvSpPr/>
          <p:nvPr/>
        </p:nvSpPr>
        <p:spPr>
          <a:xfrm rot="5400000">
            <a:off x="1220290" y="4817873"/>
            <a:ext cx="381644" cy="206744"/>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68" name="文本框 167">
            <a:extLst>
              <a:ext uri="{FF2B5EF4-FFF2-40B4-BE49-F238E27FC236}">
                <a16:creationId xmlns:a16="http://schemas.microsoft.com/office/drawing/2014/main" id="{7726379F-AB49-8556-040C-134E5113BF4B}"/>
              </a:ext>
            </a:extLst>
          </p:cNvPr>
          <p:cNvSpPr txBox="1"/>
          <p:nvPr/>
        </p:nvSpPr>
        <p:spPr>
          <a:xfrm>
            <a:off x="2460435" y="5612921"/>
            <a:ext cx="1475569" cy="646331"/>
          </a:xfrm>
          <a:prstGeom prst="rect">
            <a:avLst/>
          </a:prstGeom>
          <a:noFill/>
        </p:spPr>
        <p:txBody>
          <a:bodyPr wrap="square" rtlCol="0">
            <a:spAutoFit/>
          </a:bodyPr>
          <a:lstStyle/>
          <a:p>
            <a:r>
              <a:rPr lang="zh-CN" altLang="en-US" dirty="0"/>
              <a:t>品评确定感官数据</a:t>
            </a:r>
          </a:p>
        </p:txBody>
      </p:sp>
      <p:pic>
        <p:nvPicPr>
          <p:cNvPr id="1030" name="Picture 6" descr="通透！机器学习各大模型原理的深度剖析！_机器学习模型图-CSDN博客">
            <a:extLst>
              <a:ext uri="{FF2B5EF4-FFF2-40B4-BE49-F238E27FC236}">
                <a16:creationId xmlns:a16="http://schemas.microsoft.com/office/drawing/2014/main" id="{85883094-6AC4-D86A-0770-7D8E8B51C1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76884" y="2744209"/>
            <a:ext cx="2536335" cy="1883612"/>
          </a:xfrm>
          <a:prstGeom prst="rect">
            <a:avLst/>
          </a:prstGeom>
          <a:noFill/>
          <a:extLst>
            <a:ext uri="{909E8E84-426E-40DD-AFC4-6F175D3DCCD1}">
              <a14:hiddenFill xmlns:a14="http://schemas.microsoft.com/office/drawing/2010/main">
                <a:solidFill>
                  <a:srgbClr val="FFFFFF"/>
                </a:solidFill>
              </a14:hiddenFill>
            </a:ext>
          </a:extLst>
        </p:spPr>
      </p:pic>
      <p:sp>
        <p:nvSpPr>
          <p:cNvPr id="170" name="文本框 169">
            <a:extLst>
              <a:ext uri="{FF2B5EF4-FFF2-40B4-BE49-F238E27FC236}">
                <a16:creationId xmlns:a16="http://schemas.microsoft.com/office/drawing/2014/main" id="{492AD05E-5A09-1DAE-6843-B7564A05192A}"/>
              </a:ext>
            </a:extLst>
          </p:cNvPr>
          <p:cNvSpPr txBox="1"/>
          <p:nvPr/>
        </p:nvSpPr>
        <p:spPr>
          <a:xfrm>
            <a:off x="5688985" y="5289756"/>
            <a:ext cx="1584017" cy="646331"/>
          </a:xfrm>
          <a:prstGeom prst="rect">
            <a:avLst/>
          </a:prstGeom>
          <a:noFill/>
        </p:spPr>
        <p:txBody>
          <a:bodyPr wrap="square" rtlCol="0">
            <a:spAutoFit/>
          </a:bodyPr>
          <a:lstStyle/>
          <a:p>
            <a:r>
              <a:rPr lang="zh-CN" altLang="en-US" dirty="0"/>
              <a:t>进行模型建立和验证过程</a:t>
            </a:r>
          </a:p>
        </p:txBody>
      </p:sp>
      <p:sp>
        <p:nvSpPr>
          <p:cNvPr id="171" name="文本框 170">
            <a:extLst>
              <a:ext uri="{FF2B5EF4-FFF2-40B4-BE49-F238E27FC236}">
                <a16:creationId xmlns:a16="http://schemas.microsoft.com/office/drawing/2014/main" id="{DC5BC99C-260C-AD1D-8CE9-6E5CC52D945D}"/>
              </a:ext>
            </a:extLst>
          </p:cNvPr>
          <p:cNvSpPr txBox="1"/>
          <p:nvPr/>
        </p:nvSpPr>
        <p:spPr>
          <a:xfrm>
            <a:off x="8486019" y="1107132"/>
            <a:ext cx="4660140" cy="369332"/>
          </a:xfrm>
          <a:prstGeom prst="rect">
            <a:avLst/>
          </a:prstGeom>
          <a:noFill/>
        </p:spPr>
        <p:txBody>
          <a:bodyPr wrap="square" rtlCol="0">
            <a:spAutoFit/>
          </a:bodyPr>
          <a:lstStyle/>
          <a:p>
            <a:r>
              <a:rPr lang="zh-CN" altLang="en-US" b="1" dirty="0">
                <a:solidFill>
                  <a:srgbClr val="FF0000"/>
                </a:solidFill>
              </a:rPr>
              <a:t>课题拟解决的问题</a:t>
            </a:r>
          </a:p>
        </p:txBody>
      </p:sp>
      <p:sp>
        <p:nvSpPr>
          <p:cNvPr id="181" name="文本框 180">
            <a:extLst>
              <a:ext uri="{FF2B5EF4-FFF2-40B4-BE49-F238E27FC236}">
                <a16:creationId xmlns:a16="http://schemas.microsoft.com/office/drawing/2014/main" id="{2BE5FACD-431A-F5C7-947C-B57C192A3475}"/>
              </a:ext>
            </a:extLst>
          </p:cNvPr>
          <p:cNvSpPr txBox="1"/>
          <p:nvPr/>
        </p:nvSpPr>
        <p:spPr>
          <a:xfrm>
            <a:off x="8825789" y="4361091"/>
            <a:ext cx="4660140" cy="369332"/>
          </a:xfrm>
          <a:prstGeom prst="rect">
            <a:avLst/>
          </a:prstGeom>
          <a:noFill/>
        </p:spPr>
        <p:txBody>
          <a:bodyPr wrap="square" rtlCol="0">
            <a:spAutoFit/>
          </a:bodyPr>
          <a:lstStyle/>
          <a:p>
            <a:r>
              <a:rPr lang="zh-CN" altLang="en-US" b="1" dirty="0">
                <a:solidFill>
                  <a:srgbClr val="FF0000"/>
                </a:solidFill>
              </a:rPr>
              <a:t>课题创新点</a:t>
            </a:r>
          </a:p>
        </p:txBody>
      </p:sp>
      <p:sp>
        <p:nvSpPr>
          <p:cNvPr id="188" name="文本框 187">
            <a:extLst>
              <a:ext uri="{FF2B5EF4-FFF2-40B4-BE49-F238E27FC236}">
                <a16:creationId xmlns:a16="http://schemas.microsoft.com/office/drawing/2014/main" id="{ECFD8751-A766-1915-24C0-1B9FEBC0C7AD}"/>
              </a:ext>
            </a:extLst>
          </p:cNvPr>
          <p:cNvSpPr txBox="1"/>
          <p:nvPr/>
        </p:nvSpPr>
        <p:spPr>
          <a:xfrm>
            <a:off x="8009859" y="5151132"/>
            <a:ext cx="3887261" cy="1200329"/>
          </a:xfrm>
          <a:prstGeom prst="rect">
            <a:avLst/>
          </a:prstGeom>
          <a:noFill/>
        </p:spPr>
        <p:txBody>
          <a:bodyPr wrap="square" rtlCol="0">
            <a:spAutoFit/>
          </a:bodyPr>
          <a:lstStyle/>
          <a:p>
            <a:r>
              <a:rPr lang="en-US" altLang="zh-CN" dirty="0"/>
              <a:t>1.</a:t>
            </a:r>
            <a:r>
              <a:rPr lang="zh-CN" altLang="en-US" dirty="0"/>
              <a:t>定性定量数据与感官风味建立直接可视乎的变化联系</a:t>
            </a:r>
            <a:endParaRPr lang="en-US" altLang="zh-CN" dirty="0"/>
          </a:p>
          <a:p>
            <a:endParaRPr lang="en-US" altLang="zh-CN" dirty="0"/>
          </a:p>
          <a:p>
            <a:r>
              <a:rPr lang="en-US" altLang="zh-CN" dirty="0"/>
              <a:t>2.</a:t>
            </a:r>
            <a:r>
              <a:rPr lang="zh-CN" altLang="en-US" dirty="0"/>
              <a:t>机器学习模型与感官评价体系结合</a:t>
            </a:r>
            <a:endParaRPr lang="en-US" altLang="zh-CN" dirty="0"/>
          </a:p>
        </p:txBody>
      </p:sp>
      <p:sp>
        <p:nvSpPr>
          <p:cNvPr id="2" name="文本框 1">
            <a:extLst>
              <a:ext uri="{FF2B5EF4-FFF2-40B4-BE49-F238E27FC236}">
                <a16:creationId xmlns:a16="http://schemas.microsoft.com/office/drawing/2014/main" id="{196662E0-0282-8FB1-EB90-DB40862877D7}"/>
              </a:ext>
            </a:extLst>
          </p:cNvPr>
          <p:cNvSpPr txBox="1"/>
          <p:nvPr/>
        </p:nvSpPr>
        <p:spPr>
          <a:xfrm>
            <a:off x="8105782" y="1603374"/>
            <a:ext cx="3734461" cy="2543132"/>
          </a:xfrm>
          <a:prstGeom prst="rect">
            <a:avLst/>
          </a:prstGeom>
          <a:noFill/>
        </p:spPr>
        <p:txBody>
          <a:bodyPr wrap="square" rtlCol="0">
            <a:spAutoFit/>
          </a:bodyPr>
          <a:lstStyle/>
          <a:p>
            <a:pPr>
              <a:lnSpc>
                <a:spcPct val="150000"/>
              </a:lnSpc>
            </a:pPr>
            <a:r>
              <a:rPr lang="en-US" altLang="zh-CN" dirty="0"/>
              <a:t>1.</a:t>
            </a:r>
            <a:r>
              <a:rPr lang="zh-CN" altLang="en-US" dirty="0"/>
              <a:t>不同品牌产区浓香型白酒的定量差异与风味轮廓</a:t>
            </a:r>
            <a:endParaRPr lang="en-US" altLang="zh-CN" dirty="0"/>
          </a:p>
          <a:p>
            <a:pPr>
              <a:lnSpc>
                <a:spcPct val="150000"/>
              </a:lnSpc>
            </a:pPr>
            <a:r>
              <a:rPr lang="en-US" altLang="zh-CN" dirty="0"/>
              <a:t>2.</a:t>
            </a:r>
            <a:r>
              <a:rPr lang="zh-CN" altLang="en-US" dirty="0"/>
              <a:t>不同基酒配比产生的风味差异向量化即风味权重</a:t>
            </a:r>
            <a:endParaRPr lang="en-US" altLang="zh-CN" dirty="0"/>
          </a:p>
          <a:p>
            <a:pPr>
              <a:lnSpc>
                <a:spcPct val="150000"/>
              </a:lnSpc>
            </a:pPr>
            <a:r>
              <a:rPr lang="en-US" altLang="zh-CN" dirty="0"/>
              <a:t>3.</a:t>
            </a:r>
            <a:r>
              <a:rPr lang="zh-CN" altLang="en-US" dirty="0"/>
              <a:t>权重配比与</a:t>
            </a:r>
            <a:r>
              <a:rPr lang="en-US" altLang="zh-CN" dirty="0"/>
              <a:t>OAV</a:t>
            </a:r>
            <a:r>
              <a:rPr lang="zh-CN" altLang="en-US" dirty="0"/>
              <a:t>配比的差异与贴合度，印证机器学习效力</a:t>
            </a:r>
          </a:p>
        </p:txBody>
      </p:sp>
      <p:sp>
        <p:nvSpPr>
          <p:cNvPr id="3" name="左大括号 2">
            <a:extLst>
              <a:ext uri="{FF2B5EF4-FFF2-40B4-BE49-F238E27FC236}">
                <a16:creationId xmlns:a16="http://schemas.microsoft.com/office/drawing/2014/main" id="{70524CEC-A76F-F8DC-4807-46F3B6AFA717}"/>
              </a:ext>
            </a:extLst>
          </p:cNvPr>
          <p:cNvSpPr/>
          <p:nvPr/>
        </p:nvSpPr>
        <p:spPr>
          <a:xfrm rot="10800000">
            <a:off x="4484190" y="1967288"/>
            <a:ext cx="692694" cy="4138798"/>
          </a:xfrm>
          <a:prstGeom prst="leftBrace">
            <a:avLst/>
          </a:prstGeom>
          <a:noFill/>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758389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1B62B-87C7-C991-2693-76F2325B1A5E}"/>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1787DCB3-B244-694C-C9A5-0C9803F184B6}"/>
              </a:ext>
            </a:extLst>
          </p:cNvPr>
          <p:cNvSpPr txBox="1"/>
          <p:nvPr/>
        </p:nvSpPr>
        <p:spPr>
          <a:xfrm>
            <a:off x="26391" y="2771"/>
            <a:ext cx="9968402" cy="584775"/>
          </a:xfrm>
          <a:prstGeom prst="rect">
            <a:avLst/>
          </a:prstGeom>
          <a:noFill/>
        </p:spPr>
        <p:txBody>
          <a:bodyPr wrap="square">
            <a:spAutoFit/>
          </a:bodyPr>
          <a:lstStyle/>
          <a:p>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预拟课题框架与工作流程</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pic>
        <p:nvPicPr>
          <p:cNvPr id="17" name="图片 16">
            <a:extLst>
              <a:ext uri="{FF2B5EF4-FFF2-40B4-BE49-F238E27FC236}">
                <a16:creationId xmlns:a16="http://schemas.microsoft.com/office/drawing/2014/main" id="{10FCFACB-5655-E5A0-4561-1EBDAF618C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714" y="64216"/>
            <a:ext cx="646689" cy="643954"/>
          </a:xfrm>
          <a:prstGeom prst="rect">
            <a:avLst/>
          </a:prstGeom>
        </p:spPr>
      </p:pic>
      <p:cxnSp>
        <p:nvCxnSpPr>
          <p:cNvPr id="19" name="直接连接符 18">
            <a:extLst>
              <a:ext uri="{FF2B5EF4-FFF2-40B4-BE49-F238E27FC236}">
                <a16:creationId xmlns:a16="http://schemas.microsoft.com/office/drawing/2014/main" id="{09B1D0BA-669E-F1B0-B989-FD47B6363AAB}"/>
              </a:ext>
            </a:extLst>
          </p:cNvPr>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sp>
        <p:nvSpPr>
          <p:cNvPr id="35" name="矩形: 圆角 34">
            <a:extLst>
              <a:ext uri="{FF2B5EF4-FFF2-40B4-BE49-F238E27FC236}">
                <a16:creationId xmlns:a16="http://schemas.microsoft.com/office/drawing/2014/main" id="{F276E2EC-4A64-B9A5-CCE1-9442DFC1E506}"/>
              </a:ext>
            </a:extLst>
          </p:cNvPr>
          <p:cNvSpPr/>
          <p:nvPr/>
        </p:nvSpPr>
        <p:spPr>
          <a:xfrm>
            <a:off x="345463" y="1227704"/>
            <a:ext cx="4064551" cy="333066"/>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n>
                  <a:solidFill>
                    <a:schemeClr val="accent1">
                      <a:shade val="15000"/>
                    </a:schemeClr>
                  </a:solidFill>
                </a:ln>
                <a:solidFill>
                  <a:srgbClr val="0070C0"/>
                </a:solidFill>
              </a:rPr>
              <a:t>1.</a:t>
            </a:r>
            <a:r>
              <a:rPr lang="zh-CN" altLang="en-US" dirty="0">
                <a:ln>
                  <a:solidFill>
                    <a:schemeClr val="accent1">
                      <a:shade val="15000"/>
                    </a:schemeClr>
                  </a:solidFill>
                </a:ln>
                <a:solidFill>
                  <a:srgbClr val="0070C0"/>
                </a:solidFill>
              </a:rPr>
              <a:t>浓香型白酒风味定性定量风味数据库</a:t>
            </a:r>
          </a:p>
        </p:txBody>
      </p:sp>
      <p:sp>
        <p:nvSpPr>
          <p:cNvPr id="2" name="文本框 1">
            <a:extLst>
              <a:ext uri="{FF2B5EF4-FFF2-40B4-BE49-F238E27FC236}">
                <a16:creationId xmlns:a16="http://schemas.microsoft.com/office/drawing/2014/main" id="{D886F3FD-4077-46B3-6F90-70E3D01BB4FB}"/>
              </a:ext>
            </a:extLst>
          </p:cNvPr>
          <p:cNvSpPr txBox="1"/>
          <p:nvPr/>
        </p:nvSpPr>
        <p:spPr>
          <a:xfrm>
            <a:off x="414038" y="719792"/>
            <a:ext cx="9491330" cy="369332"/>
          </a:xfrm>
          <a:prstGeom prst="rect">
            <a:avLst/>
          </a:prstGeom>
          <a:noFill/>
        </p:spPr>
        <p:txBody>
          <a:bodyPr wrap="square" rtlCol="0">
            <a:spAutoFit/>
          </a:bodyPr>
          <a:lstStyle/>
          <a:p>
            <a:r>
              <a:rPr lang="zh-CN" altLang="en-US" b="1" dirty="0">
                <a:solidFill>
                  <a:srgbClr val="FF0000"/>
                </a:solidFill>
              </a:rPr>
              <a:t>主要章节</a:t>
            </a:r>
          </a:p>
        </p:txBody>
      </p:sp>
      <p:cxnSp>
        <p:nvCxnSpPr>
          <p:cNvPr id="38" name="直接连接符 37">
            <a:extLst>
              <a:ext uri="{FF2B5EF4-FFF2-40B4-BE49-F238E27FC236}">
                <a16:creationId xmlns:a16="http://schemas.microsoft.com/office/drawing/2014/main" id="{2F73E077-D2D5-DF1E-CDBF-3B8815A7DFAB}"/>
              </a:ext>
            </a:extLst>
          </p:cNvPr>
          <p:cNvCxnSpPr/>
          <p:nvPr/>
        </p:nvCxnSpPr>
        <p:spPr>
          <a:xfrm>
            <a:off x="5305331" y="1115246"/>
            <a:ext cx="0" cy="5461665"/>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箭头: 右 41">
            <a:extLst>
              <a:ext uri="{FF2B5EF4-FFF2-40B4-BE49-F238E27FC236}">
                <a16:creationId xmlns:a16="http://schemas.microsoft.com/office/drawing/2014/main" id="{B96AB72A-8745-3A9F-13E4-38699F275E58}"/>
              </a:ext>
            </a:extLst>
          </p:cNvPr>
          <p:cNvSpPr/>
          <p:nvPr/>
        </p:nvSpPr>
        <p:spPr>
          <a:xfrm rot="10800000">
            <a:off x="2471007" y="5032992"/>
            <a:ext cx="562936" cy="23330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0" name="文本框 49">
            <a:extLst>
              <a:ext uri="{FF2B5EF4-FFF2-40B4-BE49-F238E27FC236}">
                <a16:creationId xmlns:a16="http://schemas.microsoft.com/office/drawing/2014/main" id="{956DAE56-4FA9-519D-4AA4-19A04E726BF4}"/>
              </a:ext>
            </a:extLst>
          </p:cNvPr>
          <p:cNvSpPr txBox="1"/>
          <p:nvPr/>
        </p:nvSpPr>
        <p:spPr>
          <a:xfrm>
            <a:off x="457581" y="1833789"/>
            <a:ext cx="2025956" cy="1754326"/>
          </a:xfrm>
          <a:prstGeom prst="rect">
            <a:avLst/>
          </a:prstGeom>
          <a:noFill/>
          <a:ln w="25400">
            <a:solidFill>
              <a:schemeClr val="accent1"/>
            </a:solidFill>
          </a:ln>
        </p:spPr>
        <p:txBody>
          <a:bodyPr wrap="square" rtlCol="0">
            <a:spAutoFit/>
          </a:bodyPr>
          <a:lstStyle/>
          <a:p>
            <a:r>
              <a:rPr lang="zh-CN" altLang="en-US" dirty="0"/>
              <a:t>搜集浓香型白酒已发表文献进行定性定量数据归纳，分析，构建相同或相似品质的浓香型白酒风味轮廓</a:t>
            </a:r>
          </a:p>
        </p:txBody>
      </p:sp>
      <p:sp>
        <p:nvSpPr>
          <p:cNvPr id="53" name="文本框 52">
            <a:extLst>
              <a:ext uri="{FF2B5EF4-FFF2-40B4-BE49-F238E27FC236}">
                <a16:creationId xmlns:a16="http://schemas.microsoft.com/office/drawing/2014/main" id="{CF6EE84A-A00A-9D0E-9AB2-F4991DA23E33}"/>
              </a:ext>
            </a:extLst>
          </p:cNvPr>
          <p:cNvSpPr txBox="1"/>
          <p:nvPr/>
        </p:nvSpPr>
        <p:spPr>
          <a:xfrm>
            <a:off x="457684" y="4504927"/>
            <a:ext cx="1926822" cy="1754326"/>
          </a:xfrm>
          <a:prstGeom prst="rect">
            <a:avLst/>
          </a:prstGeom>
          <a:noFill/>
          <a:ln w="25400">
            <a:solidFill>
              <a:schemeClr val="accent1"/>
            </a:solidFill>
          </a:ln>
        </p:spPr>
        <p:txBody>
          <a:bodyPr wrap="square" rtlCol="0">
            <a:spAutoFit/>
          </a:bodyPr>
          <a:lstStyle/>
          <a:p>
            <a:r>
              <a:rPr lang="zh-CN" altLang="en-US" dirty="0"/>
              <a:t>通过酒体检测数据的变化确定对于单一风味变化的非线性关系和参数，以此代表具体的权重</a:t>
            </a:r>
          </a:p>
        </p:txBody>
      </p:sp>
      <p:sp>
        <p:nvSpPr>
          <p:cNvPr id="54" name="文本框 53">
            <a:extLst>
              <a:ext uri="{FF2B5EF4-FFF2-40B4-BE49-F238E27FC236}">
                <a16:creationId xmlns:a16="http://schemas.microsoft.com/office/drawing/2014/main" id="{3D29E9F0-A3EA-E6AB-6D17-B000B5ACBD0A}"/>
              </a:ext>
            </a:extLst>
          </p:cNvPr>
          <p:cNvSpPr txBox="1"/>
          <p:nvPr/>
        </p:nvSpPr>
        <p:spPr>
          <a:xfrm>
            <a:off x="3331754" y="5953542"/>
            <a:ext cx="1170067" cy="369332"/>
          </a:xfrm>
          <a:prstGeom prst="rect">
            <a:avLst/>
          </a:prstGeom>
          <a:solidFill>
            <a:schemeClr val="tx1">
              <a:alpha val="14000"/>
            </a:schemeClr>
          </a:solidFill>
        </p:spPr>
        <p:txBody>
          <a:bodyPr wrap="square" rtlCol="0">
            <a:spAutoFit/>
          </a:bodyPr>
          <a:lstStyle/>
          <a:p>
            <a:pPr algn="ctr"/>
            <a:r>
              <a:rPr lang="zh-CN" altLang="en-US" dirty="0"/>
              <a:t>软测量</a:t>
            </a:r>
          </a:p>
        </p:txBody>
      </p:sp>
      <p:pic>
        <p:nvPicPr>
          <p:cNvPr id="8" name="图片 7" descr="图表, 雷达图&#10;&#10;AI 生成的内容可能不正确。">
            <a:extLst>
              <a:ext uri="{FF2B5EF4-FFF2-40B4-BE49-F238E27FC236}">
                <a16:creationId xmlns:a16="http://schemas.microsoft.com/office/drawing/2014/main" id="{B38E362B-1A98-CB8A-0596-E0DF63830EA5}"/>
              </a:ext>
            </a:extLst>
          </p:cNvPr>
          <p:cNvPicPr>
            <a:picLocks noChangeAspect="1"/>
          </p:cNvPicPr>
          <p:nvPr/>
        </p:nvPicPr>
        <p:blipFill>
          <a:blip r:embed="rId4"/>
          <a:stretch>
            <a:fillRect/>
          </a:stretch>
        </p:blipFill>
        <p:spPr>
          <a:xfrm>
            <a:off x="3058103" y="1920090"/>
            <a:ext cx="1926479" cy="1708574"/>
          </a:xfrm>
          <a:prstGeom prst="rect">
            <a:avLst/>
          </a:prstGeom>
        </p:spPr>
      </p:pic>
      <p:sp>
        <p:nvSpPr>
          <p:cNvPr id="9" name="矩形: 圆角 8">
            <a:extLst>
              <a:ext uri="{FF2B5EF4-FFF2-40B4-BE49-F238E27FC236}">
                <a16:creationId xmlns:a16="http://schemas.microsoft.com/office/drawing/2014/main" id="{990CE6B5-680D-703F-731D-9B0BD19F4EB6}"/>
              </a:ext>
            </a:extLst>
          </p:cNvPr>
          <p:cNvSpPr/>
          <p:nvPr/>
        </p:nvSpPr>
        <p:spPr>
          <a:xfrm>
            <a:off x="324101" y="3826286"/>
            <a:ext cx="3268246" cy="333066"/>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n>
                  <a:solidFill>
                    <a:schemeClr val="accent1">
                      <a:shade val="15000"/>
                    </a:schemeClr>
                  </a:solidFill>
                </a:ln>
                <a:solidFill>
                  <a:srgbClr val="0070C0"/>
                </a:solidFill>
              </a:rPr>
              <a:t>2.</a:t>
            </a:r>
            <a:r>
              <a:rPr lang="zh-CN" altLang="en-US" dirty="0">
                <a:ln>
                  <a:solidFill>
                    <a:schemeClr val="accent1">
                      <a:shade val="15000"/>
                    </a:schemeClr>
                  </a:solidFill>
                </a:ln>
                <a:solidFill>
                  <a:srgbClr val="0070C0"/>
                </a:solidFill>
              </a:rPr>
              <a:t>测定代表风味贡献的权重值</a:t>
            </a:r>
          </a:p>
        </p:txBody>
      </p:sp>
      <p:pic>
        <p:nvPicPr>
          <p:cNvPr id="14" name="图片 13" descr="图示, 示意图&#10;&#10;AI 生成的内容可能不正确。">
            <a:extLst>
              <a:ext uri="{FF2B5EF4-FFF2-40B4-BE49-F238E27FC236}">
                <a16:creationId xmlns:a16="http://schemas.microsoft.com/office/drawing/2014/main" id="{5D9B6FC4-EFB6-793E-C5C3-B3E4FCB136D8}"/>
              </a:ext>
            </a:extLst>
          </p:cNvPr>
          <p:cNvPicPr>
            <a:picLocks noChangeAspect="1"/>
          </p:cNvPicPr>
          <p:nvPr/>
        </p:nvPicPr>
        <p:blipFill>
          <a:blip r:embed="rId5"/>
          <a:stretch>
            <a:fillRect/>
          </a:stretch>
        </p:blipFill>
        <p:spPr>
          <a:xfrm>
            <a:off x="3046472" y="4435690"/>
            <a:ext cx="2186585" cy="1194605"/>
          </a:xfrm>
          <a:prstGeom prst="rect">
            <a:avLst/>
          </a:prstGeom>
        </p:spPr>
      </p:pic>
      <p:sp>
        <p:nvSpPr>
          <p:cNvPr id="20" name="箭头: 右 19">
            <a:extLst>
              <a:ext uri="{FF2B5EF4-FFF2-40B4-BE49-F238E27FC236}">
                <a16:creationId xmlns:a16="http://schemas.microsoft.com/office/drawing/2014/main" id="{6AC81F3E-CB0A-C267-0537-275450D29FE0}"/>
              </a:ext>
            </a:extLst>
          </p:cNvPr>
          <p:cNvSpPr/>
          <p:nvPr/>
        </p:nvSpPr>
        <p:spPr>
          <a:xfrm>
            <a:off x="2483536" y="2623293"/>
            <a:ext cx="562936" cy="23330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 name="矩形: 圆角 2">
            <a:extLst>
              <a:ext uri="{FF2B5EF4-FFF2-40B4-BE49-F238E27FC236}">
                <a16:creationId xmlns:a16="http://schemas.microsoft.com/office/drawing/2014/main" id="{6D34A1EE-6BEF-24C1-E1D0-236F06A861C5}"/>
              </a:ext>
            </a:extLst>
          </p:cNvPr>
          <p:cNvSpPr/>
          <p:nvPr/>
        </p:nvSpPr>
        <p:spPr>
          <a:xfrm>
            <a:off x="6355405" y="1913354"/>
            <a:ext cx="4336748" cy="333066"/>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n>
                  <a:solidFill>
                    <a:schemeClr val="accent1">
                      <a:shade val="15000"/>
                    </a:schemeClr>
                  </a:solidFill>
                </a:ln>
                <a:solidFill>
                  <a:srgbClr val="0070C0"/>
                </a:solidFill>
              </a:rPr>
              <a:t>3.</a:t>
            </a:r>
            <a:r>
              <a:rPr lang="zh-CN" altLang="en-US" dirty="0">
                <a:ln>
                  <a:solidFill>
                    <a:schemeClr val="accent1">
                      <a:shade val="15000"/>
                    </a:schemeClr>
                  </a:solidFill>
                </a:ln>
                <a:solidFill>
                  <a:srgbClr val="0070C0"/>
                </a:solidFill>
              </a:rPr>
              <a:t>权重与风味评价体系结合验证模型效果</a:t>
            </a:r>
          </a:p>
        </p:txBody>
      </p:sp>
      <p:sp>
        <p:nvSpPr>
          <p:cNvPr id="5" name="文本框 4">
            <a:extLst>
              <a:ext uri="{FF2B5EF4-FFF2-40B4-BE49-F238E27FC236}">
                <a16:creationId xmlns:a16="http://schemas.microsoft.com/office/drawing/2014/main" id="{512C55C8-5EE8-69B0-6DA7-2CFEF89B2FAF}"/>
              </a:ext>
            </a:extLst>
          </p:cNvPr>
          <p:cNvSpPr txBox="1"/>
          <p:nvPr/>
        </p:nvSpPr>
        <p:spPr>
          <a:xfrm>
            <a:off x="7081257" y="2476345"/>
            <a:ext cx="2539659" cy="1200329"/>
          </a:xfrm>
          <a:prstGeom prst="rect">
            <a:avLst/>
          </a:prstGeom>
          <a:noFill/>
          <a:ln w="25400">
            <a:solidFill>
              <a:schemeClr val="accent1"/>
            </a:solidFill>
          </a:ln>
        </p:spPr>
        <p:txBody>
          <a:bodyPr wrap="square" rtlCol="0">
            <a:spAutoFit/>
          </a:bodyPr>
          <a:lstStyle/>
          <a:p>
            <a:r>
              <a:rPr lang="zh-CN" altLang="en-US" dirty="0"/>
              <a:t>使用权重进行勾兑配比，与人工配比得到的同年品牌成品酒进行感官比对</a:t>
            </a:r>
          </a:p>
        </p:txBody>
      </p:sp>
      <p:sp>
        <p:nvSpPr>
          <p:cNvPr id="6" name="文本框 5">
            <a:extLst>
              <a:ext uri="{FF2B5EF4-FFF2-40B4-BE49-F238E27FC236}">
                <a16:creationId xmlns:a16="http://schemas.microsoft.com/office/drawing/2014/main" id="{02C0678B-A255-52D7-DA26-D306AE5880B2}"/>
              </a:ext>
            </a:extLst>
          </p:cNvPr>
          <p:cNvSpPr txBox="1"/>
          <p:nvPr/>
        </p:nvSpPr>
        <p:spPr>
          <a:xfrm>
            <a:off x="7155690" y="4319704"/>
            <a:ext cx="2539659" cy="1200329"/>
          </a:xfrm>
          <a:prstGeom prst="rect">
            <a:avLst/>
          </a:prstGeom>
          <a:noFill/>
          <a:ln w="25400">
            <a:solidFill>
              <a:schemeClr val="accent1"/>
            </a:solidFill>
          </a:ln>
        </p:spPr>
        <p:txBody>
          <a:bodyPr wrap="square" rtlCol="0">
            <a:spAutoFit/>
          </a:bodyPr>
          <a:lstStyle/>
          <a:p>
            <a:r>
              <a:rPr lang="zh-CN" altLang="en-US" dirty="0"/>
              <a:t>配比结果与感官结果比对后反馈到调参过程，为风味感官和定性定量数据之间形成直接联系</a:t>
            </a:r>
          </a:p>
        </p:txBody>
      </p:sp>
      <p:sp>
        <p:nvSpPr>
          <p:cNvPr id="7" name="箭头: 右 6">
            <a:extLst>
              <a:ext uri="{FF2B5EF4-FFF2-40B4-BE49-F238E27FC236}">
                <a16:creationId xmlns:a16="http://schemas.microsoft.com/office/drawing/2014/main" id="{49A03A7D-19A5-C9C6-C2BB-00B163F94B21}"/>
              </a:ext>
            </a:extLst>
          </p:cNvPr>
          <p:cNvSpPr/>
          <p:nvPr/>
        </p:nvSpPr>
        <p:spPr>
          <a:xfrm rot="16200000">
            <a:off x="7502028" y="3902829"/>
            <a:ext cx="562936" cy="23330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0" name="箭头: 右 9">
            <a:extLst>
              <a:ext uri="{FF2B5EF4-FFF2-40B4-BE49-F238E27FC236}">
                <a16:creationId xmlns:a16="http://schemas.microsoft.com/office/drawing/2014/main" id="{17CB7396-DEEA-CF2D-57AC-D5267630D325}"/>
              </a:ext>
            </a:extLst>
          </p:cNvPr>
          <p:cNvSpPr/>
          <p:nvPr/>
        </p:nvSpPr>
        <p:spPr>
          <a:xfrm rot="5400000">
            <a:off x="8487624" y="3868398"/>
            <a:ext cx="562936" cy="23330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3029915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F422D-6D35-0776-6962-9A3D9735B3AC}"/>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9C6E148A-320E-E41C-8A98-0579CA477571}"/>
              </a:ext>
            </a:extLst>
          </p:cNvPr>
          <p:cNvSpPr txBox="1"/>
          <p:nvPr/>
        </p:nvSpPr>
        <p:spPr>
          <a:xfrm>
            <a:off x="26391" y="2771"/>
            <a:ext cx="9968402" cy="584775"/>
          </a:xfrm>
          <a:prstGeom prst="rect">
            <a:avLst/>
          </a:prstGeom>
          <a:noFill/>
        </p:spPr>
        <p:txBody>
          <a:bodyPr wrap="square">
            <a:spAutoFit/>
          </a:bodyPr>
          <a:lstStyle/>
          <a:p>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预拟课题框架与工作流程</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pic>
        <p:nvPicPr>
          <p:cNvPr id="17" name="图片 16">
            <a:extLst>
              <a:ext uri="{FF2B5EF4-FFF2-40B4-BE49-F238E27FC236}">
                <a16:creationId xmlns:a16="http://schemas.microsoft.com/office/drawing/2014/main" id="{22AD1F4A-A263-E27E-E6D3-218A08D725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714" y="64216"/>
            <a:ext cx="646689" cy="643954"/>
          </a:xfrm>
          <a:prstGeom prst="rect">
            <a:avLst/>
          </a:prstGeom>
        </p:spPr>
      </p:pic>
      <p:cxnSp>
        <p:nvCxnSpPr>
          <p:cNvPr id="19" name="直接连接符 18">
            <a:extLst>
              <a:ext uri="{FF2B5EF4-FFF2-40B4-BE49-F238E27FC236}">
                <a16:creationId xmlns:a16="http://schemas.microsoft.com/office/drawing/2014/main" id="{510A5905-02F8-6CD8-5532-3DB44C43EBCE}"/>
              </a:ext>
            </a:extLst>
          </p:cNvPr>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sp>
        <p:nvSpPr>
          <p:cNvPr id="2" name="文本框 1">
            <a:extLst>
              <a:ext uri="{FF2B5EF4-FFF2-40B4-BE49-F238E27FC236}">
                <a16:creationId xmlns:a16="http://schemas.microsoft.com/office/drawing/2014/main" id="{6D58952B-0C8E-E654-03E2-9EE32B461FA1}"/>
              </a:ext>
            </a:extLst>
          </p:cNvPr>
          <p:cNvSpPr txBox="1"/>
          <p:nvPr/>
        </p:nvSpPr>
        <p:spPr>
          <a:xfrm>
            <a:off x="414038" y="719792"/>
            <a:ext cx="2502898" cy="369332"/>
          </a:xfrm>
          <a:prstGeom prst="rect">
            <a:avLst/>
          </a:prstGeom>
          <a:noFill/>
        </p:spPr>
        <p:txBody>
          <a:bodyPr wrap="square" rtlCol="0">
            <a:spAutoFit/>
          </a:bodyPr>
          <a:lstStyle/>
          <a:p>
            <a:r>
              <a:rPr lang="zh-CN" altLang="en-US" b="1" dirty="0">
                <a:solidFill>
                  <a:srgbClr val="FF0000"/>
                </a:solidFill>
              </a:rPr>
              <a:t>风味轮廓与权重值测算</a:t>
            </a:r>
          </a:p>
        </p:txBody>
      </p:sp>
      <p:pic>
        <p:nvPicPr>
          <p:cNvPr id="1026" name="Picture 2" descr="深度学习实战四：全连接神经网络（基于Pytorch，含数据和详细注释）-CSDN博客">
            <a:extLst>
              <a:ext uri="{FF2B5EF4-FFF2-40B4-BE49-F238E27FC236}">
                <a16:creationId xmlns:a16="http://schemas.microsoft.com/office/drawing/2014/main" id="{5D38D09F-E377-F002-FFC4-A0A3891050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574" y="1311395"/>
            <a:ext cx="2150745" cy="163297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3B9C6C56-3737-0F83-446A-88C173BDB41B}"/>
              </a:ext>
            </a:extLst>
          </p:cNvPr>
          <p:cNvSpPr txBox="1"/>
          <p:nvPr/>
        </p:nvSpPr>
        <p:spPr>
          <a:xfrm>
            <a:off x="456574" y="3059668"/>
            <a:ext cx="2059849" cy="369332"/>
          </a:xfrm>
          <a:prstGeom prst="rect">
            <a:avLst/>
          </a:prstGeom>
          <a:noFill/>
        </p:spPr>
        <p:txBody>
          <a:bodyPr wrap="square" rtlCol="0">
            <a:spAutoFit/>
          </a:bodyPr>
          <a:lstStyle/>
          <a:p>
            <a:r>
              <a:rPr lang="zh-CN" altLang="en-US" dirty="0"/>
              <a:t>典型神经网络模型</a:t>
            </a:r>
          </a:p>
        </p:txBody>
      </p:sp>
      <p:sp>
        <p:nvSpPr>
          <p:cNvPr id="11" name="箭头: 右 10">
            <a:extLst>
              <a:ext uri="{FF2B5EF4-FFF2-40B4-BE49-F238E27FC236}">
                <a16:creationId xmlns:a16="http://schemas.microsoft.com/office/drawing/2014/main" id="{CB1B23E0-9B56-A93D-BFF2-7BC5014BB3FA}"/>
              </a:ext>
            </a:extLst>
          </p:cNvPr>
          <p:cNvSpPr/>
          <p:nvPr/>
        </p:nvSpPr>
        <p:spPr>
          <a:xfrm>
            <a:off x="2671339" y="2071167"/>
            <a:ext cx="656545" cy="30777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pic>
        <p:nvPicPr>
          <p:cNvPr id="1025" name="Picture 2" descr="深度学习实战四：全连接神经网络（基于Pytorch，含数据和详细注释）-CSDN博客">
            <a:extLst>
              <a:ext uri="{FF2B5EF4-FFF2-40B4-BE49-F238E27FC236}">
                <a16:creationId xmlns:a16="http://schemas.microsoft.com/office/drawing/2014/main" id="{B4AD6762-D281-5139-2AB3-2613848982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1795" y="1311394"/>
            <a:ext cx="2150745" cy="1632973"/>
          </a:xfrm>
          <a:prstGeom prst="rect">
            <a:avLst/>
          </a:prstGeom>
          <a:noFill/>
          <a:extLst>
            <a:ext uri="{909E8E84-426E-40DD-AFC4-6F175D3DCCD1}">
              <a14:hiddenFill xmlns:a14="http://schemas.microsoft.com/office/drawing/2010/main">
                <a:solidFill>
                  <a:srgbClr val="FFFFFF"/>
                </a:solidFill>
              </a14:hiddenFill>
            </a:ext>
          </a:extLst>
        </p:spPr>
      </p:pic>
      <p:sp>
        <p:nvSpPr>
          <p:cNvPr id="1036" name="矩形 1035">
            <a:extLst>
              <a:ext uri="{FF2B5EF4-FFF2-40B4-BE49-F238E27FC236}">
                <a16:creationId xmlns:a16="http://schemas.microsoft.com/office/drawing/2014/main" id="{84EA4DCB-5FB9-D029-D652-77F71061CA28}"/>
              </a:ext>
            </a:extLst>
          </p:cNvPr>
          <p:cNvSpPr/>
          <p:nvPr/>
        </p:nvSpPr>
        <p:spPr>
          <a:xfrm>
            <a:off x="4395376" y="974335"/>
            <a:ext cx="543584" cy="21894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接点 11">
            <a:extLst>
              <a:ext uri="{FF2B5EF4-FFF2-40B4-BE49-F238E27FC236}">
                <a16:creationId xmlns:a16="http://schemas.microsoft.com/office/drawing/2014/main" id="{5E6CC87F-8E17-1D47-EA1D-E00C84E95606}"/>
              </a:ext>
            </a:extLst>
          </p:cNvPr>
          <p:cNvSpPr/>
          <p:nvPr/>
        </p:nvSpPr>
        <p:spPr>
          <a:xfrm rot="16200000">
            <a:off x="3746544" y="5778476"/>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31" name="组合 1030">
            <a:extLst>
              <a:ext uri="{FF2B5EF4-FFF2-40B4-BE49-F238E27FC236}">
                <a16:creationId xmlns:a16="http://schemas.microsoft.com/office/drawing/2014/main" id="{687104D9-A9D7-3835-0AFA-8CAA3B45AD6A}"/>
              </a:ext>
            </a:extLst>
          </p:cNvPr>
          <p:cNvGrpSpPr/>
          <p:nvPr/>
        </p:nvGrpSpPr>
        <p:grpSpPr>
          <a:xfrm rot="16200000">
            <a:off x="4405292" y="3974673"/>
            <a:ext cx="338712" cy="1730829"/>
            <a:chOff x="8512361" y="4018932"/>
            <a:chExt cx="338712" cy="1730829"/>
          </a:xfrm>
        </p:grpSpPr>
        <p:sp>
          <p:nvSpPr>
            <p:cNvPr id="13" name="流程图: 接点 12">
              <a:extLst>
                <a:ext uri="{FF2B5EF4-FFF2-40B4-BE49-F238E27FC236}">
                  <a16:creationId xmlns:a16="http://schemas.microsoft.com/office/drawing/2014/main" id="{4A8E2CD0-6CA5-C8D9-816C-82E93A963073}"/>
                </a:ext>
              </a:extLst>
            </p:cNvPr>
            <p:cNvSpPr/>
            <p:nvPr/>
          </p:nvSpPr>
          <p:spPr>
            <a:xfrm rot="16200000">
              <a:off x="8512355" y="5420583"/>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流程图: 接点 15">
              <a:extLst>
                <a:ext uri="{FF2B5EF4-FFF2-40B4-BE49-F238E27FC236}">
                  <a16:creationId xmlns:a16="http://schemas.microsoft.com/office/drawing/2014/main" id="{68DB3FF2-9C6F-EEE2-4128-0FC9528A9F7F}"/>
                </a:ext>
              </a:extLst>
            </p:cNvPr>
            <p:cNvSpPr/>
            <p:nvPr/>
          </p:nvSpPr>
          <p:spPr>
            <a:xfrm rot="16200000">
              <a:off x="8512355" y="4953368"/>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11C32E49-EB95-760C-B22C-24B7F0C9FA34}"/>
                </a:ext>
              </a:extLst>
            </p:cNvPr>
            <p:cNvSpPr/>
            <p:nvPr/>
          </p:nvSpPr>
          <p:spPr>
            <a:xfrm rot="16200000">
              <a:off x="8521894" y="4486153"/>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流程图: 接点 20">
              <a:extLst>
                <a:ext uri="{FF2B5EF4-FFF2-40B4-BE49-F238E27FC236}">
                  <a16:creationId xmlns:a16="http://schemas.microsoft.com/office/drawing/2014/main" id="{B0D548D5-2C3F-A4AB-7256-1A73687467CA}"/>
                </a:ext>
              </a:extLst>
            </p:cNvPr>
            <p:cNvSpPr/>
            <p:nvPr/>
          </p:nvSpPr>
          <p:spPr>
            <a:xfrm rot="16200000">
              <a:off x="8521895" y="4018938"/>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流程图: 接点 21">
            <a:extLst>
              <a:ext uri="{FF2B5EF4-FFF2-40B4-BE49-F238E27FC236}">
                <a16:creationId xmlns:a16="http://schemas.microsoft.com/office/drawing/2014/main" id="{DD1EA227-AE14-3F17-A0E4-3B6C8201C8C7}"/>
              </a:ext>
            </a:extLst>
          </p:cNvPr>
          <p:cNvSpPr/>
          <p:nvPr/>
        </p:nvSpPr>
        <p:spPr>
          <a:xfrm rot="16200000">
            <a:off x="4210519" y="5788013"/>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流程图: 接点 22">
            <a:extLst>
              <a:ext uri="{FF2B5EF4-FFF2-40B4-BE49-F238E27FC236}">
                <a16:creationId xmlns:a16="http://schemas.microsoft.com/office/drawing/2014/main" id="{9A51090F-D844-EB21-E35E-0101C43BF234}"/>
              </a:ext>
            </a:extLst>
          </p:cNvPr>
          <p:cNvSpPr/>
          <p:nvPr/>
        </p:nvSpPr>
        <p:spPr>
          <a:xfrm rot="16200000">
            <a:off x="4635885" y="5795387"/>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流程图: 接点 24">
            <a:extLst>
              <a:ext uri="{FF2B5EF4-FFF2-40B4-BE49-F238E27FC236}">
                <a16:creationId xmlns:a16="http://schemas.microsoft.com/office/drawing/2014/main" id="{DBCDCD6D-E172-5ECB-BFA0-5C1D2118AE62}"/>
              </a:ext>
            </a:extLst>
          </p:cNvPr>
          <p:cNvSpPr/>
          <p:nvPr/>
        </p:nvSpPr>
        <p:spPr>
          <a:xfrm rot="16200000">
            <a:off x="5078446" y="5808292"/>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09E3BF74-6EA5-D784-4A41-76B56474C01D}"/>
              </a:ext>
            </a:extLst>
          </p:cNvPr>
          <p:cNvCxnSpPr>
            <a:stCxn id="12" idx="6"/>
            <a:endCxn id="13" idx="0"/>
          </p:cNvCxnSpPr>
          <p:nvPr/>
        </p:nvCxnSpPr>
        <p:spPr>
          <a:xfrm rot="16200000">
            <a:off x="4208790" y="4711789"/>
            <a:ext cx="769027" cy="136433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41D996BC-099A-AF0E-840D-DD65D809DD47}"/>
              </a:ext>
            </a:extLst>
          </p:cNvPr>
          <p:cNvCxnSpPr>
            <a:stCxn id="12" idx="6"/>
            <a:endCxn id="16" idx="0"/>
          </p:cNvCxnSpPr>
          <p:nvPr/>
        </p:nvCxnSpPr>
        <p:spPr>
          <a:xfrm rot="16200000">
            <a:off x="3975182" y="4945397"/>
            <a:ext cx="769027" cy="897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89707968-12DD-CE92-C58F-6E514DEBCA07}"/>
              </a:ext>
            </a:extLst>
          </p:cNvPr>
          <p:cNvCxnSpPr>
            <a:stCxn id="12" idx="6"/>
            <a:endCxn id="18" idx="0"/>
          </p:cNvCxnSpPr>
          <p:nvPr/>
        </p:nvCxnSpPr>
        <p:spPr>
          <a:xfrm rot="16200000">
            <a:off x="3736805" y="5174235"/>
            <a:ext cx="778566" cy="4299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6195E23A-7366-6B4A-03E4-A0FF2B5448D8}"/>
              </a:ext>
            </a:extLst>
          </p:cNvPr>
          <p:cNvCxnSpPr>
            <a:cxnSpLocks/>
            <a:stCxn id="12" idx="6"/>
            <a:endCxn id="21" idx="0"/>
          </p:cNvCxnSpPr>
          <p:nvPr/>
        </p:nvCxnSpPr>
        <p:spPr>
          <a:xfrm rot="16200000" flipV="1">
            <a:off x="3503197" y="5370531"/>
            <a:ext cx="778567" cy="37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D4F69D9A-C607-954D-A194-B860842E32C5}"/>
              </a:ext>
            </a:extLst>
          </p:cNvPr>
          <p:cNvCxnSpPr>
            <a:cxnSpLocks/>
            <a:stCxn id="22" idx="6"/>
            <a:endCxn id="13" idx="0"/>
          </p:cNvCxnSpPr>
          <p:nvPr/>
        </p:nvCxnSpPr>
        <p:spPr>
          <a:xfrm flipV="1">
            <a:off x="4375111" y="5009443"/>
            <a:ext cx="900360" cy="7785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AB91E0D9-6DC1-670E-BF16-6B31754AD7AF}"/>
              </a:ext>
            </a:extLst>
          </p:cNvPr>
          <p:cNvCxnSpPr>
            <a:cxnSpLocks/>
            <a:stCxn id="22" idx="6"/>
            <a:endCxn id="16" idx="0"/>
          </p:cNvCxnSpPr>
          <p:nvPr/>
        </p:nvCxnSpPr>
        <p:spPr>
          <a:xfrm flipV="1">
            <a:off x="4375111" y="5009443"/>
            <a:ext cx="433145" cy="7785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5929F858-58EE-C676-FB4B-5065CE93B244}"/>
              </a:ext>
            </a:extLst>
          </p:cNvPr>
          <p:cNvCxnSpPr>
            <a:cxnSpLocks/>
            <a:stCxn id="22" idx="6"/>
            <a:endCxn id="18" idx="0"/>
          </p:cNvCxnSpPr>
          <p:nvPr/>
        </p:nvCxnSpPr>
        <p:spPr>
          <a:xfrm flipH="1" flipV="1">
            <a:off x="4341041" y="4999905"/>
            <a:ext cx="34070" cy="788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D0DF551-91D7-0325-CD77-1AF35857A3CD}"/>
              </a:ext>
            </a:extLst>
          </p:cNvPr>
          <p:cNvCxnSpPr>
            <a:cxnSpLocks/>
            <a:stCxn id="22" idx="6"/>
            <a:endCxn id="21" idx="0"/>
          </p:cNvCxnSpPr>
          <p:nvPr/>
        </p:nvCxnSpPr>
        <p:spPr>
          <a:xfrm flipH="1" flipV="1">
            <a:off x="3873826" y="4999904"/>
            <a:ext cx="501285" cy="788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EED65201-57DE-FA91-998C-B97376D0D58F}"/>
              </a:ext>
            </a:extLst>
          </p:cNvPr>
          <p:cNvCxnSpPr>
            <a:stCxn id="23" idx="6"/>
            <a:endCxn id="13" idx="0"/>
          </p:cNvCxnSpPr>
          <p:nvPr/>
        </p:nvCxnSpPr>
        <p:spPr>
          <a:xfrm flipV="1">
            <a:off x="4800477" y="5009443"/>
            <a:ext cx="474994" cy="785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AA9434E4-918D-216D-71DB-889A5CD29145}"/>
              </a:ext>
            </a:extLst>
          </p:cNvPr>
          <p:cNvCxnSpPr>
            <a:stCxn id="23" idx="6"/>
            <a:endCxn id="16" idx="0"/>
          </p:cNvCxnSpPr>
          <p:nvPr/>
        </p:nvCxnSpPr>
        <p:spPr>
          <a:xfrm flipV="1">
            <a:off x="4800477" y="5009443"/>
            <a:ext cx="7779" cy="785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DE1A2622-57C2-2E48-2402-F63E0895BE31}"/>
              </a:ext>
            </a:extLst>
          </p:cNvPr>
          <p:cNvCxnSpPr>
            <a:stCxn id="23" idx="6"/>
            <a:endCxn id="18" idx="0"/>
          </p:cNvCxnSpPr>
          <p:nvPr/>
        </p:nvCxnSpPr>
        <p:spPr>
          <a:xfrm flipH="1" flipV="1">
            <a:off x="4341041" y="4999905"/>
            <a:ext cx="459436" cy="795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3AC9423-6432-875B-0199-688225DF0E34}"/>
              </a:ext>
            </a:extLst>
          </p:cNvPr>
          <p:cNvCxnSpPr>
            <a:stCxn id="23" idx="6"/>
            <a:endCxn id="21" idx="0"/>
          </p:cNvCxnSpPr>
          <p:nvPr/>
        </p:nvCxnSpPr>
        <p:spPr>
          <a:xfrm flipH="1" flipV="1">
            <a:off x="3873826" y="4999904"/>
            <a:ext cx="926651" cy="7954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0" name="直接连接符 1049">
            <a:extLst>
              <a:ext uri="{FF2B5EF4-FFF2-40B4-BE49-F238E27FC236}">
                <a16:creationId xmlns:a16="http://schemas.microsoft.com/office/drawing/2014/main" id="{6C174753-CDCC-46E5-26E8-1D5C51C6B010}"/>
              </a:ext>
            </a:extLst>
          </p:cNvPr>
          <p:cNvCxnSpPr>
            <a:stCxn id="25" idx="6"/>
            <a:endCxn id="21" idx="0"/>
          </p:cNvCxnSpPr>
          <p:nvPr/>
        </p:nvCxnSpPr>
        <p:spPr>
          <a:xfrm flipH="1" flipV="1">
            <a:off x="3873826" y="4999904"/>
            <a:ext cx="1369212" cy="8083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2" name="直接连接符 1051">
            <a:extLst>
              <a:ext uri="{FF2B5EF4-FFF2-40B4-BE49-F238E27FC236}">
                <a16:creationId xmlns:a16="http://schemas.microsoft.com/office/drawing/2014/main" id="{2EE26659-F412-D547-7726-FB7ED09A1DFA}"/>
              </a:ext>
            </a:extLst>
          </p:cNvPr>
          <p:cNvCxnSpPr>
            <a:stCxn id="25" idx="6"/>
            <a:endCxn id="18" idx="0"/>
          </p:cNvCxnSpPr>
          <p:nvPr/>
        </p:nvCxnSpPr>
        <p:spPr>
          <a:xfrm flipH="1" flipV="1">
            <a:off x="4341041" y="4999905"/>
            <a:ext cx="901997" cy="8083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4" name="直接连接符 1053">
            <a:extLst>
              <a:ext uri="{FF2B5EF4-FFF2-40B4-BE49-F238E27FC236}">
                <a16:creationId xmlns:a16="http://schemas.microsoft.com/office/drawing/2014/main" id="{5CDF0C84-0E31-877E-F484-C0AC1F346A4E}"/>
              </a:ext>
            </a:extLst>
          </p:cNvPr>
          <p:cNvCxnSpPr>
            <a:stCxn id="25" idx="6"/>
            <a:endCxn id="16" idx="0"/>
          </p:cNvCxnSpPr>
          <p:nvPr/>
        </p:nvCxnSpPr>
        <p:spPr>
          <a:xfrm flipH="1" flipV="1">
            <a:off x="4808256" y="5009443"/>
            <a:ext cx="434782" cy="798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6" name="直接连接符 1055">
            <a:extLst>
              <a:ext uri="{FF2B5EF4-FFF2-40B4-BE49-F238E27FC236}">
                <a16:creationId xmlns:a16="http://schemas.microsoft.com/office/drawing/2014/main" id="{C763172D-7DC3-B04A-D806-7E8B437B762C}"/>
              </a:ext>
            </a:extLst>
          </p:cNvPr>
          <p:cNvCxnSpPr>
            <a:stCxn id="25" idx="6"/>
            <a:endCxn id="13" idx="0"/>
          </p:cNvCxnSpPr>
          <p:nvPr/>
        </p:nvCxnSpPr>
        <p:spPr>
          <a:xfrm flipV="1">
            <a:off x="5243038" y="5009443"/>
            <a:ext cx="32433" cy="798843"/>
          </a:xfrm>
          <a:prstGeom prst="line">
            <a:avLst/>
          </a:prstGeom>
        </p:spPr>
        <p:style>
          <a:lnRef idx="1">
            <a:schemeClr val="accent1"/>
          </a:lnRef>
          <a:fillRef idx="0">
            <a:schemeClr val="accent1"/>
          </a:fillRef>
          <a:effectRef idx="0">
            <a:schemeClr val="accent1"/>
          </a:effectRef>
          <a:fontRef idx="minor">
            <a:schemeClr val="tx1"/>
          </a:fontRef>
        </p:style>
      </p:cxnSp>
      <p:sp>
        <p:nvSpPr>
          <p:cNvPr id="1070" name="文本框 1069">
            <a:extLst>
              <a:ext uri="{FF2B5EF4-FFF2-40B4-BE49-F238E27FC236}">
                <a16:creationId xmlns:a16="http://schemas.microsoft.com/office/drawing/2014/main" id="{D4B51007-97E2-C108-5CBE-65E316E3F61B}"/>
              </a:ext>
            </a:extLst>
          </p:cNvPr>
          <p:cNvSpPr txBox="1"/>
          <p:nvPr/>
        </p:nvSpPr>
        <p:spPr>
          <a:xfrm>
            <a:off x="4197037" y="4301387"/>
            <a:ext cx="1005277" cy="369332"/>
          </a:xfrm>
          <a:prstGeom prst="rect">
            <a:avLst/>
          </a:prstGeom>
          <a:noFill/>
        </p:spPr>
        <p:txBody>
          <a:bodyPr wrap="square" rtlCol="0">
            <a:spAutoFit/>
          </a:bodyPr>
          <a:lstStyle/>
          <a:p>
            <a:r>
              <a:rPr lang="en-US" altLang="zh-CN" dirty="0"/>
              <a:t>Hidden</a:t>
            </a:r>
            <a:endParaRPr lang="zh-CN" altLang="en-US" dirty="0"/>
          </a:p>
        </p:txBody>
      </p:sp>
      <p:sp>
        <p:nvSpPr>
          <p:cNvPr id="1071" name="文本框 1070">
            <a:extLst>
              <a:ext uri="{FF2B5EF4-FFF2-40B4-BE49-F238E27FC236}">
                <a16:creationId xmlns:a16="http://schemas.microsoft.com/office/drawing/2014/main" id="{9145EA18-9894-7412-DD12-47095CCFFDAD}"/>
              </a:ext>
            </a:extLst>
          </p:cNvPr>
          <p:cNvSpPr txBox="1"/>
          <p:nvPr/>
        </p:nvSpPr>
        <p:spPr>
          <a:xfrm>
            <a:off x="5370314" y="5255408"/>
            <a:ext cx="823721" cy="369332"/>
          </a:xfrm>
          <a:prstGeom prst="rect">
            <a:avLst/>
          </a:prstGeom>
          <a:noFill/>
        </p:spPr>
        <p:txBody>
          <a:bodyPr wrap="square" rtlCol="0">
            <a:spAutoFit/>
          </a:bodyPr>
          <a:lstStyle/>
          <a:p>
            <a:r>
              <a:rPr lang="en-US" altLang="zh-CN" dirty="0"/>
              <a:t>Visible</a:t>
            </a:r>
            <a:endParaRPr lang="zh-CN" altLang="en-US" dirty="0"/>
          </a:p>
        </p:txBody>
      </p:sp>
      <p:sp>
        <p:nvSpPr>
          <p:cNvPr id="1072" name="文本框 1071">
            <a:extLst>
              <a:ext uri="{FF2B5EF4-FFF2-40B4-BE49-F238E27FC236}">
                <a16:creationId xmlns:a16="http://schemas.microsoft.com/office/drawing/2014/main" id="{D8FDAA41-CA42-6814-78FE-D6AD3940F1AC}"/>
              </a:ext>
            </a:extLst>
          </p:cNvPr>
          <p:cNvSpPr txBox="1"/>
          <p:nvPr/>
        </p:nvSpPr>
        <p:spPr>
          <a:xfrm>
            <a:off x="4258546" y="6195075"/>
            <a:ext cx="926651" cy="369332"/>
          </a:xfrm>
          <a:prstGeom prst="rect">
            <a:avLst/>
          </a:prstGeom>
          <a:noFill/>
        </p:spPr>
        <p:txBody>
          <a:bodyPr wrap="square" rtlCol="0">
            <a:spAutoFit/>
          </a:bodyPr>
          <a:lstStyle/>
          <a:p>
            <a:r>
              <a:rPr lang="en-US" altLang="zh-CN" dirty="0"/>
              <a:t>Value</a:t>
            </a:r>
            <a:endParaRPr lang="zh-CN" altLang="en-US" dirty="0"/>
          </a:p>
        </p:txBody>
      </p:sp>
      <p:sp>
        <p:nvSpPr>
          <p:cNvPr id="1073" name="箭头: 右 1072">
            <a:extLst>
              <a:ext uri="{FF2B5EF4-FFF2-40B4-BE49-F238E27FC236}">
                <a16:creationId xmlns:a16="http://schemas.microsoft.com/office/drawing/2014/main" id="{A6CF9ADE-7D19-E67F-1F4B-8365A76FAA2B}"/>
              </a:ext>
            </a:extLst>
          </p:cNvPr>
          <p:cNvSpPr/>
          <p:nvPr/>
        </p:nvSpPr>
        <p:spPr>
          <a:xfrm rot="5400000">
            <a:off x="4178055" y="3521179"/>
            <a:ext cx="952625" cy="30777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074" name="箭头: 右 1073">
            <a:extLst>
              <a:ext uri="{FF2B5EF4-FFF2-40B4-BE49-F238E27FC236}">
                <a16:creationId xmlns:a16="http://schemas.microsoft.com/office/drawing/2014/main" id="{9C5FDB3A-4455-9012-E835-CFB8D5147F11}"/>
              </a:ext>
            </a:extLst>
          </p:cNvPr>
          <p:cNvSpPr/>
          <p:nvPr/>
        </p:nvSpPr>
        <p:spPr>
          <a:xfrm rot="8258040">
            <a:off x="3362432" y="2806517"/>
            <a:ext cx="506674" cy="214608"/>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075" name="箭头: 右 1074">
            <a:extLst>
              <a:ext uri="{FF2B5EF4-FFF2-40B4-BE49-F238E27FC236}">
                <a16:creationId xmlns:a16="http://schemas.microsoft.com/office/drawing/2014/main" id="{CF15BD31-142C-0253-40FD-19E785D5A9BB}"/>
              </a:ext>
            </a:extLst>
          </p:cNvPr>
          <p:cNvSpPr/>
          <p:nvPr/>
        </p:nvSpPr>
        <p:spPr>
          <a:xfrm rot="2864779">
            <a:off x="5424146" y="2796848"/>
            <a:ext cx="506674" cy="214608"/>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076" name="文本框 1075">
            <a:extLst>
              <a:ext uri="{FF2B5EF4-FFF2-40B4-BE49-F238E27FC236}">
                <a16:creationId xmlns:a16="http://schemas.microsoft.com/office/drawing/2014/main" id="{610A6A21-4B08-A6D3-ADD8-ACC96915ADAA}"/>
              </a:ext>
            </a:extLst>
          </p:cNvPr>
          <p:cNvSpPr txBox="1"/>
          <p:nvPr/>
        </p:nvSpPr>
        <p:spPr>
          <a:xfrm>
            <a:off x="2540403" y="3273537"/>
            <a:ext cx="1670122" cy="369332"/>
          </a:xfrm>
          <a:prstGeom prst="rect">
            <a:avLst/>
          </a:prstGeom>
          <a:noFill/>
        </p:spPr>
        <p:txBody>
          <a:bodyPr wrap="square" rtlCol="0">
            <a:spAutoFit/>
          </a:bodyPr>
          <a:lstStyle/>
          <a:p>
            <a:r>
              <a:rPr lang="zh-CN" altLang="en-US" dirty="0"/>
              <a:t>定性定量数据</a:t>
            </a:r>
          </a:p>
        </p:txBody>
      </p:sp>
      <p:sp>
        <p:nvSpPr>
          <p:cNvPr id="1077" name="文本框 1076">
            <a:extLst>
              <a:ext uri="{FF2B5EF4-FFF2-40B4-BE49-F238E27FC236}">
                <a16:creationId xmlns:a16="http://schemas.microsoft.com/office/drawing/2014/main" id="{F865E8AB-5A26-8266-F373-C26F84D6E429}"/>
              </a:ext>
            </a:extLst>
          </p:cNvPr>
          <p:cNvSpPr txBox="1"/>
          <p:nvPr/>
        </p:nvSpPr>
        <p:spPr>
          <a:xfrm>
            <a:off x="5531999" y="3279130"/>
            <a:ext cx="1727528" cy="1200329"/>
          </a:xfrm>
          <a:prstGeom prst="rect">
            <a:avLst/>
          </a:prstGeom>
          <a:noFill/>
        </p:spPr>
        <p:txBody>
          <a:bodyPr wrap="square" rtlCol="0">
            <a:spAutoFit/>
          </a:bodyPr>
          <a:lstStyle/>
          <a:p>
            <a:r>
              <a:rPr lang="zh-CN" altLang="en-US" dirty="0"/>
              <a:t>感官数据（常规方式为向量化之后设定为标准值）</a:t>
            </a:r>
          </a:p>
        </p:txBody>
      </p:sp>
      <p:sp>
        <p:nvSpPr>
          <p:cNvPr id="1105" name="流程图: 接点 1104">
            <a:extLst>
              <a:ext uri="{FF2B5EF4-FFF2-40B4-BE49-F238E27FC236}">
                <a16:creationId xmlns:a16="http://schemas.microsoft.com/office/drawing/2014/main" id="{12DF11C6-E0BA-3C40-FF83-522FCDBBB48A}"/>
              </a:ext>
            </a:extLst>
          </p:cNvPr>
          <p:cNvSpPr/>
          <p:nvPr/>
        </p:nvSpPr>
        <p:spPr>
          <a:xfrm rot="10800000">
            <a:off x="9542575" y="3403488"/>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06" name="组合 1105">
            <a:extLst>
              <a:ext uri="{FF2B5EF4-FFF2-40B4-BE49-F238E27FC236}">
                <a16:creationId xmlns:a16="http://schemas.microsoft.com/office/drawing/2014/main" id="{D0FA75D2-4B1E-EDAD-A039-ED7004F581E7}"/>
              </a:ext>
            </a:extLst>
          </p:cNvPr>
          <p:cNvGrpSpPr/>
          <p:nvPr/>
        </p:nvGrpSpPr>
        <p:grpSpPr>
          <a:xfrm rot="10800000">
            <a:off x="8417926" y="2067449"/>
            <a:ext cx="338712" cy="1730829"/>
            <a:chOff x="8512361" y="4018932"/>
            <a:chExt cx="338712" cy="1730829"/>
          </a:xfrm>
        </p:grpSpPr>
        <p:sp>
          <p:nvSpPr>
            <p:cNvPr id="1107" name="流程图: 接点 1106">
              <a:extLst>
                <a:ext uri="{FF2B5EF4-FFF2-40B4-BE49-F238E27FC236}">
                  <a16:creationId xmlns:a16="http://schemas.microsoft.com/office/drawing/2014/main" id="{67642D7E-E401-F850-8B26-63B8B6D3A1E0}"/>
                </a:ext>
              </a:extLst>
            </p:cNvPr>
            <p:cNvSpPr/>
            <p:nvPr/>
          </p:nvSpPr>
          <p:spPr>
            <a:xfrm rot="16200000">
              <a:off x="8512355" y="5420583"/>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8" name="流程图: 接点 1107">
              <a:extLst>
                <a:ext uri="{FF2B5EF4-FFF2-40B4-BE49-F238E27FC236}">
                  <a16:creationId xmlns:a16="http://schemas.microsoft.com/office/drawing/2014/main" id="{4D287557-C479-5614-4E08-374E253B59E1}"/>
                </a:ext>
              </a:extLst>
            </p:cNvPr>
            <p:cNvSpPr/>
            <p:nvPr/>
          </p:nvSpPr>
          <p:spPr>
            <a:xfrm rot="16200000">
              <a:off x="8512355" y="4953368"/>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9" name="流程图: 接点 1108">
              <a:extLst>
                <a:ext uri="{FF2B5EF4-FFF2-40B4-BE49-F238E27FC236}">
                  <a16:creationId xmlns:a16="http://schemas.microsoft.com/office/drawing/2014/main" id="{29DD7115-D9C0-44C0-56A3-5B766524F0C3}"/>
                </a:ext>
              </a:extLst>
            </p:cNvPr>
            <p:cNvSpPr/>
            <p:nvPr/>
          </p:nvSpPr>
          <p:spPr>
            <a:xfrm rot="16200000">
              <a:off x="8521894" y="4486153"/>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0" name="流程图: 接点 1109">
              <a:extLst>
                <a:ext uri="{FF2B5EF4-FFF2-40B4-BE49-F238E27FC236}">
                  <a16:creationId xmlns:a16="http://schemas.microsoft.com/office/drawing/2014/main" id="{8AEC88EA-EA0D-FDDD-A569-8B86EC5136DE}"/>
                </a:ext>
              </a:extLst>
            </p:cNvPr>
            <p:cNvSpPr/>
            <p:nvPr/>
          </p:nvSpPr>
          <p:spPr>
            <a:xfrm rot="16200000">
              <a:off x="8521895" y="4018938"/>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11" name="流程图: 接点 1110">
            <a:extLst>
              <a:ext uri="{FF2B5EF4-FFF2-40B4-BE49-F238E27FC236}">
                <a16:creationId xmlns:a16="http://schemas.microsoft.com/office/drawing/2014/main" id="{560195FF-FA5B-A101-8A00-9A53DDD4A30A}"/>
              </a:ext>
            </a:extLst>
          </p:cNvPr>
          <p:cNvSpPr/>
          <p:nvPr/>
        </p:nvSpPr>
        <p:spPr>
          <a:xfrm rot="10800000">
            <a:off x="9535201" y="2967814"/>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2" name="流程图: 接点 1111">
            <a:extLst>
              <a:ext uri="{FF2B5EF4-FFF2-40B4-BE49-F238E27FC236}">
                <a16:creationId xmlns:a16="http://schemas.microsoft.com/office/drawing/2014/main" id="{18BDE71D-6185-09DF-0BBA-6A1E918D1AB7}"/>
              </a:ext>
            </a:extLst>
          </p:cNvPr>
          <p:cNvSpPr/>
          <p:nvPr/>
        </p:nvSpPr>
        <p:spPr>
          <a:xfrm rot="10800000">
            <a:off x="9542575" y="2542448"/>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3" name="流程图: 接点 1112">
            <a:extLst>
              <a:ext uri="{FF2B5EF4-FFF2-40B4-BE49-F238E27FC236}">
                <a16:creationId xmlns:a16="http://schemas.microsoft.com/office/drawing/2014/main" id="{DF3243A9-4C6A-4427-1F99-5EFFBF06DCB3}"/>
              </a:ext>
            </a:extLst>
          </p:cNvPr>
          <p:cNvSpPr/>
          <p:nvPr/>
        </p:nvSpPr>
        <p:spPr>
          <a:xfrm rot="10800000">
            <a:off x="9535201" y="2111614"/>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4" name="直接连接符 1113">
            <a:extLst>
              <a:ext uri="{FF2B5EF4-FFF2-40B4-BE49-F238E27FC236}">
                <a16:creationId xmlns:a16="http://schemas.microsoft.com/office/drawing/2014/main" id="{04048664-7185-4EE5-CC2B-36ABB79E2018}"/>
              </a:ext>
            </a:extLst>
          </p:cNvPr>
          <p:cNvCxnSpPr>
            <a:cxnSpLocks/>
            <a:stCxn id="1105" idx="6"/>
            <a:endCxn id="1107" idx="0"/>
          </p:cNvCxnSpPr>
          <p:nvPr/>
        </p:nvCxnSpPr>
        <p:spPr>
          <a:xfrm flipH="1" flipV="1">
            <a:off x="8756638" y="2232041"/>
            <a:ext cx="785937" cy="1336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5" name="直接连接符 1114">
            <a:extLst>
              <a:ext uri="{FF2B5EF4-FFF2-40B4-BE49-F238E27FC236}">
                <a16:creationId xmlns:a16="http://schemas.microsoft.com/office/drawing/2014/main" id="{9EE328F1-D1B3-D845-EF55-C7601A921033}"/>
              </a:ext>
            </a:extLst>
          </p:cNvPr>
          <p:cNvCxnSpPr>
            <a:cxnSpLocks/>
            <a:stCxn id="1105" idx="6"/>
            <a:endCxn id="1108" idx="0"/>
          </p:cNvCxnSpPr>
          <p:nvPr/>
        </p:nvCxnSpPr>
        <p:spPr>
          <a:xfrm flipH="1" flipV="1">
            <a:off x="8756638" y="2699256"/>
            <a:ext cx="785937" cy="868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6" name="直接连接符 1115">
            <a:extLst>
              <a:ext uri="{FF2B5EF4-FFF2-40B4-BE49-F238E27FC236}">
                <a16:creationId xmlns:a16="http://schemas.microsoft.com/office/drawing/2014/main" id="{484719C0-FFF8-150C-FFA0-D6CE91DFB7D2}"/>
              </a:ext>
            </a:extLst>
          </p:cNvPr>
          <p:cNvCxnSpPr>
            <a:cxnSpLocks/>
            <a:stCxn id="1105" idx="6"/>
            <a:endCxn id="1109" idx="0"/>
          </p:cNvCxnSpPr>
          <p:nvPr/>
        </p:nvCxnSpPr>
        <p:spPr>
          <a:xfrm flipH="1" flipV="1">
            <a:off x="8747099" y="3166471"/>
            <a:ext cx="795476" cy="4016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7" name="直接连接符 1116">
            <a:extLst>
              <a:ext uri="{FF2B5EF4-FFF2-40B4-BE49-F238E27FC236}">
                <a16:creationId xmlns:a16="http://schemas.microsoft.com/office/drawing/2014/main" id="{51DD752A-F148-5745-6B80-D5DF01A6B8CC}"/>
              </a:ext>
            </a:extLst>
          </p:cNvPr>
          <p:cNvCxnSpPr>
            <a:cxnSpLocks/>
            <a:stCxn id="1105" idx="6"/>
            <a:endCxn id="1110" idx="0"/>
          </p:cNvCxnSpPr>
          <p:nvPr/>
        </p:nvCxnSpPr>
        <p:spPr>
          <a:xfrm flipH="1">
            <a:off x="8747098" y="3568074"/>
            <a:ext cx="795477" cy="656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8" name="直接连接符 1117">
            <a:extLst>
              <a:ext uri="{FF2B5EF4-FFF2-40B4-BE49-F238E27FC236}">
                <a16:creationId xmlns:a16="http://schemas.microsoft.com/office/drawing/2014/main" id="{EC283801-185C-9971-E857-052BB79C0F2B}"/>
              </a:ext>
            </a:extLst>
          </p:cNvPr>
          <p:cNvCxnSpPr>
            <a:cxnSpLocks/>
            <a:stCxn id="1111" idx="6"/>
            <a:endCxn id="1107" idx="0"/>
          </p:cNvCxnSpPr>
          <p:nvPr/>
        </p:nvCxnSpPr>
        <p:spPr>
          <a:xfrm rot="16200000" flipV="1">
            <a:off x="8695739" y="2292938"/>
            <a:ext cx="900360" cy="7785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9" name="直接连接符 1118">
            <a:extLst>
              <a:ext uri="{FF2B5EF4-FFF2-40B4-BE49-F238E27FC236}">
                <a16:creationId xmlns:a16="http://schemas.microsoft.com/office/drawing/2014/main" id="{B1E83AE1-6E79-9654-D0CF-BA170DBAA0B2}"/>
              </a:ext>
            </a:extLst>
          </p:cNvPr>
          <p:cNvCxnSpPr>
            <a:cxnSpLocks/>
            <a:stCxn id="1111" idx="6"/>
            <a:endCxn id="1108" idx="0"/>
          </p:cNvCxnSpPr>
          <p:nvPr/>
        </p:nvCxnSpPr>
        <p:spPr>
          <a:xfrm rot="16200000" flipV="1">
            <a:off x="8929347" y="2526546"/>
            <a:ext cx="433145" cy="7785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0" name="直接连接符 1119">
            <a:extLst>
              <a:ext uri="{FF2B5EF4-FFF2-40B4-BE49-F238E27FC236}">
                <a16:creationId xmlns:a16="http://schemas.microsoft.com/office/drawing/2014/main" id="{B9412F6E-3969-00CC-A446-42AB4DA4ABB4}"/>
              </a:ext>
            </a:extLst>
          </p:cNvPr>
          <p:cNvCxnSpPr>
            <a:cxnSpLocks/>
            <a:stCxn id="1111" idx="6"/>
            <a:endCxn id="1109" idx="0"/>
          </p:cNvCxnSpPr>
          <p:nvPr/>
        </p:nvCxnSpPr>
        <p:spPr>
          <a:xfrm rot="16200000" flipH="1" flipV="1">
            <a:off x="9124115" y="2755384"/>
            <a:ext cx="34070" cy="788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1" name="直接连接符 1120">
            <a:extLst>
              <a:ext uri="{FF2B5EF4-FFF2-40B4-BE49-F238E27FC236}">
                <a16:creationId xmlns:a16="http://schemas.microsoft.com/office/drawing/2014/main" id="{6F698245-19CB-A5F2-0624-EA06383B6C33}"/>
              </a:ext>
            </a:extLst>
          </p:cNvPr>
          <p:cNvCxnSpPr>
            <a:cxnSpLocks/>
            <a:stCxn id="1111" idx="6"/>
            <a:endCxn id="1110" idx="0"/>
          </p:cNvCxnSpPr>
          <p:nvPr/>
        </p:nvCxnSpPr>
        <p:spPr>
          <a:xfrm rot="16200000" flipH="1" flipV="1">
            <a:off x="8890507" y="2988991"/>
            <a:ext cx="501285" cy="788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2" name="直接连接符 1121">
            <a:extLst>
              <a:ext uri="{FF2B5EF4-FFF2-40B4-BE49-F238E27FC236}">
                <a16:creationId xmlns:a16="http://schemas.microsoft.com/office/drawing/2014/main" id="{340C774B-08D9-9D2F-B535-4BAB339B939C}"/>
              </a:ext>
            </a:extLst>
          </p:cNvPr>
          <p:cNvCxnSpPr>
            <a:cxnSpLocks/>
            <a:stCxn id="1112" idx="6"/>
            <a:endCxn id="1107" idx="0"/>
          </p:cNvCxnSpPr>
          <p:nvPr/>
        </p:nvCxnSpPr>
        <p:spPr>
          <a:xfrm rot="16200000" flipV="1">
            <a:off x="8912109" y="2076568"/>
            <a:ext cx="474994" cy="785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3" name="直接连接符 1122">
            <a:extLst>
              <a:ext uri="{FF2B5EF4-FFF2-40B4-BE49-F238E27FC236}">
                <a16:creationId xmlns:a16="http://schemas.microsoft.com/office/drawing/2014/main" id="{7AC0163D-2177-2D8A-A22D-56434C292126}"/>
              </a:ext>
            </a:extLst>
          </p:cNvPr>
          <p:cNvCxnSpPr>
            <a:cxnSpLocks/>
            <a:stCxn id="1112" idx="6"/>
            <a:endCxn id="1108" idx="0"/>
          </p:cNvCxnSpPr>
          <p:nvPr/>
        </p:nvCxnSpPr>
        <p:spPr>
          <a:xfrm rot="16200000" flipV="1">
            <a:off x="9145717" y="2310176"/>
            <a:ext cx="7779" cy="785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4" name="直接连接符 1123">
            <a:extLst>
              <a:ext uri="{FF2B5EF4-FFF2-40B4-BE49-F238E27FC236}">
                <a16:creationId xmlns:a16="http://schemas.microsoft.com/office/drawing/2014/main" id="{94C51A9D-A2CD-CEB8-F15C-6B43752F2788}"/>
              </a:ext>
            </a:extLst>
          </p:cNvPr>
          <p:cNvCxnSpPr>
            <a:cxnSpLocks/>
            <a:stCxn id="1112" idx="6"/>
            <a:endCxn id="1109" idx="0"/>
          </p:cNvCxnSpPr>
          <p:nvPr/>
        </p:nvCxnSpPr>
        <p:spPr>
          <a:xfrm rot="16200000" flipH="1" flipV="1">
            <a:off x="8915119" y="2539014"/>
            <a:ext cx="459436" cy="795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5" name="直接连接符 1124">
            <a:extLst>
              <a:ext uri="{FF2B5EF4-FFF2-40B4-BE49-F238E27FC236}">
                <a16:creationId xmlns:a16="http://schemas.microsoft.com/office/drawing/2014/main" id="{AB0AC0FB-4EDB-F194-7766-2EC1936A8717}"/>
              </a:ext>
            </a:extLst>
          </p:cNvPr>
          <p:cNvCxnSpPr>
            <a:cxnSpLocks/>
            <a:stCxn id="1112" idx="6"/>
            <a:endCxn id="1110" idx="0"/>
          </p:cNvCxnSpPr>
          <p:nvPr/>
        </p:nvCxnSpPr>
        <p:spPr>
          <a:xfrm rot="16200000" flipH="1" flipV="1">
            <a:off x="8681511" y="2772621"/>
            <a:ext cx="926651" cy="7954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6" name="直接连接符 1125">
            <a:extLst>
              <a:ext uri="{FF2B5EF4-FFF2-40B4-BE49-F238E27FC236}">
                <a16:creationId xmlns:a16="http://schemas.microsoft.com/office/drawing/2014/main" id="{97075F03-FC93-B8F1-1628-B050FF8DDB51}"/>
              </a:ext>
            </a:extLst>
          </p:cNvPr>
          <p:cNvCxnSpPr>
            <a:cxnSpLocks/>
            <a:stCxn id="1113" idx="6"/>
            <a:endCxn id="1110" idx="0"/>
          </p:cNvCxnSpPr>
          <p:nvPr/>
        </p:nvCxnSpPr>
        <p:spPr>
          <a:xfrm flipH="1">
            <a:off x="8747098" y="2276200"/>
            <a:ext cx="788103" cy="13574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7" name="直接连接符 1126">
            <a:extLst>
              <a:ext uri="{FF2B5EF4-FFF2-40B4-BE49-F238E27FC236}">
                <a16:creationId xmlns:a16="http://schemas.microsoft.com/office/drawing/2014/main" id="{3A98B1DC-61B4-4500-2300-7DAB5E8F465D}"/>
              </a:ext>
            </a:extLst>
          </p:cNvPr>
          <p:cNvCxnSpPr>
            <a:cxnSpLocks/>
            <a:stCxn id="1113" idx="6"/>
            <a:endCxn id="1109" idx="0"/>
          </p:cNvCxnSpPr>
          <p:nvPr/>
        </p:nvCxnSpPr>
        <p:spPr>
          <a:xfrm flipH="1">
            <a:off x="8747099" y="2276200"/>
            <a:ext cx="788102" cy="8902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8" name="直接连接符 1127">
            <a:extLst>
              <a:ext uri="{FF2B5EF4-FFF2-40B4-BE49-F238E27FC236}">
                <a16:creationId xmlns:a16="http://schemas.microsoft.com/office/drawing/2014/main" id="{ADA31188-6FEC-FEEC-505B-8311E9124B3A}"/>
              </a:ext>
            </a:extLst>
          </p:cNvPr>
          <p:cNvCxnSpPr>
            <a:cxnSpLocks/>
            <a:stCxn id="1113" idx="6"/>
            <a:endCxn id="1108" idx="0"/>
          </p:cNvCxnSpPr>
          <p:nvPr/>
        </p:nvCxnSpPr>
        <p:spPr>
          <a:xfrm flipH="1">
            <a:off x="8756638" y="2276200"/>
            <a:ext cx="778563" cy="423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9" name="直接连接符 1128">
            <a:extLst>
              <a:ext uri="{FF2B5EF4-FFF2-40B4-BE49-F238E27FC236}">
                <a16:creationId xmlns:a16="http://schemas.microsoft.com/office/drawing/2014/main" id="{2F5EDF36-A41D-8B29-D94E-064BADF8C19F}"/>
              </a:ext>
            </a:extLst>
          </p:cNvPr>
          <p:cNvCxnSpPr>
            <a:cxnSpLocks/>
            <a:stCxn id="1113" idx="6"/>
            <a:endCxn id="1107" idx="0"/>
          </p:cNvCxnSpPr>
          <p:nvPr/>
        </p:nvCxnSpPr>
        <p:spPr>
          <a:xfrm flipH="1" flipV="1">
            <a:off x="8756638" y="2232041"/>
            <a:ext cx="778563" cy="44159"/>
          </a:xfrm>
          <a:prstGeom prst="line">
            <a:avLst/>
          </a:prstGeom>
        </p:spPr>
        <p:style>
          <a:lnRef idx="1">
            <a:schemeClr val="accent1"/>
          </a:lnRef>
          <a:fillRef idx="0">
            <a:schemeClr val="accent1"/>
          </a:fillRef>
          <a:effectRef idx="0">
            <a:schemeClr val="accent1"/>
          </a:effectRef>
          <a:fontRef idx="minor">
            <a:schemeClr val="tx1"/>
          </a:fontRef>
        </p:style>
      </p:cxnSp>
      <p:sp>
        <p:nvSpPr>
          <p:cNvPr id="1161" name="流程图: 接点 1160">
            <a:extLst>
              <a:ext uri="{FF2B5EF4-FFF2-40B4-BE49-F238E27FC236}">
                <a16:creationId xmlns:a16="http://schemas.microsoft.com/office/drawing/2014/main" id="{2426E69E-BED7-AD1D-1082-BCE29D593FD0}"/>
              </a:ext>
            </a:extLst>
          </p:cNvPr>
          <p:cNvSpPr/>
          <p:nvPr/>
        </p:nvSpPr>
        <p:spPr>
          <a:xfrm rot="10800000">
            <a:off x="8427466" y="3945631"/>
            <a:ext cx="329184" cy="329172"/>
          </a:xfrm>
          <a:prstGeom prst="flowChartConnector">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2" name="流程图: 接点 1161">
            <a:extLst>
              <a:ext uri="{FF2B5EF4-FFF2-40B4-BE49-F238E27FC236}">
                <a16:creationId xmlns:a16="http://schemas.microsoft.com/office/drawing/2014/main" id="{B89D36C2-D90E-0388-315E-9EA964EAB644}"/>
              </a:ext>
            </a:extLst>
          </p:cNvPr>
          <p:cNvSpPr/>
          <p:nvPr/>
        </p:nvSpPr>
        <p:spPr>
          <a:xfrm rot="10800000">
            <a:off x="10745407" y="3198754"/>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3" name="流程图: 接点 1162">
            <a:extLst>
              <a:ext uri="{FF2B5EF4-FFF2-40B4-BE49-F238E27FC236}">
                <a16:creationId xmlns:a16="http://schemas.microsoft.com/office/drawing/2014/main" id="{ED4F5736-41F4-A0DC-A3D3-119F4D8A5178}"/>
              </a:ext>
            </a:extLst>
          </p:cNvPr>
          <p:cNvSpPr/>
          <p:nvPr/>
        </p:nvSpPr>
        <p:spPr>
          <a:xfrm rot="10800000">
            <a:off x="10745407" y="2744458"/>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4" name="流程图: 接点 1163">
            <a:extLst>
              <a:ext uri="{FF2B5EF4-FFF2-40B4-BE49-F238E27FC236}">
                <a16:creationId xmlns:a16="http://schemas.microsoft.com/office/drawing/2014/main" id="{4E3AD52B-CF5F-7A91-9454-4C55A308799E}"/>
              </a:ext>
            </a:extLst>
          </p:cNvPr>
          <p:cNvSpPr/>
          <p:nvPr/>
        </p:nvSpPr>
        <p:spPr>
          <a:xfrm rot="10800000">
            <a:off x="8417914" y="1572152"/>
            <a:ext cx="329184" cy="329172"/>
          </a:xfrm>
          <a:prstGeom prst="flowChartConnector">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5" name="文本框 1164">
            <a:extLst>
              <a:ext uri="{FF2B5EF4-FFF2-40B4-BE49-F238E27FC236}">
                <a16:creationId xmlns:a16="http://schemas.microsoft.com/office/drawing/2014/main" id="{4BE5DFD4-DA1A-C949-5123-FBA2F05CFECF}"/>
              </a:ext>
            </a:extLst>
          </p:cNvPr>
          <p:cNvSpPr txBox="1"/>
          <p:nvPr/>
        </p:nvSpPr>
        <p:spPr>
          <a:xfrm>
            <a:off x="8747098" y="685508"/>
            <a:ext cx="1859863" cy="923330"/>
          </a:xfrm>
          <a:prstGeom prst="rect">
            <a:avLst/>
          </a:prstGeom>
          <a:noFill/>
        </p:spPr>
        <p:txBody>
          <a:bodyPr wrap="square" rtlCol="0">
            <a:spAutoFit/>
          </a:bodyPr>
          <a:lstStyle/>
          <a:p>
            <a:r>
              <a:rPr lang="zh-CN" altLang="en-US" dirty="0">
                <a:solidFill>
                  <a:srgbClr val="FF0000"/>
                </a:solidFill>
              </a:rPr>
              <a:t>优化</a:t>
            </a:r>
            <a:r>
              <a:rPr lang="en-US" altLang="zh-CN" dirty="0">
                <a:solidFill>
                  <a:srgbClr val="FF0000"/>
                </a:solidFill>
              </a:rPr>
              <a:t>1</a:t>
            </a:r>
            <a:r>
              <a:rPr lang="zh-CN" altLang="en-US" dirty="0">
                <a:solidFill>
                  <a:srgbClr val="FF0000"/>
                </a:solidFill>
              </a:rPr>
              <a:t>：原始部分</a:t>
            </a:r>
            <a:r>
              <a:rPr lang="en-US" altLang="zh-CN" dirty="0">
                <a:solidFill>
                  <a:srgbClr val="FF0000"/>
                </a:solidFill>
              </a:rPr>
              <a:t>Output</a:t>
            </a:r>
            <a:r>
              <a:rPr lang="zh-CN" altLang="en-US" dirty="0">
                <a:solidFill>
                  <a:srgbClr val="FF0000"/>
                </a:solidFill>
              </a:rPr>
              <a:t>前移防止过拟合</a:t>
            </a:r>
          </a:p>
        </p:txBody>
      </p:sp>
      <p:cxnSp>
        <p:nvCxnSpPr>
          <p:cNvPr id="1167" name="直接连接符 1166">
            <a:extLst>
              <a:ext uri="{FF2B5EF4-FFF2-40B4-BE49-F238E27FC236}">
                <a16:creationId xmlns:a16="http://schemas.microsoft.com/office/drawing/2014/main" id="{436E9410-F192-AF5A-C04E-1016F4AC70C1}"/>
              </a:ext>
            </a:extLst>
          </p:cNvPr>
          <p:cNvCxnSpPr>
            <a:stCxn id="1164" idx="2"/>
            <a:endCxn id="1113" idx="6"/>
          </p:cNvCxnSpPr>
          <p:nvPr/>
        </p:nvCxnSpPr>
        <p:spPr>
          <a:xfrm>
            <a:off x="8747098" y="1736738"/>
            <a:ext cx="788103" cy="539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9" name="直接连接符 1168">
            <a:extLst>
              <a:ext uri="{FF2B5EF4-FFF2-40B4-BE49-F238E27FC236}">
                <a16:creationId xmlns:a16="http://schemas.microsoft.com/office/drawing/2014/main" id="{D4CFD79D-90E4-E115-3D03-81B0D08330F2}"/>
              </a:ext>
            </a:extLst>
          </p:cNvPr>
          <p:cNvCxnSpPr>
            <a:stCxn id="1164" idx="2"/>
            <a:endCxn id="1112" idx="6"/>
          </p:cNvCxnSpPr>
          <p:nvPr/>
        </p:nvCxnSpPr>
        <p:spPr>
          <a:xfrm>
            <a:off x="8747098" y="1736738"/>
            <a:ext cx="795477" cy="970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1" name="直接连接符 1170">
            <a:extLst>
              <a:ext uri="{FF2B5EF4-FFF2-40B4-BE49-F238E27FC236}">
                <a16:creationId xmlns:a16="http://schemas.microsoft.com/office/drawing/2014/main" id="{1305AD63-27F2-3230-E554-3B8FD6BDF988}"/>
              </a:ext>
            </a:extLst>
          </p:cNvPr>
          <p:cNvCxnSpPr>
            <a:stCxn id="1164" idx="2"/>
            <a:endCxn id="1111" idx="6"/>
          </p:cNvCxnSpPr>
          <p:nvPr/>
        </p:nvCxnSpPr>
        <p:spPr>
          <a:xfrm>
            <a:off x="8747098" y="1736738"/>
            <a:ext cx="788103" cy="1395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3" name="直接连接符 1172">
            <a:extLst>
              <a:ext uri="{FF2B5EF4-FFF2-40B4-BE49-F238E27FC236}">
                <a16:creationId xmlns:a16="http://schemas.microsoft.com/office/drawing/2014/main" id="{CE7E0197-AD5C-E894-A21B-8DABF2B44065}"/>
              </a:ext>
            </a:extLst>
          </p:cNvPr>
          <p:cNvCxnSpPr>
            <a:stCxn id="1164" idx="2"/>
            <a:endCxn id="1105" idx="6"/>
          </p:cNvCxnSpPr>
          <p:nvPr/>
        </p:nvCxnSpPr>
        <p:spPr>
          <a:xfrm>
            <a:off x="8747098" y="1736738"/>
            <a:ext cx="795477" cy="18313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5" name="直接连接符 1174">
            <a:extLst>
              <a:ext uri="{FF2B5EF4-FFF2-40B4-BE49-F238E27FC236}">
                <a16:creationId xmlns:a16="http://schemas.microsoft.com/office/drawing/2014/main" id="{2637928A-ECA9-1ACE-B345-D67FAA73C79A}"/>
              </a:ext>
            </a:extLst>
          </p:cNvPr>
          <p:cNvCxnSpPr>
            <a:stCxn id="1161" idx="2"/>
            <a:endCxn id="1113" idx="6"/>
          </p:cNvCxnSpPr>
          <p:nvPr/>
        </p:nvCxnSpPr>
        <p:spPr>
          <a:xfrm flipV="1">
            <a:off x="8756650" y="2276200"/>
            <a:ext cx="778551" cy="18340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7" name="直接连接符 1176">
            <a:extLst>
              <a:ext uri="{FF2B5EF4-FFF2-40B4-BE49-F238E27FC236}">
                <a16:creationId xmlns:a16="http://schemas.microsoft.com/office/drawing/2014/main" id="{69730DA0-2806-0515-2081-EFDB5B1967F4}"/>
              </a:ext>
            </a:extLst>
          </p:cNvPr>
          <p:cNvCxnSpPr>
            <a:stCxn id="1161" idx="2"/>
            <a:endCxn id="1112" idx="6"/>
          </p:cNvCxnSpPr>
          <p:nvPr/>
        </p:nvCxnSpPr>
        <p:spPr>
          <a:xfrm flipV="1">
            <a:off x="8756650" y="2707034"/>
            <a:ext cx="785925" cy="1403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9" name="直接连接符 1178">
            <a:extLst>
              <a:ext uri="{FF2B5EF4-FFF2-40B4-BE49-F238E27FC236}">
                <a16:creationId xmlns:a16="http://schemas.microsoft.com/office/drawing/2014/main" id="{2F61A9C1-FF03-7A25-70C3-B85B4899E066}"/>
              </a:ext>
            </a:extLst>
          </p:cNvPr>
          <p:cNvCxnSpPr>
            <a:stCxn id="1161" idx="2"/>
            <a:endCxn id="1111" idx="6"/>
          </p:cNvCxnSpPr>
          <p:nvPr/>
        </p:nvCxnSpPr>
        <p:spPr>
          <a:xfrm flipV="1">
            <a:off x="8756650" y="3132400"/>
            <a:ext cx="778551" cy="9778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1" name="直接连接符 1180">
            <a:extLst>
              <a:ext uri="{FF2B5EF4-FFF2-40B4-BE49-F238E27FC236}">
                <a16:creationId xmlns:a16="http://schemas.microsoft.com/office/drawing/2014/main" id="{7493C454-E16D-D46A-A47F-9BAD12E454BC}"/>
              </a:ext>
            </a:extLst>
          </p:cNvPr>
          <p:cNvCxnSpPr>
            <a:stCxn id="1161" idx="2"/>
            <a:endCxn id="1105" idx="6"/>
          </p:cNvCxnSpPr>
          <p:nvPr/>
        </p:nvCxnSpPr>
        <p:spPr>
          <a:xfrm flipV="1">
            <a:off x="8756650" y="3568074"/>
            <a:ext cx="785925" cy="542143"/>
          </a:xfrm>
          <a:prstGeom prst="line">
            <a:avLst/>
          </a:prstGeom>
        </p:spPr>
        <p:style>
          <a:lnRef idx="1">
            <a:schemeClr val="accent1"/>
          </a:lnRef>
          <a:fillRef idx="0">
            <a:schemeClr val="accent1"/>
          </a:fillRef>
          <a:effectRef idx="0">
            <a:schemeClr val="accent1"/>
          </a:effectRef>
          <a:fontRef idx="minor">
            <a:schemeClr val="tx1"/>
          </a:fontRef>
        </p:style>
      </p:cxnSp>
      <p:sp>
        <p:nvSpPr>
          <p:cNvPr id="1182" name="文本框 1181">
            <a:extLst>
              <a:ext uri="{FF2B5EF4-FFF2-40B4-BE49-F238E27FC236}">
                <a16:creationId xmlns:a16="http://schemas.microsoft.com/office/drawing/2014/main" id="{F4623A25-8507-D9F3-BAA7-B3FBC7727E8E}"/>
              </a:ext>
            </a:extLst>
          </p:cNvPr>
          <p:cNvSpPr txBox="1"/>
          <p:nvPr/>
        </p:nvSpPr>
        <p:spPr>
          <a:xfrm>
            <a:off x="9576944" y="2542452"/>
            <a:ext cx="738664" cy="754534"/>
          </a:xfrm>
          <a:prstGeom prst="rect">
            <a:avLst/>
          </a:prstGeom>
          <a:noFill/>
        </p:spPr>
        <p:txBody>
          <a:bodyPr vert="eaVert" wrap="square" rtlCol="0">
            <a:spAutoFit/>
          </a:bodyPr>
          <a:lstStyle/>
          <a:p>
            <a:r>
              <a:rPr lang="en-US" altLang="zh-CN" dirty="0"/>
              <a:t>…………</a:t>
            </a:r>
          </a:p>
        </p:txBody>
      </p:sp>
      <p:sp>
        <p:nvSpPr>
          <p:cNvPr id="1183" name="流程图: 接点 1182">
            <a:extLst>
              <a:ext uri="{FF2B5EF4-FFF2-40B4-BE49-F238E27FC236}">
                <a16:creationId xmlns:a16="http://schemas.microsoft.com/office/drawing/2014/main" id="{F922448A-7788-34F1-A6FC-67AC56C9B5B7}"/>
              </a:ext>
            </a:extLst>
          </p:cNvPr>
          <p:cNvSpPr/>
          <p:nvPr/>
        </p:nvSpPr>
        <p:spPr>
          <a:xfrm>
            <a:off x="2543481" y="3198754"/>
            <a:ext cx="1694102" cy="515708"/>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4" name="流程图: 接点 1183">
            <a:extLst>
              <a:ext uri="{FF2B5EF4-FFF2-40B4-BE49-F238E27FC236}">
                <a16:creationId xmlns:a16="http://schemas.microsoft.com/office/drawing/2014/main" id="{A712A179-E90F-8AB8-D60D-7A68F90FE294}"/>
              </a:ext>
            </a:extLst>
          </p:cNvPr>
          <p:cNvSpPr/>
          <p:nvPr/>
        </p:nvSpPr>
        <p:spPr>
          <a:xfrm>
            <a:off x="5406443" y="3059669"/>
            <a:ext cx="1808639" cy="1611048"/>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5" name="箭头: 右 1184">
            <a:extLst>
              <a:ext uri="{FF2B5EF4-FFF2-40B4-BE49-F238E27FC236}">
                <a16:creationId xmlns:a16="http://schemas.microsoft.com/office/drawing/2014/main" id="{A5CFE509-911C-05BE-B14E-1166608206A2}"/>
              </a:ext>
            </a:extLst>
          </p:cNvPr>
          <p:cNvSpPr/>
          <p:nvPr/>
        </p:nvSpPr>
        <p:spPr>
          <a:xfrm>
            <a:off x="6096000" y="2205748"/>
            <a:ext cx="1727528" cy="646329"/>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186" name="流程图: 接点 1185">
            <a:extLst>
              <a:ext uri="{FF2B5EF4-FFF2-40B4-BE49-F238E27FC236}">
                <a16:creationId xmlns:a16="http://schemas.microsoft.com/office/drawing/2014/main" id="{9C0BF540-336E-2D73-1202-204397322949}"/>
              </a:ext>
            </a:extLst>
          </p:cNvPr>
          <p:cNvSpPr/>
          <p:nvPr/>
        </p:nvSpPr>
        <p:spPr>
          <a:xfrm rot="10800000">
            <a:off x="10745407" y="2259565"/>
            <a:ext cx="329184" cy="329172"/>
          </a:xfrm>
          <a:prstGeom prst="flowChartConnector">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88" name="直接连接符 1187">
            <a:extLst>
              <a:ext uri="{FF2B5EF4-FFF2-40B4-BE49-F238E27FC236}">
                <a16:creationId xmlns:a16="http://schemas.microsoft.com/office/drawing/2014/main" id="{1065F758-95D0-1E51-A7F1-8DF8D5135A90}"/>
              </a:ext>
            </a:extLst>
          </p:cNvPr>
          <p:cNvCxnSpPr>
            <a:stCxn id="1182" idx="3"/>
            <a:endCxn id="1186" idx="6"/>
          </p:cNvCxnSpPr>
          <p:nvPr/>
        </p:nvCxnSpPr>
        <p:spPr>
          <a:xfrm flipV="1">
            <a:off x="10315608" y="2424151"/>
            <a:ext cx="429799" cy="4955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0" name="直接连接符 1189">
            <a:extLst>
              <a:ext uri="{FF2B5EF4-FFF2-40B4-BE49-F238E27FC236}">
                <a16:creationId xmlns:a16="http://schemas.microsoft.com/office/drawing/2014/main" id="{56CA17B2-8FC2-179D-75F9-C463F5B126BE}"/>
              </a:ext>
            </a:extLst>
          </p:cNvPr>
          <p:cNvCxnSpPr>
            <a:stCxn id="1182" idx="3"/>
            <a:endCxn id="1163" idx="6"/>
          </p:cNvCxnSpPr>
          <p:nvPr/>
        </p:nvCxnSpPr>
        <p:spPr>
          <a:xfrm flipV="1">
            <a:off x="10315608" y="2909044"/>
            <a:ext cx="429799" cy="106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4" name="直接连接符 1193">
            <a:extLst>
              <a:ext uri="{FF2B5EF4-FFF2-40B4-BE49-F238E27FC236}">
                <a16:creationId xmlns:a16="http://schemas.microsoft.com/office/drawing/2014/main" id="{5841DBEF-4E38-AA2A-2155-97A93D209787}"/>
              </a:ext>
            </a:extLst>
          </p:cNvPr>
          <p:cNvCxnSpPr>
            <a:stCxn id="1182" idx="3"/>
            <a:endCxn id="1162" idx="6"/>
          </p:cNvCxnSpPr>
          <p:nvPr/>
        </p:nvCxnSpPr>
        <p:spPr>
          <a:xfrm>
            <a:off x="10315608" y="2919719"/>
            <a:ext cx="429799" cy="443621"/>
          </a:xfrm>
          <a:prstGeom prst="line">
            <a:avLst/>
          </a:prstGeom>
        </p:spPr>
        <p:style>
          <a:lnRef idx="1">
            <a:schemeClr val="accent1"/>
          </a:lnRef>
          <a:fillRef idx="0">
            <a:schemeClr val="accent1"/>
          </a:fillRef>
          <a:effectRef idx="0">
            <a:schemeClr val="accent1"/>
          </a:effectRef>
          <a:fontRef idx="minor">
            <a:schemeClr val="tx1"/>
          </a:fontRef>
        </p:style>
      </p:cxnSp>
      <p:sp>
        <p:nvSpPr>
          <p:cNvPr id="1195" name="箭头: 右 1194">
            <a:extLst>
              <a:ext uri="{FF2B5EF4-FFF2-40B4-BE49-F238E27FC236}">
                <a16:creationId xmlns:a16="http://schemas.microsoft.com/office/drawing/2014/main" id="{1D898F68-4689-5342-56B4-9ABA72407ED3}"/>
              </a:ext>
            </a:extLst>
          </p:cNvPr>
          <p:cNvSpPr/>
          <p:nvPr/>
        </p:nvSpPr>
        <p:spPr>
          <a:xfrm>
            <a:off x="5983902" y="5330996"/>
            <a:ext cx="823721" cy="293744"/>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197" name="文本框 1196">
            <a:extLst>
              <a:ext uri="{FF2B5EF4-FFF2-40B4-BE49-F238E27FC236}">
                <a16:creationId xmlns:a16="http://schemas.microsoft.com/office/drawing/2014/main" id="{11594F6A-0F6B-ED21-24E9-9FC795772FAD}"/>
              </a:ext>
            </a:extLst>
          </p:cNvPr>
          <p:cNvSpPr txBox="1"/>
          <p:nvPr/>
        </p:nvSpPr>
        <p:spPr>
          <a:xfrm>
            <a:off x="6781684" y="5050729"/>
            <a:ext cx="1592862" cy="1477328"/>
          </a:xfrm>
          <a:prstGeom prst="rect">
            <a:avLst/>
          </a:prstGeom>
          <a:noFill/>
        </p:spPr>
        <p:txBody>
          <a:bodyPr wrap="square" rtlCol="0">
            <a:spAutoFit/>
          </a:bodyPr>
          <a:lstStyle/>
          <a:p>
            <a:r>
              <a:rPr lang="zh-CN" altLang="en-US" dirty="0">
                <a:solidFill>
                  <a:srgbClr val="FF0000"/>
                </a:solidFill>
              </a:rPr>
              <a:t>优化</a:t>
            </a:r>
            <a:r>
              <a:rPr lang="en-US" altLang="zh-CN" dirty="0">
                <a:solidFill>
                  <a:srgbClr val="FF0000"/>
                </a:solidFill>
              </a:rPr>
              <a:t>2</a:t>
            </a:r>
            <a:r>
              <a:rPr lang="zh-CN" altLang="en-US" dirty="0">
                <a:solidFill>
                  <a:srgbClr val="FF0000"/>
                </a:solidFill>
              </a:rPr>
              <a:t>：阈值、连接权值二次建模获得单一化合物与感官词的联系图</a:t>
            </a:r>
          </a:p>
        </p:txBody>
      </p:sp>
      <p:sp>
        <p:nvSpPr>
          <p:cNvPr id="1198" name="箭头: 右 1197">
            <a:extLst>
              <a:ext uri="{FF2B5EF4-FFF2-40B4-BE49-F238E27FC236}">
                <a16:creationId xmlns:a16="http://schemas.microsoft.com/office/drawing/2014/main" id="{0428115A-6121-DA77-8020-C21ED3C5F41F}"/>
              </a:ext>
            </a:extLst>
          </p:cNvPr>
          <p:cNvSpPr/>
          <p:nvPr/>
        </p:nvSpPr>
        <p:spPr>
          <a:xfrm>
            <a:off x="8256744" y="5339855"/>
            <a:ext cx="499893" cy="329169"/>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pSp>
        <p:nvGrpSpPr>
          <p:cNvPr id="1210" name="组合 1209">
            <a:extLst>
              <a:ext uri="{FF2B5EF4-FFF2-40B4-BE49-F238E27FC236}">
                <a16:creationId xmlns:a16="http://schemas.microsoft.com/office/drawing/2014/main" id="{E53DE237-B243-3309-0A67-4A8C8B6D197C}"/>
              </a:ext>
            </a:extLst>
          </p:cNvPr>
          <p:cNvGrpSpPr/>
          <p:nvPr/>
        </p:nvGrpSpPr>
        <p:grpSpPr>
          <a:xfrm>
            <a:off x="8427466" y="4053550"/>
            <a:ext cx="3433050" cy="2773402"/>
            <a:chOff x="8921242" y="4084598"/>
            <a:chExt cx="3433050" cy="2773402"/>
          </a:xfrm>
        </p:grpSpPr>
        <p:pic>
          <p:nvPicPr>
            <p:cNvPr id="1199" name="Picture 4" descr="酱香型白酒轮次基酒感官特征及挥发性成分差异规律分析">
              <a:extLst>
                <a:ext uri="{FF2B5EF4-FFF2-40B4-BE49-F238E27FC236}">
                  <a16:creationId xmlns:a16="http://schemas.microsoft.com/office/drawing/2014/main" id="{A14C87C1-CFC5-0EB9-9AAF-052A41EC0D84}"/>
                </a:ext>
              </a:extLst>
            </p:cNvPr>
            <p:cNvPicPr>
              <a:picLocks noChangeArrowheads="1"/>
            </p:cNvPicPr>
            <p:nvPr/>
          </p:nvPicPr>
          <p:blipFill rotWithShape="1">
            <a:blip r:embed="rId5">
              <a:extLst>
                <a:ext uri="{28A0092B-C50C-407E-A947-70E740481C1C}">
                  <a14:useLocalDpi xmlns:a14="http://schemas.microsoft.com/office/drawing/2010/main" val="0"/>
                </a:ext>
              </a:extLst>
            </a:blip>
            <a:srcRect l="76302" t="6855" r="4345" b="60912"/>
            <a:stretch>
              <a:fillRect/>
            </a:stretch>
          </p:blipFill>
          <p:spPr bwMode="auto">
            <a:xfrm>
              <a:off x="9576944" y="4479459"/>
              <a:ext cx="2181002" cy="2068322"/>
            </a:xfrm>
            <a:prstGeom prst="ellipse">
              <a:avLst/>
            </a:prstGeom>
            <a:noFill/>
            <a:extLst>
              <a:ext uri="{909E8E84-426E-40DD-AFC4-6F175D3DCCD1}">
                <a14:hiddenFill xmlns:a14="http://schemas.microsoft.com/office/drawing/2010/main">
                  <a:solidFill>
                    <a:srgbClr val="FFFFFF"/>
                  </a:solidFill>
                </a14:hiddenFill>
              </a:ext>
            </a:extLst>
          </p:spPr>
        </p:pic>
        <p:sp>
          <p:nvSpPr>
            <p:cNvPr id="1201" name="文本框 1200">
              <a:extLst>
                <a:ext uri="{FF2B5EF4-FFF2-40B4-BE49-F238E27FC236}">
                  <a16:creationId xmlns:a16="http://schemas.microsoft.com/office/drawing/2014/main" id="{DC852551-0C4F-3EE6-1DE3-7FC366179A96}"/>
                </a:ext>
              </a:extLst>
            </p:cNvPr>
            <p:cNvSpPr txBox="1"/>
            <p:nvPr/>
          </p:nvSpPr>
          <p:spPr>
            <a:xfrm>
              <a:off x="10251932" y="4084598"/>
              <a:ext cx="949170" cy="369332"/>
            </a:xfrm>
            <a:prstGeom prst="rect">
              <a:avLst/>
            </a:prstGeom>
            <a:noFill/>
          </p:spPr>
          <p:txBody>
            <a:bodyPr wrap="square" rtlCol="0">
              <a:spAutoFit/>
            </a:bodyPr>
            <a:lstStyle/>
            <a:p>
              <a:r>
                <a:rPr lang="zh-CN" altLang="en-US" dirty="0">
                  <a:solidFill>
                    <a:srgbClr val="FF0000"/>
                  </a:solidFill>
                </a:rPr>
                <a:t>权重值</a:t>
              </a:r>
            </a:p>
          </p:txBody>
        </p:sp>
        <p:sp>
          <p:nvSpPr>
            <p:cNvPr id="1202" name="文本框 1201">
              <a:extLst>
                <a:ext uri="{FF2B5EF4-FFF2-40B4-BE49-F238E27FC236}">
                  <a16:creationId xmlns:a16="http://schemas.microsoft.com/office/drawing/2014/main" id="{FD379919-28AC-4B3C-18D5-B729C4CEE7AC}"/>
                </a:ext>
              </a:extLst>
            </p:cNvPr>
            <p:cNvSpPr txBox="1"/>
            <p:nvPr/>
          </p:nvSpPr>
          <p:spPr>
            <a:xfrm>
              <a:off x="9208868" y="4501683"/>
              <a:ext cx="785925" cy="276999"/>
            </a:xfrm>
            <a:prstGeom prst="rect">
              <a:avLst/>
            </a:prstGeom>
            <a:noFill/>
          </p:spPr>
          <p:txBody>
            <a:bodyPr wrap="square" rtlCol="0">
              <a:spAutoFit/>
            </a:bodyPr>
            <a:lstStyle/>
            <a:p>
              <a:r>
                <a:rPr lang="zh-CN" altLang="en-US" sz="1200" dirty="0"/>
                <a:t>感官词</a:t>
              </a:r>
              <a:r>
                <a:rPr lang="en-US" altLang="zh-CN" sz="1200" dirty="0"/>
                <a:t>A</a:t>
              </a:r>
              <a:endParaRPr lang="zh-CN" altLang="en-US" sz="1200" dirty="0"/>
            </a:p>
          </p:txBody>
        </p:sp>
        <p:sp>
          <p:nvSpPr>
            <p:cNvPr id="1203" name="文本框 1202">
              <a:extLst>
                <a:ext uri="{FF2B5EF4-FFF2-40B4-BE49-F238E27FC236}">
                  <a16:creationId xmlns:a16="http://schemas.microsoft.com/office/drawing/2014/main" id="{7B9531E3-4AC1-B354-D993-9307110BFEFD}"/>
                </a:ext>
              </a:extLst>
            </p:cNvPr>
            <p:cNvSpPr txBox="1"/>
            <p:nvPr/>
          </p:nvSpPr>
          <p:spPr>
            <a:xfrm>
              <a:off x="11406075" y="4532217"/>
              <a:ext cx="785925" cy="276999"/>
            </a:xfrm>
            <a:prstGeom prst="rect">
              <a:avLst/>
            </a:prstGeom>
            <a:noFill/>
          </p:spPr>
          <p:txBody>
            <a:bodyPr wrap="square" rtlCol="0">
              <a:spAutoFit/>
            </a:bodyPr>
            <a:lstStyle/>
            <a:p>
              <a:r>
                <a:rPr lang="zh-CN" altLang="en-US" sz="1200" dirty="0"/>
                <a:t>感官词</a:t>
              </a:r>
              <a:r>
                <a:rPr lang="en-US" altLang="zh-CN" sz="1200" dirty="0"/>
                <a:t>G</a:t>
              </a:r>
              <a:endParaRPr lang="zh-CN" altLang="en-US" sz="1200" dirty="0"/>
            </a:p>
          </p:txBody>
        </p:sp>
        <p:sp>
          <p:nvSpPr>
            <p:cNvPr id="1204" name="文本框 1203">
              <a:extLst>
                <a:ext uri="{FF2B5EF4-FFF2-40B4-BE49-F238E27FC236}">
                  <a16:creationId xmlns:a16="http://schemas.microsoft.com/office/drawing/2014/main" id="{F5AB3070-A2C4-8A7C-C38D-C1D36BE8EEEB}"/>
                </a:ext>
              </a:extLst>
            </p:cNvPr>
            <p:cNvSpPr txBox="1"/>
            <p:nvPr/>
          </p:nvSpPr>
          <p:spPr>
            <a:xfrm>
              <a:off x="9130625" y="6137470"/>
              <a:ext cx="785925" cy="276999"/>
            </a:xfrm>
            <a:prstGeom prst="rect">
              <a:avLst/>
            </a:prstGeom>
            <a:noFill/>
          </p:spPr>
          <p:txBody>
            <a:bodyPr wrap="square" rtlCol="0">
              <a:spAutoFit/>
            </a:bodyPr>
            <a:lstStyle/>
            <a:p>
              <a:r>
                <a:rPr lang="zh-CN" altLang="en-US" sz="1200" dirty="0"/>
                <a:t>感官词</a:t>
              </a:r>
              <a:r>
                <a:rPr lang="en-US" altLang="zh-CN" sz="1200" dirty="0"/>
                <a:t>C</a:t>
              </a:r>
              <a:endParaRPr lang="zh-CN" altLang="en-US" sz="1200" dirty="0"/>
            </a:p>
          </p:txBody>
        </p:sp>
        <p:sp>
          <p:nvSpPr>
            <p:cNvPr id="1205" name="文本框 1204">
              <a:extLst>
                <a:ext uri="{FF2B5EF4-FFF2-40B4-BE49-F238E27FC236}">
                  <a16:creationId xmlns:a16="http://schemas.microsoft.com/office/drawing/2014/main" id="{ABDF5596-E59D-95DA-4E96-E66609E53FD2}"/>
                </a:ext>
              </a:extLst>
            </p:cNvPr>
            <p:cNvSpPr txBox="1"/>
            <p:nvPr/>
          </p:nvSpPr>
          <p:spPr>
            <a:xfrm>
              <a:off x="10315608" y="6581001"/>
              <a:ext cx="785925" cy="276999"/>
            </a:xfrm>
            <a:prstGeom prst="rect">
              <a:avLst/>
            </a:prstGeom>
            <a:noFill/>
          </p:spPr>
          <p:txBody>
            <a:bodyPr wrap="square" rtlCol="0">
              <a:spAutoFit/>
            </a:bodyPr>
            <a:lstStyle/>
            <a:p>
              <a:r>
                <a:rPr lang="zh-CN" altLang="en-US" sz="1200" dirty="0"/>
                <a:t>感官词</a:t>
              </a:r>
              <a:r>
                <a:rPr lang="en-US" altLang="zh-CN" sz="1200" dirty="0"/>
                <a:t>D</a:t>
              </a:r>
              <a:endParaRPr lang="zh-CN" altLang="en-US" sz="1200" dirty="0"/>
            </a:p>
          </p:txBody>
        </p:sp>
        <p:sp>
          <p:nvSpPr>
            <p:cNvPr id="1206" name="文本框 1205">
              <a:extLst>
                <a:ext uri="{FF2B5EF4-FFF2-40B4-BE49-F238E27FC236}">
                  <a16:creationId xmlns:a16="http://schemas.microsoft.com/office/drawing/2014/main" id="{A91A876F-5061-F843-8EE0-076702D51B1F}"/>
                </a:ext>
              </a:extLst>
            </p:cNvPr>
            <p:cNvSpPr txBox="1"/>
            <p:nvPr/>
          </p:nvSpPr>
          <p:spPr>
            <a:xfrm>
              <a:off x="11279714" y="6287408"/>
              <a:ext cx="785925" cy="276999"/>
            </a:xfrm>
            <a:prstGeom prst="rect">
              <a:avLst/>
            </a:prstGeom>
            <a:noFill/>
          </p:spPr>
          <p:txBody>
            <a:bodyPr wrap="square" rtlCol="0">
              <a:spAutoFit/>
            </a:bodyPr>
            <a:lstStyle/>
            <a:p>
              <a:r>
                <a:rPr lang="zh-CN" altLang="en-US" sz="1200" dirty="0"/>
                <a:t>感官词</a:t>
              </a:r>
              <a:r>
                <a:rPr lang="en-US" altLang="zh-CN" sz="1200" dirty="0"/>
                <a:t>E</a:t>
              </a:r>
              <a:endParaRPr lang="zh-CN" altLang="en-US" sz="1200" dirty="0"/>
            </a:p>
          </p:txBody>
        </p:sp>
        <p:sp>
          <p:nvSpPr>
            <p:cNvPr id="1207" name="文本框 1206">
              <a:extLst>
                <a:ext uri="{FF2B5EF4-FFF2-40B4-BE49-F238E27FC236}">
                  <a16:creationId xmlns:a16="http://schemas.microsoft.com/office/drawing/2014/main" id="{BFD271D5-0E99-510B-7A49-2EF640DB755B}"/>
                </a:ext>
              </a:extLst>
            </p:cNvPr>
            <p:cNvSpPr txBox="1"/>
            <p:nvPr/>
          </p:nvSpPr>
          <p:spPr>
            <a:xfrm>
              <a:off x="8921242" y="5105968"/>
              <a:ext cx="785925" cy="276999"/>
            </a:xfrm>
            <a:prstGeom prst="rect">
              <a:avLst/>
            </a:prstGeom>
            <a:noFill/>
          </p:spPr>
          <p:txBody>
            <a:bodyPr wrap="square" rtlCol="0">
              <a:spAutoFit/>
            </a:bodyPr>
            <a:lstStyle/>
            <a:p>
              <a:r>
                <a:rPr lang="zh-CN" altLang="en-US" sz="1200" dirty="0"/>
                <a:t>感官词</a:t>
              </a:r>
              <a:r>
                <a:rPr lang="en-US" altLang="zh-CN" sz="1200" dirty="0"/>
                <a:t>B</a:t>
              </a:r>
              <a:endParaRPr lang="zh-CN" altLang="en-US" sz="1200" dirty="0"/>
            </a:p>
          </p:txBody>
        </p:sp>
        <p:sp>
          <p:nvSpPr>
            <p:cNvPr id="1208" name="文本框 1207">
              <a:extLst>
                <a:ext uri="{FF2B5EF4-FFF2-40B4-BE49-F238E27FC236}">
                  <a16:creationId xmlns:a16="http://schemas.microsoft.com/office/drawing/2014/main" id="{3CF659D3-AC45-10D7-F191-EE2A4C2377FF}"/>
                </a:ext>
              </a:extLst>
            </p:cNvPr>
            <p:cNvSpPr txBox="1"/>
            <p:nvPr/>
          </p:nvSpPr>
          <p:spPr>
            <a:xfrm>
              <a:off x="11568367" y="5590928"/>
              <a:ext cx="785925" cy="276999"/>
            </a:xfrm>
            <a:prstGeom prst="rect">
              <a:avLst/>
            </a:prstGeom>
            <a:noFill/>
          </p:spPr>
          <p:txBody>
            <a:bodyPr wrap="square" rtlCol="0">
              <a:spAutoFit/>
            </a:bodyPr>
            <a:lstStyle/>
            <a:p>
              <a:r>
                <a:rPr lang="zh-CN" altLang="en-US" sz="1200" dirty="0"/>
                <a:t>感官词</a:t>
              </a:r>
              <a:r>
                <a:rPr lang="en-US" altLang="zh-CN" sz="1200" dirty="0"/>
                <a:t>F</a:t>
              </a:r>
              <a:endParaRPr lang="zh-CN" altLang="en-US" sz="1200" dirty="0"/>
            </a:p>
          </p:txBody>
        </p:sp>
      </p:grpSp>
      <p:sp>
        <p:nvSpPr>
          <p:cNvPr id="1209" name="矩形 1208">
            <a:extLst>
              <a:ext uri="{FF2B5EF4-FFF2-40B4-BE49-F238E27FC236}">
                <a16:creationId xmlns:a16="http://schemas.microsoft.com/office/drawing/2014/main" id="{4A20D26D-E86E-6782-2708-3C7052BAF7B0}"/>
              </a:ext>
            </a:extLst>
          </p:cNvPr>
          <p:cNvSpPr/>
          <p:nvPr/>
        </p:nvSpPr>
        <p:spPr>
          <a:xfrm>
            <a:off x="3746550" y="5178966"/>
            <a:ext cx="1643850" cy="515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22966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F10D7-F127-638C-CCD8-7323B06FFEF0}"/>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94BE4767-D292-9910-BD1C-26187562C60A}"/>
              </a:ext>
            </a:extLst>
          </p:cNvPr>
          <p:cNvSpPr txBox="1"/>
          <p:nvPr/>
        </p:nvSpPr>
        <p:spPr>
          <a:xfrm>
            <a:off x="26391" y="2771"/>
            <a:ext cx="9968402" cy="584775"/>
          </a:xfrm>
          <a:prstGeom prst="rect">
            <a:avLst/>
          </a:prstGeom>
          <a:noFill/>
        </p:spPr>
        <p:txBody>
          <a:bodyPr wrap="square">
            <a:spAutoFit/>
          </a:bodyPr>
          <a:lstStyle/>
          <a:p>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预拟课题框架与工作流程</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pic>
        <p:nvPicPr>
          <p:cNvPr id="17" name="图片 16">
            <a:extLst>
              <a:ext uri="{FF2B5EF4-FFF2-40B4-BE49-F238E27FC236}">
                <a16:creationId xmlns:a16="http://schemas.microsoft.com/office/drawing/2014/main" id="{E0ED227E-38DD-587E-3435-A56D957921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714" y="64216"/>
            <a:ext cx="646689" cy="643954"/>
          </a:xfrm>
          <a:prstGeom prst="rect">
            <a:avLst/>
          </a:prstGeom>
        </p:spPr>
      </p:pic>
      <p:cxnSp>
        <p:nvCxnSpPr>
          <p:cNvPr id="19" name="直接连接符 18">
            <a:extLst>
              <a:ext uri="{FF2B5EF4-FFF2-40B4-BE49-F238E27FC236}">
                <a16:creationId xmlns:a16="http://schemas.microsoft.com/office/drawing/2014/main" id="{0D240848-E88D-EBE6-4FD0-FDDDB478728A}"/>
              </a:ext>
            </a:extLst>
          </p:cNvPr>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sp>
        <p:nvSpPr>
          <p:cNvPr id="5" name="矩形: 圆角 4">
            <a:extLst>
              <a:ext uri="{FF2B5EF4-FFF2-40B4-BE49-F238E27FC236}">
                <a16:creationId xmlns:a16="http://schemas.microsoft.com/office/drawing/2014/main" id="{6B9AD0B6-4803-54D6-D3D5-063E7870AAB4}"/>
              </a:ext>
            </a:extLst>
          </p:cNvPr>
          <p:cNvSpPr/>
          <p:nvPr/>
        </p:nvSpPr>
        <p:spPr>
          <a:xfrm>
            <a:off x="1554441" y="1127189"/>
            <a:ext cx="2682253" cy="399329"/>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n>
                  <a:solidFill>
                    <a:schemeClr val="accent1">
                      <a:shade val="15000"/>
                    </a:schemeClr>
                  </a:solidFill>
                </a:ln>
                <a:solidFill>
                  <a:srgbClr val="0070C0"/>
                </a:solidFill>
              </a:rPr>
              <a:t>计划前期工作流程</a:t>
            </a:r>
          </a:p>
        </p:txBody>
      </p:sp>
      <p:sp>
        <p:nvSpPr>
          <p:cNvPr id="10" name="文本框 9">
            <a:extLst>
              <a:ext uri="{FF2B5EF4-FFF2-40B4-BE49-F238E27FC236}">
                <a16:creationId xmlns:a16="http://schemas.microsoft.com/office/drawing/2014/main" id="{0681C8EF-0F37-566E-1973-6DB67DF8E617}"/>
              </a:ext>
            </a:extLst>
          </p:cNvPr>
          <p:cNvSpPr txBox="1"/>
          <p:nvPr/>
        </p:nvSpPr>
        <p:spPr>
          <a:xfrm>
            <a:off x="1090250" y="1832526"/>
            <a:ext cx="3874159" cy="369332"/>
          </a:xfrm>
          <a:prstGeom prst="rect">
            <a:avLst/>
          </a:prstGeom>
          <a:noFill/>
          <a:ln w="25400">
            <a:solidFill>
              <a:schemeClr val="accent1"/>
            </a:solidFill>
          </a:ln>
        </p:spPr>
        <p:txBody>
          <a:bodyPr wrap="square" rtlCol="0">
            <a:spAutoFit/>
          </a:bodyPr>
          <a:lstStyle/>
          <a:p>
            <a:r>
              <a:rPr lang="zh-CN" altLang="en-US" dirty="0"/>
              <a:t>搜集定性定量风味数据组建数据库</a:t>
            </a:r>
          </a:p>
        </p:txBody>
      </p:sp>
      <p:sp>
        <p:nvSpPr>
          <p:cNvPr id="23" name="文本框 22">
            <a:extLst>
              <a:ext uri="{FF2B5EF4-FFF2-40B4-BE49-F238E27FC236}">
                <a16:creationId xmlns:a16="http://schemas.microsoft.com/office/drawing/2014/main" id="{580C7564-721A-37AF-C283-F48FB453E654}"/>
              </a:ext>
            </a:extLst>
          </p:cNvPr>
          <p:cNvSpPr txBox="1"/>
          <p:nvPr/>
        </p:nvSpPr>
        <p:spPr>
          <a:xfrm>
            <a:off x="256185" y="2706883"/>
            <a:ext cx="5278764" cy="369332"/>
          </a:xfrm>
          <a:prstGeom prst="rect">
            <a:avLst/>
          </a:prstGeom>
          <a:noFill/>
          <a:ln w="25400">
            <a:solidFill>
              <a:schemeClr val="accent1"/>
            </a:solidFill>
          </a:ln>
        </p:spPr>
        <p:txBody>
          <a:bodyPr wrap="square" rtlCol="0">
            <a:spAutoFit/>
          </a:bodyPr>
          <a:lstStyle/>
          <a:p>
            <a:r>
              <a:rPr lang="zh-CN" altLang="en-US" dirty="0"/>
              <a:t>确定特定产区、工艺、品牌酒体数据的风味轮廓</a:t>
            </a:r>
          </a:p>
        </p:txBody>
      </p:sp>
      <p:sp>
        <p:nvSpPr>
          <p:cNvPr id="27" name="箭头: 下 26">
            <a:extLst>
              <a:ext uri="{FF2B5EF4-FFF2-40B4-BE49-F238E27FC236}">
                <a16:creationId xmlns:a16="http://schemas.microsoft.com/office/drawing/2014/main" id="{10A1484B-A7F5-7070-4507-64C30AFFE1C8}"/>
              </a:ext>
            </a:extLst>
          </p:cNvPr>
          <p:cNvSpPr/>
          <p:nvPr/>
        </p:nvSpPr>
        <p:spPr>
          <a:xfrm>
            <a:off x="2851887" y="2308516"/>
            <a:ext cx="370497" cy="307777"/>
          </a:xfrm>
          <a:prstGeom prst="downArrow">
            <a:avLst/>
          </a:prstGeom>
          <a:gradFill flip="none" rotWithShape="1">
            <a:gsLst>
              <a:gs pos="0">
                <a:schemeClr val="accent1"/>
              </a:gs>
              <a:gs pos="0">
                <a:schemeClr val="bg1"/>
              </a:gs>
              <a:gs pos="100000">
                <a:schemeClr val="accent1"/>
              </a:gs>
              <a:gs pos="100000">
                <a:schemeClr val="accent1"/>
              </a:gs>
              <a:gs pos="55000">
                <a:schemeClr val="accent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hade val="15000"/>
                  </a:schemeClr>
                </a:solidFill>
              </a:ln>
            </a:endParaRPr>
          </a:p>
        </p:txBody>
      </p:sp>
      <p:sp>
        <p:nvSpPr>
          <p:cNvPr id="29" name="文本框 28">
            <a:extLst>
              <a:ext uri="{FF2B5EF4-FFF2-40B4-BE49-F238E27FC236}">
                <a16:creationId xmlns:a16="http://schemas.microsoft.com/office/drawing/2014/main" id="{39DC3433-016D-1F20-C1A4-D7B7DBCEDADC}"/>
              </a:ext>
            </a:extLst>
          </p:cNvPr>
          <p:cNvSpPr txBox="1"/>
          <p:nvPr/>
        </p:nvSpPr>
        <p:spPr>
          <a:xfrm>
            <a:off x="1222665" y="3566889"/>
            <a:ext cx="3609331" cy="369332"/>
          </a:xfrm>
          <a:prstGeom prst="rect">
            <a:avLst/>
          </a:prstGeom>
          <a:noFill/>
          <a:ln w="25400">
            <a:solidFill>
              <a:schemeClr val="accent1"/>
            </a:solidFill>
          </a:ln>
        </p:spPr>
        <p:txBody>
          <a:bodyPr wrap="square" rtlCol="0">
            <a:spAutoFit/>
          </a:bodyPr>
          <a:lstStyle/>
          <a:p>
            <a:r>
              <a:rPr lang="zh-CN" altLang="en-US" dirty="0"/>
              <a:t>分别进行感官测试得到感官轮廓</a:t>
            </a:r>
          </a:p>
        </p:txBody>
      </p:sp>
      <p:sp>
        <p:nvSpPr>
          <p:cNvPr id="30" name="箭头: 下 29">
            <a:extLst>
              <a:ext uri="{FF2B5EF4-FFF2-40B4-BE49-F238E27FC236}">
                <a16:creationId xmlns:a16="http://schemas.microsoft.com/office/drawing/2014/main" id="{901A64E1-2291-3389-99D3-826DCE53D566}"/>
              </a:ext>
            </a:extLst>
          </p:cNvPr>
          <p:cNvSpPr/>
          <p:nvPr/>
        </p:nvSpPr>
        <p:spPr>
          <a:xfrm>
            <a:off x="2851886" y="3136820"/>
            <a:ext cx="370497" cy="307777"/>
          </a:xfrm>
          <a:prstGeom prst="downArrow">
            <a:avLst/>
          </a:prstGeom>
          <a:gradFill flip="none" rotWithShape="1">
            <a:gsLst>
              <a:gs pos="0">
                <a:schemeClr val="accent1"/>
              </a:gs>
              <a:gs pos="0">
                <a:schemeClr val="bg1"/>
              </a:gs>
              <a:gs pos="100000">
                <a:schemeClr val="accent1"/>
              </a:gs>
              <a:gs pos="100000">
                <a:schemeClr val="accent1"/>
              </a:gs>
              <a:gs pos="55000">
                <a:schemeClr val="accent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hade val="15000"/>
                  </a:schemeClr>
                </a:solidFill>
              </a:ln>
            </a:endParaRPr>
          </a:p>
        </p:txBody>
      </p:sp>
      <p:sp>
        <p:nvSpPr>
          <p:cNvPr id="32" name="文本框 31">
            <a:extLst>
              <a:ext uri="{FF2B5EF4-FFF2-40B4-BE49-F238E27FC236}">
                <a16:creationId xmlns:a16="http://schemas.microsoft.com/office/drawing/2014/main" id="{9B505024-BB0E-9175-06C5-F0C5644B55B1}"/>
              </a:ext>
            </a:extLst>
          </p:cNvPr>
          <p:cNvSpPr txBox="1"/>
          <p:nvPr/>
        </p:nvSpPr>
        <p:spPr>
          <a:xfrm>
            <a:off x="1380887" y="4347193"/>
            <a:ext cx="3312493" cy="369332"/>
          </a:xfrm>
          <a:prstGeom prst="rect">
            <a:avLst/>
          </a:prstGeom>
          <a:noFill/>
          <a:ln w="25400">
            <a:solidFill>
              <a:schemeClr val="accent1"/>
            </a:solidFill>
          </a:ln>
        </p:spPr>
        <p:txBody>
          <a:bodyPr wrap="square" rtlCol="0">
            <a:spAutoFit/>
          </a:bodyPr>
          <a:lstStyle/>
          <a:p>
            <a:r>
              <a:rPr lang="zh-CN" altLang="en-US" dirty="0"/>
              <a:t>机器学习构建变化联系和参数</a:t>
            </a:r>
          </a:p>
        </p:txBody>
      </p:sp>
      <p:sp>
        <p:nvSpPr>
          <p:cNvPr id="33" name="箭头: 下 32">
            <a:extLst>
              <a:ext uri="{FF2B5EF4-FFF2-40B4-BE49-F238E27FC236}">
                <a16:creationId xmlns:a16="http://schemas.microsoft.com/office/drawing/2014/main" id="{2BC12E1D-F04F-9AE2-F6DE-E01CC7D77620}"/>
              </a:ext>
            </a:extLst>
          </p:cNvPr>
          <p:cNvSpPr/>
          <p:nvPr/>
        </p:nvSpPr>
        <p:spPr>
          <a:xfrm>
            <a:off x="2820901" y="3976901"/>
            <a:ext cx="370497" cy="307777"/>
          </a:xfrm>
          <a:prstGeom prst="downArrow">
            <a:avLst/>
          </a:prstGeom>
          <a:gradFill flip="none" rotWithShape="1">
            <a:gsLst>
              <a:gs pos="0">
                <a:schemeClr val="accent1"/>
              </a:gs>
              <a:gs pos="0">
                <a:schemeClr val="bg1"/>
              </a:gs>
              <a:gs pos="100000">
                <a:schemeClr val="accent1"/>
              </a:gs>
              <a:gs pos="100000">
                <a:schemeClr val="accent1"/>
              </a:gs>
              <a:gs pos="55000">
                <a:schemeClr val="accent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hade val="15000"/>
                  </a:schemeClr>
                </a:solidFill>
              </a:ln>
            </a:endParaRPr>
          </a:p>
        </p:txBody>
      </p:sp>
      <p:sp>
        <p:nvSpPr>
          <p:cNvPr id="34" name="文本框 33">
            <a:extLst>
              <a:ext uri="{FF2B5EF4-FFF2-40B4-BE49-F238E27FC236}">
                <a16:creationId xmlns:a16="http://schemas.microsoft.com/office/drawing/2014/main" id="{D71D14B7-720D-BBF8-DE42-C42C8E728B5C}"/>
              </a:ext>
            </a:extLst>
          </p:cNvPr>
          <p:cNvSpPr txBox="1"/>
          <p:nvPr/>
        </p:nvSpPr>
        <p:spPr>
          <a:xfrm>
            <a:off x="1371081" y="5200618"/>
            <a:ext cx="3312492" cy="369332"/>
          </a:xfrm>
          <a:prstGeom prst="rect">
            <a:avLst/>
          </a:prstGeom>
          <a:noFill/>
          <a:ln w="25400">
            <a:solidFill>
              <a:schemeClr val="accent1"/>
            </a:solidFill>
          </a:ln>
        </p:spPr>
        <p:txBody>
          <a:bodyPr wrap="square" rtlCol="0">
            <a:spAutoFit/>
          </a:bodyPr>
          <a:lstStyle/>
          <a:p>
            <a:r>
              <a:rPr lang="zh-CN" altLang="en-US" dirty="0"/>
              <a:t>参数组建计算公式和权重数值</a:t>
            </a:r>
          </a:p>
        </p:txBody>
      </p:sp>
      <p:sp>
        <p:nvSpPr>
          <p:cNvPr id="36" name="箭头: 下 35">
            <a:extLst>
              <a:ext uri="{FF2B5EF4-FFF2-40B4-BE49-F238E27FC236}">
                <a16:creationId xmlns:a16="http://schemas.microsoft.com/office/drawing/2014/main" id="{BEC90272-2CE5-F0FA-4011-63B7A667506E}"/>
              </a:ext>
            </a:extLst>
          </p:cNvPr>
          <p:cNvSpPr/>
          <p:nvPr/>
        </p:nvSpPr>
        <p:spPr>
          <a:xfrm>
            <a:off x="2818091" y="4770919"/>
            <a:ext cx="370497" cy="307777"/>
          </a:xfrm>
          <a:prstGeom prst="downArrow">
            <a:avLst/>
          </a:prstGeom>
          <a:gradFill flip="none" rotWithShape="1">
            <a:gsLst>
              <a:gs pos="0">
                <a:schemeClr val="accent1"/>
              </a:gs>
              <a:gs pos="0">
                <a:schemeClr val="bg1"/>
              </a:gs>
              <a:gs pos="100000">
                <a:schemeClr val="accent1"/>
              </a:gs>
              <a:gs pos="100000">
                <a:schemeClr val="accent1"/>
              </a:gs>
              <a:gs pos="55000">
                <a:schemeClr val="accent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hade val="15000"/>
                  </a:schemeClr>
                </a:solidFill>
              </a:ln>
            </a:endParaRPr>
          </a:p>
        </p:txBody>
      </p:sp>
      <p:sp>
        <p:nvSpPr>
          <p:cNvPr id="37" name="文本框 36">
            <a:extLst>
              <a:ext uri="{FF2B5EF4-FFF2-40B4-BE49-F238E27FC236}">
                <a16:creationId xmlns:a16="http://schemas.microsoft.com/office/drawing/2014/main" id="{BF7994BA-077E-AC57-A0DD-B323DA8987E0}"/>
              </a:ext>
            </a:extLst>
          </p:cNvPr>
          <p:cNvSpPr txBox="1"/>
          <p:nvPr/>
        </p:nvSpPr>
        <p:spPr>
          <a:xfrm>
            <a:off x="1090250" y="5999649"/>
            <a:ext cx="3826183" cy="369332"/>
          </a:xfrm>
          <a:prstGeom prst="rect">
            <a:avLst/>
          </a:prstGeom>
          <a:noFill/>
          <a:ln w="25400">
            <a:solidFill>
              <a:schemeClr val="accent1"/>
            </a:solidFill>
          </a:ln>
        </p:spPr>
        <p:txBody>
          <a:bodyPr wrap="square" rtlCol="0">
            <a:spAutoFit/>
          </a:bodyPr>
          <a:lstStyle/>
          <a:p>
            <a:r>
              <a:rPr lang="zh-CN" altLang="en-US" dirty="0"/>
              <a:t>依据权重数值配制模拟酒进行验证</a:t>
            </a:r>
          </a:p>
        </p:txBody>
      </p:sp>
      <p:sp>
        <p:nvSpPr>
          <p:cNvPr id="39" name="箭头: 下 38">
            <a:extLst>
              <a:ext uri="{FF2B5EF4-FFF2-40B4-BE49-F238E27FC236}">
                <a16:creationId xmlns:a16="http://schemas.microsoft.com/office/drawing/2014/main" id="{1CB8B0DA-C8BB-714A-65C5-F9F5F559C42C}"/>
              </a:ext>
            </a:extLst>
          </p:cNvPr>
          <p:cNvSpPr/>
          <p:nvPr/>
        </p:nvSpPr>
        <p:spPr>
          <a:xfrm>
            <a:off x="2818092" y="5655012"/>
            <a:ext cx="370497" cy="307777"/>
          </a:xfrm>
          <a:prstGeom prst="downArrow">
            <a:avLst/>
          </a:prstGeom>
          <a:gradFill flip="none" rotWithShape="1">
            <a:gsLst>
              <a:gs pos="0">
                <a:schemeClr val="accent1"/>
              </a:gs>
              <a:gs pos="0">
                <a:schemeClr val="bg1"/>
              </a:gs>
              <a:gs pos="100000">
                <a:schemeClr val="accent1"/>
              </a:gs>
              <a:gs pos="100000">
                <a:schemeClr val="accent1"/>
              </a:gs>
              <a:gs pos="55000">
                <a:schemeClr val="accent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hade val="15000"/>
                  </a:schemeClr>
                </a:solidFill>
              </a:ln>
            </a:endParaRPr>
          </a:p>
        </p:txBody>
      </p:sp>
      <p:sp>
        <p:nvSpPr>
          <p:cNvPr id="3" name="矩形: 圆角 2">
            <a:extLst>
              <a:ext uri="{FF2B5EF4-FFF2-40B4-BE49-F238E27FC236}">
                <a16:creationId xmlns:a16="http://schemas.microsoft.com/office/drawing/2014/main" id="{ED083604-8159-481A-F605-114F5587C6B8}"/>
              </a:ext>
            </a:extLst>
          </p:cNvPr>
          <p:cNvSpPr/>
          <p:nvPr/>
        </p:nvSpPr>
        <p:spPr>
          <a:xfrm>
            <a:off x="7698559" y="1127188"/>
            <a:ext cx="3077788" cy="399329"/>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n>
                  <a:solidFill>
                    <a:schemeClr val="accent1">
                      <a:shade val="15000"/>
                    </a:schemeClr>
                  </a:solidFill>
                </a:ln>
                <a:solidFill>
                  <a:srgbClr val="0070C0"/>
                </a:solidFill>
              </a:rPr>
              <a:t>计划中后期工作流程</a:t>
            </a:r>
          </a:p>
        </p:txBody>
      </p:sp>
      <p:sp>
        <p:nvSpPr>
          <p:cNvPr id="4" name="箭头: 右 3">
            <a:extLst>
              <a:ext uri="{FF2B5EF4-FFF2-40B4-BE49-F238E27FC236}">
                <a16:creationId xmlns:a16="http://schemas.microsoft.com/office/drawing/2014/main" id="{ADC55A18-6713-0A5E-A9FC-3F065F028D8F}"/>
              </a:ext>
            </a:extLst>
          </p:cNvPr>
          <p:cNvSpPr/>
          <p:nvPr/>
        </p:nvSpPr>
        <p:spPr>
          <a:xfrm>
            <a:off x="5004967" y="4039417"/>
            <a:ext cx="2127264" cy="30777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1B8E34D8-38C4-B939-D3EE-8349F62570F6}"/>
              </a:ext>
            </a:extLst>
          </p:cNvPr>
          <p:cNvSpPr txBox="1"/>
          <p:nvPr/>
        </p:nvSpPr>
        <p:spPr>
          <a:xfrm>
            <a:off x="5433561" y="3319500"/>
            <a:ext cx="1367691" cy="646331"/>
          </a:xfrm>
          <a:prstGeom prst="rect">
            <a:avLst/>
          </a:prstGeom>
          <a:noFill/>
        </p:spPr>
        <p:txBody>
          <a:bodyPr wrap="square" rtlCol="0">
            <a:spAutoFit/>
          </a:bodyPr>
          <a:lstStyle/>
          <a:p>
            <a:r>
              <a:rPr lang="zh-CN" altLang="en-US" dirty="0"/>
              <a:t>成功且验证结果优异</a:t>
            </a:r>
          </a:p>
        </p:txBody>
      </p:sp>
      <p:sp>
        <p:nvSpPr>
          <p:cNvPr id="7" name="文本框 6">
            <a:extLst>
              <a:ext uri="{FF2B5EF4-FFF2-40B4-BE49-F238E27FC236}">
                <a16:creationId xmlns:a16="http://schemas.microsoft.com/office/drawing/2014/main" id="{730D54A4-797B-4AC9-9843-EABF9AC69F03}"/>
              </a:ext>
            </a:extLst>
          </p:cNvPr>
          <p:cNvSpPr txBox="1"/>
          <p:nvPr/>
        </p:nvSpPr>
        <p:spPr>
          <a:xfrm>
            <a:off x="6790241" y="2147526"/>
            <a:ext cx="4986915" cy="369332"/>
          </a:xfrm>
          <a:prstGeom prst="rect">
            <a:avLst/>
          </a:prstGeom>
          <a:noFill/>
          <a:ln w="25400">
            <a:solidFill>
              <a:schemeClr val="accent1"/>
            </a:solidFill>
          </a:ln>
        </p:spPr>
        <p:txBody>
          <a:bodyPr wrap="square" rtlCol="0">
            <a:spAutoFit/>
          </a:bodyPr>
          <a:lstStyle/>
          <a:p>
            <a:r>
              <a:rPr lang="zh-CN" altLang="en-US" dirty="0"/>
              <a:t>选取酒厂不同年份，基底的基酒进行定量测定</a:t>
            </a:r>
          </a:p>
        </p:txBody>
      </p:sp>
      <p:sp>
        <p:nvSpPr>
          <p:cNvPr id="8" name="文本框 7">
            <a:extLst>
              <a:ext uri="{FF2B5EF4-FFF2-40B4-BE49-F238E27FC236}">
                <a16:creationId xmlns:a16="http://schemas.microsoft.com/office/drawing/2014/main" id="{0E71877A-B5A9-05CF-070E-87428ED894D1}"/>
              </a:ext>
            </a:extLst>
          </p:cNvPr>
          <p:cNvSpPr txBox="1"/>
          <p:nvPr/>
        </p:nvSpPr>
        <p:spPr>
          <a:xfrm>
            <a:off x="7135883" y="3180608"/>
            <a:ext cx="4295627" cy="369332"/>
          </a:xfrm>
          <a:prstGeom prst="rect">
            <a:avLst/>
          </a:prstGeom>
          <a:noFill/>
          <a:ln w="25400">
            <a:solidFill>
              <a:schemeClr val="accent1"/>
            </a:solidFill>
          </a:ln>
        </p:spPr>
        <p:txBody>
          <a:bodyPr wrap="square" rtlCol="0">
            <a:spAutoFit/>
          </a:bodyPr>
          <a:lstStyle/>
          <a:p>
            <a:r>
              <a:rPr lang="zh-CN" altLang="en-US" dirty="0"/>
              <a:t>投入模型训练得到权重参数或计算公式</a:t>
            </a:r>
          </a:p>
        </p:txBody>
      </p:sp>
      <p:sp>
        <p:nvSpPr>
          <p:cNvPr id="9" name="箭头: 下 8">
            <a:extLst>
              <a:ext uri="{FF2B5EF4-FFF2-40B4-BE49-F238E27FC236}">
                <a16:creationId xmlns:a16="http://schemas.microsoft.com/office/drawing/2014/main" id="{4980E241-1E4E-13EC-01E3-336946B93BA5}"/>
              </a:ext>
            </a:extLst>
          </p:cNvPr>
          <p:cNvSpPr/>
          <p:nvPr/>
        </p:nvSpPr>
        <p:spPr>
          <a:xfrm>
            <a:off x="9098449" y="2719923"/>
            <a:ext cx="370497" cy="307777"/>
          </a:xfrm>
          <a:prstGeom prst="downArrow">
            <a:avLst/>
          </a:prstGeom>
          <a:gradFill flip="none" rotWithShape="1">
            <a:gsLst>
              <a:gs pos="0">
                <a:schemeClr val="accent1"/>
              </a:gs>
              <a:gs pos="0">
                <a:schemeClr val="bg1"/>
              </a:gs>
              <a:gs pos="100000">
                <a:schemeClr val="accent1"/>
              </a:gs>
              <a:gs pos="100000">
                <a:schemeClr val="accent1"/>
              </a:gs>
              <a:gs pos="55000">
                <a:schemeClr val="accent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hade val="15000"/>
                  </a:schemeClr>
                </a:solidFill>
              </a:ln>
            </a:endParaRPr>
          </a:p>
        </p:txBody>
      </p:sp>
      <p:sp>
        <p:nvSpPr>
          <p:cNvPr id="12" name="箭头: 下 11">
            <a:extLst>
              <a:ext uri="{FF2B5EF4-FFF2-40B4-BE49-F238E27FC236}">
                <a16:creationId xmlns:a16="http://schemas.microsoft.com/office/drawing/2014/main" id="{832A7D4D-79C6-1264-BAC1-EA6F11270DBD}"/>
              </a:ext>
            </a:extLst>
          </p:cNvPr>
          <p:cNvSpPr/>
          <p:nvPr/>
        </p:nvSpPr>
        <p:spPr>
          <a:xfrm>
            <a:off x="9098449" y="3697975"/>
            <a:ext cx="370497" cy="307777"/>
          </a:xfrm>
          <a:prstGeom prst="downArrow">
            <a:avLst/>
          </a:prstGeom>
          <a:gradFill flip="none" rotWithShape="1">
            <a:gsLst>
              <a:gs pos="0">
                <a:schemeClr val="accent1"/>
              </a:gs>
              <a:gs pos="0">
                <a:schemeClr val="bg1"/>
              </a:gs>
              <a:gs pos="100000">
                <a:schemeClr val="accent1"/>
              </a:gs>
              <a:gs pos="100000">
                <a:schemeClr val="accent1"/>
              </a:gs>
              <a:gs pos="55000">
                <a:schemeClr val="accent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hade val="15000"/>
                  </a:schemeClr>
                </a:solidFill>
              </a:ln>
            </a:endParaRPr>
          </a:p>
        </p:txBody>
      </p:sp>
      <p:sp>
        <p:nvSpPr>
          <p:cNvPr id="13" name="文本框 12">
            <a:extLst>
              <a:ext uri="{FF2B5EF4-FFF2-40B4-BE49-F238E27FC236}">
                <a16:creationId xmlns:a16="http://schemas.microsoft.com/office/drawing/2014/main" id="{92334D05-F84B-73B9-04E5-76FD14491354}"/>
              </a:ext>
            </a:extLst>
          </p:cNvPr>
          <p:cNvSpPr txBox="1"/>
          <p:nvPr/>
        </p:nvSpPr>
        <p:spPr>
          <a:xfrm>
            <a:off x="8019033" y="4203329"/>
            <a:ext cx="2619885" cy="369332"/>
          </a:xfrm>
          <a:prstGeom prst="rect">
            <a:avLst/>
          </a:prstGeom>
          <a:noFill/>
          <a:ln w="25400">
            <a:solidFill>
              <a:schemeClr val="accent1"/>
            </a:solidFill>
          </a:ln>
        </p:spPr>
        <p:txBody>
          <a:bodyPr wrap="square" rtlCol="0">
            <a:spAutoFit/>
          </a:bodyPr>
          <a:lstStyle/>
          <a:p>
            <a:r>
              <a:rPr lang="zh-CN" altLang="en-US" dirty="0"/>
              <a:t>权重依据进行配比勾兑</a:t>
            </a:r>
          </a:p>
        </p:txBody>
      </p:sp>
      <p:sp>
        <p:nvSpPr>
          <p:cNvPr id="14" name="箭头: 下 13">
            <a:extLst>
              <a:ext uri="{FF2B5EF4-FFF2-40B4-BE49-F238E27FC236}">
                <a16:creationId xmlns:a16="http://schemas.microsoft.com/office/drawing/2014/main" id="{62FA5311-631D-35DC-6D0A-B1908A57EBD5}"/>
              </a:ext>
            </a:extLst>
          </p:cNvPr>
          <p:cNvSpPr/>
          <p:nvPr/>
        </p:nvSpPr>
        <p:spPr>
          <a:xfrm>
            <a:off x="9098449" y="4705468"/>
            <a:ext cx="370497" cy="307777"/>
          </a:xfrm>
          <a:prstGeom prst="downArrow">
            <a:avLst/>
          </a:prstGeom>
          <a:gradFill flip="none" rotWithShape="1">
            <a:gsLst>
              <a:gs pos="0">
                <a:schemeClr val="accent1"/>
              </a:gs>
              <a:gs pos="0">
                <a:schemeClr val="bg1"/>
              </a:gs>
              <a:gs pos="100000">
                <a:schemeClr val="accent1"/>
              </a:gs>
              <a:gs pos="100000">
                <a:schemeClr val="accent1"/>
              </a:gs>
              <a:gs pos="55000">
                <a:schemeClr val="accent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hade val="15000"/>
                  </a:schemeClr>
                </a:solidFill>
              </a:ln>
            </a:endParaRPr>
          </a:p>
        </p:txBody>
      </p:sp>
      <p:sp>
        <p:nvSpPr>
          <p:cNvPr id="16" name="文本框 15">
            <a:extLst>
              <a:ext uri="{FF2B5EF4-FFF2-40B4-BE49-F238E27FC236}">
                <a16:creationId xmlns:a16="http://schemas.microsoft.com/office/drawing/2014/main" id="{56E0E480-8122-A0ED-F2D0-DC4E575C44A4}"/>
              </a:ext>
            </a:extLst>
          </p:cNvPr>
          <p:cNvSpPr txBox="1"/>
          <p:nvPr/>
        </p:nvSpPr>
        <p:spPr>
          <a:xfrm>
            <a:off x="8015880" y="5146052"/>
            <a:ext cx="2710438" cy="369332"/>
          </a:xfrm>
          <a:prstGeom prst="rect">
            <a:avLst/>
          </a:prstGeom>
          <a:noFill/>
          <a:ln w="25400">
            <a:solidFill>
              <a:schemeClr val="accent1"/>
            </a:solidFill>
          </a:ln>
        </p:spPr>
        <p:txBody>
          <a:bodyPr wrap="square" rtlCol="0">
            <a:spAutoFit/>
          </a:bodyPr>
          <a:lstStyle/>
          <a:p>
            <a:r>
              <a:rPr lang="zh-CN" altLang="en-US" dirty="0"/>
              <a:t>感官测试验证勾兑效果</a:t>
            </a:r>
          </a:p>
        </p:txBody>
      </p:sp>
    </p:spTree>
    <p:extLst>
      <p:ext uri="{BB962C8B-B14F-4D97-AF65-F5344CB8AC3E}">
        <p14:creationId xmlns:p14="http://schemas.microsoft.com/office/powerpoint/2010/main" val="3259868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61A114E2-9C36-B3B1-69EA-B244B8FB9E79}"/>
              </a:ext>
            </a:extLst>
          </p:cNvPr>
          <p:cNvSpPr txBox="1"/>
          <p:nvPr/>
        </p:nvSpPr>
        <p:spPr>
          <a:xfrm>
            <a:off x="26391" y="2771"/>
            <a:ext cx="9968402" cy="584775"/>
          </a:xfrm>
          <a:prstGeom prst="rect">
            <a:avLst/>
          </a:prstGeom>
          <a:noFill/>
        </p:spPr>
        <p:txBody>
          <a:bodyPr wrap="square">
            <a:spAutoFit/>
          </a:bodyPr>
          <a:lstStyle/>
          <a:p>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本学期计划完成研究目标</a:t>
            </a:r>
            <a:endParaRPr lang="en-US" altLang="zh-CN" sz="3200" b="1" dirty="0">
              <a:solidFill>
                <a:srgbClr val="2F5597"/>
              </a:solidFill>
              <a:latin typeface="微软雅黑" panose="020B0503020204020204" charset="-122"/>
              <a:ea typeface="微软雅黑" panose="020B0503020204020204" charset="-122"/>
              <a:cs typeface="微软雅黑" panose="020B0503020204020204" charset="-122"/>
            </a:endParaRPr>
          </a:p>
        </p:txBody>
      </p:sp>
      <p:pic>
        <p:nvPicPr>
          <p:cNvPr id="17" name="图片 16">
            <a:extLst>
              <a:ext uri="{FF2B5EF4-FFF2-40B4-BE49-F238E27FC236}">
                <a16:creationId xmlns:a16="http://schemas.microsoft.com/office/drawing/2014/main" id="{2AED13AF-0390-3CC7-AD4C-1208A28A2E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714" y="64216"/>
            <a:ext cx="646689" cy="643954"/>
          </a:xfrm>
          <a:prstGeom prst="rect">
            <a:avLst/>
          </a:prstGeom>
        </p:spPr>
      </p:pic>
      <p:cxnSp>
        <p:nvCxnSpPr>
          <p:cNvPr id="19" name="直接连接符 18">
            <a:extLst>
              <a:ext uri="{FF2B5EF4-FFF2-40B4-BE49-F238E27FC236}">
                <a16:creationId xmlns:a16="http://schemas.microsoft.com/office/drawing/2014/main" id="{8950A6DA-AF3A-55B4-3BF9-2F5E8471D525}"/>
              </a:ext>
            </a:extLst>
          </p:cNvPr>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sp>
        <p:nvSpPr>
          <p:cNvPr id="5" name="矩形: 圆角 4">
            <a:extLst>
              <a:ext uri="{FF2B5EF4-FFF2-40B4-BE49-F238E27FC236}">
                <a16:creationId xmlns:a16="http://schemas.microsoft.com/office/drawing/2014/main" id="{6134873B-9FC5-2848-7C3D-048F61D42A3B}"/>
              </a:ext>
            </a:extLst>
          </p:cNvPr>
          <p:cNvSpPr/>
          <p:nvPr/>
        </p:nvSpPr>
        <p:spPr>
          <a:xfrm>
            <a:off x="6096000" y="1209729"/>
            <a:ext cx="1661865" cy="359074"/>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n>
                  <a:solidFill>
                    <a:schemeClr val="accent1">
                      <a:shade val="15000"/>
                    </a:schemeClr>
                  </a:solidFill>
                </a:ln>
                <a:solidFill>
                  <a:srgbClr val="0070C0"/>
                </a:solidFill>
              </a:rPr>
              <a:t>1.</a:t>
            </a:r>
            <a:r>
              <a:rPr lang="zh-CN" altLang="en-US" dirty="0">
                <a:ln>
                  <a:solidFill>
                    <a:schemeClr val="accent1">
                      <a:shade val="15000"/>
                    </a:schemeClr>
                  </a:solidFill>
                </a:ln>
                <a:solidFill>
                  <a:srgbClr val="0070C0"/>
                </a:solidFill>
              </a:rPr>
              <a:t>精读文章</a:t>
            </a:r>
          </a:p>
        </p:txBody>
      </p:sp>
      <p:sp>
        <p:nvSpPr>
          <p:cNvPr id="35" name="矩形: 圆角 34">
            <a:extLst>
              <a:ext uri="{FF2B5EF4-FFF2-40B4-BE49-F238E27FC236}">
                <a16:creationId xmlns:a16="http://schemas.microsoft.com/office/drawing/2014/main" id="{775E4B15-1E25-653A-1B97-47662F1086EE}"/>
              </a:ext>
            </a:extLst>
          </p:cNvPr>
          <p:cNvSpPr/>
          <p:nvPr/>
        </p:nvSpPr>
        <p:spPr>
          <a:xfrm>
            <a:off x="537686" y="1190512"/>
            <a:ext cx="1995201" cy="333066"/>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n>
                  <a:solidFill>
                    <a:schemeClr val="accent1">
                      <a:shade val="15000"/>
                    </a:schemeClr>
                  </a:solidFill>
                </a:ln>
                <a:solidFill>
                  <a:srgbClr val="0070C0"/>
                </a:solidFill>
              </a:rPr>
              <a:t>1.</a:t>
            </a:r>
            <a:r>
              <a:rPr lang="zh-CN" altLang="en-US" dirty="0">
                <a:ln>
                  <a:solidFill>
                    <a:schemeClr val="accent1">
                      <a:shade val="15000"/>
                    </a:schemeClr>
                  </a:solidFill>
                </a:ln>
                <a:solidFill>
                  <a:srgbClr val="0070C0"/>
                </a:solidFill>
              </a:rPr>
              <a:t>风味数据库建立</a:t>
            </a:r>
          </a:p>
        </p:txBody>
      </p:sp>
      <p:sp>
        <p:nvSpPr>
          <p:cNvPr id="2" name="文本框 1">
            <a:extLst>
              <a:ext uri="{FF2B5EF4-FFF2-40B4-BE49-F238E27FC236}">
                <a16:creationId xmlns:a16="http://schemas.microsoft.com/office/drawing/2014/main" id="{9DDC5F0B-9C97-0DED-0CA7-BCDC72F98811}"/>
              </a:ext>
            </a:extLst>
          </p:cNvPr>
          <p:cNvSpPr txBox="1"/>
          <p:nvPr/>
        </p:nvSpPr>
        <p:spPr>
          <a:xfrm>
            <a:off x="386391" y="730664"/>
            <a:ext cx="1661865" cy="369332"/>
          </a:xfrm>
          <a:prstGeom prst="rect">
            <a:avLst/>
          </a:prstGeom>
          <a:noFill/>
        </p:spPr>
        <p:txBody>
          <a:bodyPr wrap="square" rtlCol="0">
            <a:spAutoFit/>
          </a:bodyPr>
          <a:lstStyle/>
          <a:p>
            <a:r>
              <a:rPr lang="zh-CN" altLang="en-US" b="1" dirty="0">
                <a:solidFill>
                  <a:srgbClr val="FF0000"/>
                </a:solidFill>
              </a:rPr>
              <a:t>计划完成目标</a:t>
            </a:r>
          </a:p>
        </p:txBody>
      </p:sp>
      <p:cxnSp>
        <p:nvCxnSpPr>
          <p:cNvPr id="38" name="直接连接符 37">
            <a:extLst>
              <a:ext uri="{FF2B5EF4-FFF2-40B4-BE49-F238E27FC236}">
                <a16:creationId xmlns:a16="http://schemas.microsoft.com/office/drawing/2014/main" id="{7F3CF55E-A269-D9A1-A52D-5EE5004A171C}"/>
              </a:ext>
            </a:extLst>
          </p:cNvPr>
          <p:cNvCxnSpPr/>
          <p:nvPr/>
        </p:nvCxnSpPr>
        <p:spPr>
          <a:xfrm>
            <a:off x="5599814" y="1121332"/>
            <a:ext cx="0" cy="5461665"/>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A5098B00-9EA5-FCB4-0538-2E3F9A5E17CC}"/>
              </a:ext>
            </a:extLst>
          </p:cNvPr>
          <p:cNvSpPr txBox="1"/>
          <p:nvPr/>
        </p:nvSpPr>
        <p:spPr>
          <a:xfrm>
            <a:off x="537686" y="1794193"/>
            <a:ext cx="4334555" cy="871683"/>
          </a:xfrm>
          <a:prstGeom prst="rect">
            <a:avLst/>
          </a:prstGeom>
          <a:noFill/>
          <a:ln w="22225">
            <a:solidFill>
              <a:schemeClr val="accent1"/>
            </a:solidFill>
          </a:ln>
        </p:spPr>
        <p:txBody>
          <a:bodyPr wrap="square" rtlCol="0">
            <a:noAutofit/>
          </a:bodyPr>
          <a:lstStyle/>
          <a:p>
            <a:r>
              <a:rPr lang="zh-CN" altLang="en-US" dirty="0"/>
              <a:t>构建市面上成品浓香白酒的理化数据库，主要通过已发表的文献</a:t>
            </a:r>
            <a:endParaRPr lang="en-US" altLang="zh-CN" dirty="0"/>
          </a:p>
          <a:p>
            <a:r>
              <a:rPr lang="zh-CN" altLang="en-US" dirty="0">
                <a:solidFill>
                  <a:srgbClr val="FF0000"/>
                </a:solidFill>
              </a:rPr>
              <a:t>预计完成时间：本月中旬</a:t>
            </a:r>
          </a:p>
        </p:txBody>
      </p:sp>
      <p:sp>
        <p:nvSpPr>
          <p:cNvPr id="53" name="文本框 52">
            <a:extLst>
              <a:ext uri="{FF2B5EF4-FFF2-40B4-BE49-F238E27FC236}">
                <a16:creationId xmlns:a16="http://schemas.microsoft.com/office/drawing/2014/main" id="{00AE8D59-877D-0199-C636-2B7F2B82771F}"/>
              </a:ext>
            </a:extLst>
          </p:cNvPr>
          <p:cNvSpPr txBox="1"/>
          <p:nvPr/>
        </p:nvSpPr>
        <p:spPr>
          <a:xfrm>
            <a:off x="537686" y="3732552"/>
            <a:ext cx="4332582" cy="923330"/>
          </a:xfrm>
          <a:prstGeom prst="rect">
            <a:avLst/>
          </a:prstGeom>
          <a:noFill/>
          <a:ln w="22225">
            <a:solidFill>
              <a:schemeClr val="accent1"/>
            </a:solidFill>
          </a:ln>
        </p:spPr>
        <p:txBody>
          <a:bodyPr wrap="square" rtlCol="0">
            <a:spAutoFit/>
          </a:bodyPr>
          <a:lstStyle/>
          <a:p>
            <a:r>
              <a:rPr lang="zh-CN" altLang="en-US" dirty="0"/>
              <a:t>对不同品牌的成品酒进行风味感官测试，使用已成熟的描述符体系进行强度标定</a:t>
            </a:r>
            <a:endParaRPr lang="en-US" altLang="zh-CN" dirty="0"/>
          </a:p>
          <a:p>
            <a:r>
              <a:rPr lang="zh-CN" altLang="en-US" dirty="0">
                <a:solidFill>
                  <a:srgbClr val="FF0000"/>
                </a:solidFill>
              </a:rPr>
              <a:t>预计完成时间：</a:t>
            </a:r>
            <a:r>
              <a:rPr lang="en-US" altLang="zh-CN" dirty="0">
                <a:solidFill>
                  <a:srgbClr val="FF0000"/>
                </a:solidFill>
              </a:rPr>
              <a:t>4-5</a:t>
            </a:r>
            <a:r>
              <a:rPr lang="zh-CN" altLang="en-US" dirty="0">
                <a:solidFill>
                  <a:srgbClr val="FF0000"/>
                </a:solidFill>
              </a:rPr>
              <a:t>月</a:t>
            </a:r>
          </a:p>
        </p:txBody>
      </p:sp>
      <p:sp>
        <p:nvSpPr>
          <p:cNvPr id="57" name="文本框 56">
            <a:extLst>
              <a:ext uri="{FF2B5EF4-FFF2-40B4-BE49-F238E27FC236}">
                <a16:creationId xmlns:a16="http://schemas.microsoft.com/office/drawing/2014/main" id="{62607BB8-7525-2B4E-F11F-349B25C231AF}"/>
              </a:ext>
            </a:extLst>
          </p:cNvPr>
          <p:cNvSpPr txBox="1"/>
          <p:nvPr/>
        </p:nvSpPr>
        <p:spPr>
          <a:xfrm>
            <a:off x="5987022" y="1774803"/>
            <a:ext cx="4693623" cy="1257877"/>
          </a:xfrm>
          <a:prstGeom prst="rect">
            <a:avLst/>
          </a:prstGeom>
          <a:noFill/>
          <a:ln w="22225">
            <a:solidFill>
              <a:schemeClr val="accent1"/>
            </a:solidFill>
          </a:ln>
        </p:spPr>
        <p:txBody>
          <a:bodyPr wrap="square" rtlCol="0">
            <a:noAutofit/>
          </a:bodyPr>
          <a:lstStyle/>
          <a:p>
            <a:r>
              <a:rPr lang="zh-CN" altLang="en-US" dirty="0"/>
              <a:t>共计约一百五十篇中英文文献，其中中文约</a:t>
            </a:r>
            <a:r>
              <a:rPr lang="en-US" altLang="zh-CN" dirty="0"/>
              <a:t>90</a:t>
            </a:r>
            <a:r>
              <a:rPr lang="zh-CN" altLang="en-US" dirty="0"/>
              <a:t>篇，英文约</a:t>
            </a:r>
            <a:r>
              <a:rPr lang="en-US" altLang="zh-CN" dirty="0"/>
              <a:t>60</a:t>
            </a:r>
            <a:r>
              <a:rPr lang="zh-CN" altLang="en-US" dirty="0"/>
              <a:t>篇，设计主要浓香型白酒风味感官方向，以及白酒中机器学习方向</a:t>
            </a:r>
            <a:endParaRPr lang="en-US" altLang="zh-CN" dirty="0"/>
          </a:p>
          <a:p>
            <a:r>
              <a:rPr lang="zh-CN" altLang="en-US" dirty="0">
                <a:solidFill>
                  <a:srgbClr val="FF0000"/>
                </a:solidFill>
              </a:rPr>
              <a:t>预计完成时间：</a:t>
            </a:r>
            <a:r>
              <a:rPr lang="en-US" altLang="zh-CN" dirty="0">
                <a:solidFill>
                  <a:srgbClr val="FF0000"/>
                </a:solidFill>
              </a:rPr>
              <a:t>3-5</a:t>
            </a:r>
            <a:r>
              <a:rPr lang="zh-CN" altLang="en-US" dirty="0">
                <a:solidFill>
                  <a:srgbClr val="FF0000"/>
                </a:solidFill>
              </a:rPr>
              <a:t>月</a:t>
            </a:r>
            <a:endParaRPr lang="en-US" altLang="zh-CN" dirty="0">
              <a:solidFill>
                <a:srgbClr val="FF0000"/>
              </a:solidFill>
            </a:endParaRPr>
          </a:p>
          <a:p>
            <a:endParaRPr lang="en-US" altLang="zh-CN" dirty="0"/>
          </a:p>
        </p:txBody>
      </p:sp>
      <p:sp>
        <p:nvSpPr>
          <p:cNvPr id="58" name="文本框 57">
            <a:extLst>
              <a:ext uri="{FF2B5EF4-FFF2-40B4-BE49-F238E27FC236}">
                <a16:creationId xmlns:a16="http://schemas.microsoft.com/office/drawing/2014/main" id="{0B9877F8-EEC0-ACE7-33E6-0D5A6CA26732}"/>
              </a:ext>
            </a:extLst>
          </p:cNvPr>
          <p:cNvSpPr txBox="1"/>
          <p:nvPr/>
        </p:nvSpPr>
        <p:spPr>
          <a:xfrm>
            <a:off x="5997884" y="4116196"/>
            <a:ext cx="4693623" cy="1532075"/>
          </a:xfrm>
          <a:prstGeom prst="rect">
            <a:avLst/>
          </a:prstGeom>
          <a:noFill/>
          <a:ln w="22225">
            <a:solidFill>
              <a:schemeClr val="accent1"/>
            </a:solidFill>
          </a:ln>
        </p:spPr>
        <p:txBody>
          <a:bodyPr wrap="square" rtlCol="0">
            <a:noAutofit/>
          </a:bodyPr>
          <a:lstStyle/>
          <a:p>
            <a:r>
              <a:rPr lang="zh-CN" altLang="en-US" dirty="0"/>
              <a:t>开始编写机器学习与浓香型白酒研究相结合的研究近况综述</a:t>
            </a:r>
            <a:endParaRPr lang="en-US" altLang="zh-CN" dirty="0"/>
          </a:p>
          <a:p>
            <a:r>
              <a:rPr lang="zh-CN" altLang="en-US" dirty="0"/>
              <a:t>论文大框架及前言、研究现状、背景及创新点的文书编写</a:t>
            </a:r>
            <a:endParaRPr lang="en-US" altLang="zh-CN" dirty="0"/>
          </a:p>
          <a:p>
            <a:r>
              <a:rPr lang="zh-CN" altLang="en-US" dirty="0">
                <a:solidFill>
                  <a:srgbClr val="FF0000"/>
                </a:solidFill>
              </a:rPr>
              <a:t>预计完成时间：</a:t>
            </a:r>
            <a:r>
              <a:rPr lang="en-US" altLang="zh-CN" dirty="0">
                <a:solidFill>
                  <a:srgbClr val="FF0000"/>
                </a:solidFill>
              </a:rPr>
              <a:t>3-4</a:t>
            </a:r>
            <a:r>
              <a:rPr lang="zh-CN" altLang="en-US" dirty="0">
                <a:solidFill>
                  <a:srgbClr val="FF0000"/>
                </a:solidFill>
              </a:rPr>
              <a:t>月</a:t>
            </a:r>
            <a:endParaRPr lang="en-US" altLang="zh-CN" dirty="0">
              <a:solidFill>
                <a:srgbClr val="FF0000"/>
              </a:solidFill>
            </a:endParaRPr>
          </a:p>
        </p:txBody>
      </p:sp>
      <p:sp>
        <p:nvSpPr>
          <p:cNvPr id="3" name="矩形: 圆角 2">
            <a:extLst>
              <a:ext uri="{FF2B5EF4-FFF2-40B4-BE49-F238E27FC236}">
                <a16:creationId xmlns:a16="http://schemas.microsoft.com/office/drawing/2014/main" id="{84700474-F898-2D82-CAFE-35C34721695F}"/>
              </a:ext>
            </a:extLst>
          </p:cNvPr>
          <p:cNvSpPr/>
          <p:nvPr/>
        </p:nvSpPr>
        <p:spPr>
          <a:xfrm>
            <a:off x="537686" y="3032681"/>
            <a:ext cx="1903759" cy="333066"/>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n>
                  <a:solidFill>
                    <a:schemeClr val="accent1">
                      <a:shade val="15000"/>
                    </a:schemeClr>
                  </a:solidFill>
                </a:ln>
                <a:solidFill>
                  <a:srgbClr val="0070C0"/>
                </a:solidFill>
              </a:rPr>
              <a:t>2.</a:t>
            </a:r>
            <a:r>
              <a:rPr lang="zh-CN" altLang="en-US" dirty="0">
                <a:ln>
                  <a:solidFill>
                    <a:schemeClr val="accent1">
                      <a:shade val="15000"/>
                    </a:schemeClr>
                  </a:solidFill>
                </a:ln>
                <a:solidFill>
                  <a:srgbClr val="0070C0"/>
                </a:solidFill>
              </a:rPr>
              <a:t>风味轮廓建立</a:t>
            </a:r>
          </a:p>
        </p:txBody>
      </p:sp>
      <p:sp>
        <p:nvSpPr>
          <p:cNvPr id="4" name="矩形: 圆角 3">
            <a:extLst>
              <a:ext uri="{FF2B5EF4-FFF2-40B4-BE49-F238E27FC236}">
                <a16:creationId xmlns:a16="http://schemas.microsoft.com/office/drawing/2014/main" id="{AD196AB3-B962-4F6B-2C6B-928D93042E66}"/>
              </a:ext>
            </a:extLst>
          </p:cNvPr>
          <p:cNvSpPr/>
          <p:nvPr/>
        </p:nvSpPr>
        <p:spPr>
          <a:xfrm>
            <a:off x="583406" y="5022687"/>
            <a:ext cx="3430810" cy="333066"/>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n>
                  <a:solidFill>
                    <a:schemeClr val="accent1">
                      <a:shade val="15000"/>
                    </a:schemeClr>
                  </a:solidFill>
                </a:ln>
                <a:solidFill>
                  <a:srgbClr val="0070C0"/>
                </a:solidFill>
              </a:rPr>
              <a:t>3.</a:t>
            </a:r>
            <a:r>
              <a:rPr lang="zh-CN" altLang="en-US" dirty="0">
                <a:ln>
                  <a:solidFill>
                    <a:schemeClr val="accent1">
                      <a:shade val="15000"/>
                    </a:schemeClr>
                  </a:solidFill>
                </a:ln>
                <a:solidFill>
                  <a:srgbClr val="0070C0"/>
                </a:solidFill>
              </a:rPr>
              <a:t>机器学习建立神经网络小模型</a:t>
            </a:r>
          </a:p>
        </p:txBody>
      </p:sp>
      <p:sp>
        <p:nvSpPr>
          <p:cNvPr id="6" name="文本框 5">
            <a:extLst>
              <a:ext uri="{FF2B5EF4-FFF2-40B4-BE49-F238E27FC236}">
                <a16:creationId xmlns:a16="http://schemas.microsoft.com/office/drawing/2014/main" id="{EB2F7940-709A-BBE4-AF9B-E73B6519B94A}"/>
              </a:ext>
            </a:extLst>
          </p:cNvPr>
          <p:cNvSpPr txBox="1"/>
          <p:nvPr/>
        </p:nvSpPr>
        <p:spPr>
          <a:xfrm>
            <a:off x="537686" y="5594880"/>
            <a:ext cx="4332582" cy="923330"/>
          </a:xfrm>
          <a:prstGeom prst="rect">
            <a:avLst/>
          </a:prstGeom>
          <a:noFill/>
          <a:ln w="22225">
            <a:solidFill>
              <a:schemeClr val="accent1"/>
            </a:solidFill>
          </a:ln>
        </p:spPr>
        <p:txBody>
          <a:bodyPr wrap="square" rtlCol="0">
            <a:spAutoFit/>
          </a:bodyPr>
          <a:lstStyle/>
          <a:p>
            <a:r>
              <a:rPr lang="zh-CN" altLang="en-US" dirty="0"/>
              <a:t>从机器学习模型库中寻找可用模型调整，整合参数和计算公式</a:t>
            </a:r>
            <a:endParaRPr lang="en-US" altLang="zh-CN" dirty="0"/>
          </a:p>
          <a:p>
            <a:r>
              <a:rPr lang="zh-CN" altLang="en-US" dirty="0">
                <a:solidFill>
                  <a:srgbClr val="FF0000"/>
                </a:solidFill>
              </a:rPr>
              <a:t>预计完成时间：</a:t>
            </a:r>
            <a:r>
              <a:rPr lang="en-US" altLang="zh-CN" dirty="0">
                <a:solidFill>
                  <a:srgbClr val="FF0000"/>
                </a:solidFill>
              </a:rPr>
              <a:t>5-6</a:t>
            </a:r>
            <a:r>
              <a:rPr lang="zh-CN" altLang="en-US" dirty="0">
                <a:solidFill>
                  <a:srgbClr val="FF0000"/>
                </a:solidFill>
              </a:rPr>
              <a:t>月</a:t>
            </a:r>
          </a:p>
        </p:txBody>
      </p:sp>
      <p:sp>
        <p:nvSpPr>
          <p:cNvPr id="7" name="文本框 6">
            <a:extLst>
              <a:ext uri="{FF2B5EF4-FFF2-40B4-BE49-F238E27FC236}">
                <a16:creationId xmlns:a16="http://schemas.microsoft.com/office/drawing/2014/main" id="{8A8B5C2C-0B96-9BB3-1966-9B277D201268}"/>
              </a:ext>
            </a:extLst>
          </p:cNvPr>
          <p:cNvSpPr txBox="1"/>
          <p:nvPr/>
        </p:nvSpPr>
        <p:spPr>
          <a:xfrm>
            <a:off x="5997884" y="752000"/>
            <a:ext cx="1661865" cy="369332"/>
          </a:xfrm>
          <a:prstGeom prst="rect">
            <a:avLst/>
          </a:prstGeom>
          <a:noFill/>
        </p:spPr>
        <p:txBody>
          <a:bodyPr wrap="square" rtlCol="0">
            <a:spAutoFit/>
          </a:bodyPr>
          <a:lstStyle/>
          <a:p>
            <a:r>
              <a:rPr lang="zh-CN" altLang="en-US" b="1" dirty="0">
                <a:solidFill>
                  <a:srgbClr val="FF0000"/>
                </a:solidFill>
              </a:rPr>
              <a:t>文案工作</a:t>
            </a:r>
          </a:p>
        </p:txBody>
      </p:sp>
      <p:sp>
        <p:nvSpPr>
          <p:cNvPr id="8" name="矩形: 圆角 7">
            <a:extLst>
              <a:ext uri="{FF2B5EF4-FFF2-40B4-BE49-F238E27FC236}">
                <a16:creationId xmlns:a16="http://schemas.microsoft.com/office/drawing/2014/main" id="{6728B697-9072-F589-5CDF-003C62DA0B45}"/>
              </a:ext>
            </a:extLst>
          </p:cNvPr>
          <p:cNvSpPr/>
          <p:nvPr/>
        </p:nvSpPr>
        <p:spPr>
          <a:xfrm>
            <a:off x="6095999" y="3429000"/>
            <a:ext cx="3614928" cy="359074"/>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n>
                  <a:solidFill>
                    <a:schemeClr val="accent1">
                      <a:shade val="15000"/>
                    </a:schemeClr>
                  </a:solidFill>
                </a:ln>
                <a:solidFill>
                  <a:srgbClr val="0070C0"/>
                </a:solidFill>
              </a:rPr>
              <a:t>2.</a:t>
            </a:r>
            <a:r>
              <a:rPr lang="zh-CN" altLang="en-US" dirty="0">
                <a:ln>
                  <a:solidFill>
                    <a:schemeClr val="accent1">
                      <a:shade val="15000"/>
                    </a:schemeClr>
                  </a:solidFill>
                </a:ln>
                <a:solidFill>
                  <a:srgbClr val="0070C0"/>
                </a:solidFill>
              </a:rPr>
              <a:t>论文框架及相关研究近况编写</a:t>
            </a:r>
          </a:p>
        </p:txBody>
      </p:sp>
    </p:spTree>
    <p:extLst>
      <p:ext uri="{BB962C8B-B14F-4D97-AF65-F5344CB8AC3E}">
        <p14:creationId xmlns:p14="http://schemas.microsoft.com/office/powerpoint/2010/main" val="2053351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FBF12-E117-7E90-0722-6C11C7DF4199}"/>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FF8ECBA9-450C-29C0-8346-F4B7FDCD8F71}"/>
              </a:ext>
            </a:extLst>
          </p:cNvPr>
          <p:cNvSpPr txBox="1"/>
          <p:nvPr/>
        </p:nvSpPr>
        <p:spPr>
          <a:xfrm>
            <a:off x="26391" y="2771"/>
            <a:ext cx="9968402" cy="584775"/>
          </a:xfrm>
          <a:prstGeom prst="rect">
            <a:avLst/>
          </a:prstGeom>
          <a:noFill/>
        </p:spPr>
        <p:txBody>
          <a:bodyPr wrap="square">
            <a:spAutoFit/>
          </a:bodyPr>
          <a:lstStyle/>
          <a:p>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本学期各目标开展方案</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pic>
        <p:nvPicPr>
          <p:cNvPr id="17" name="图片 16">
            <a:extLst>
              <a:ext uri="{FF2B5EF4-FFF2-40B4-BE49-F238E27FC236}">
                <a16:creationId xmlns:a16="http://schemas.microsoft.com/office/drawing/2014/main" id="{5A99F43C-A832-2994-7FA5-A5AC6A4684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714" y="64216"/>
            <a:ext cx="646689" cy="643954"/>
          </a:xfrm>
          <a:prstGeom prst="rect">
            <a:avLst/>
          </a:prstGeom>
        </p:spPr>
      </p:pic>
      <p:cxnSp>
        <p:nvCxnSpPr>
          <p:cNvPr id="19" name="直接连接符 18">
            <a:extLst>
              <a:ext uri="{FF2B5EF4-FFF2-40B4-BE49-F238E27FC236}">
                <a16:creationId xmlns:a16="http://schemas.microsoft.com/office/drawing/2014/main" id="{775179AB-7A9E-71CC-36E9-AFB83B9EF04A}"/>
              </a:ext>
            </a:extLst>
          </p:cNvPr>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sp>
        <p:nvSpPr>
          <p:cNvPr id="2" name="文本框 1">
            <a:extLst>
              <a:ext uri="{FF2B5EF4-FFF2-40B4-BE49-F238E27FC236}">
                <a16:creationId xmlns:a16="http://schemas.microsoft.com/office/drawing/2014/main" id="{C05CD5EC-C001-1CB2-638E-7864E447AA4E}"/>
              </a:ext>
            </a:extLst>
          </p:cNvPr>
          <p:cNvSpPr txBox="1"/>
          <p:nvPr/>
        </p:nvSpPr>
        <p:spPr>
          <a:xfrm>
            <a:off x="414037" y="719792"/>
            <a:ext cx="4139671" cy="369332"/>
          </a:xfrm>
          <a:prstGeom prst="rect">
            <a:avLst/>
          </a:prstGeom>
          <a:noFill/>
        </p:spPr>
        <p:txBody>
          <a:bodyPr wrap="square" rtlCol="0">
            <a:spAutoFit/>
          </a:bodyPr>
          <a:lstStyle/>
          <a:p>
            <a:r>
              <a:rPr lang="zh-CN" altLang="en-US" b="1" dirty="0">
                <a:solidFill>
                  <a:srgbClr val="FF0000"/>
                </a:solidFill>
              </a:rPr>
              <a:t>本月目标：风味数据库建立</a:t>
            </a:r>
          </a:p>
        </p:txBody>
      </p:sp>
      <p:sp>
        <p:nvSpPr>
          <p:cNvPr id="10" name="文本框 9">
            <a:extLst>
              <a:ext uri="{FF2B5EF4-FFF2-40B4-BE49-F238E27FC236}">
                <a16:creationId xmlns:a16="http://schemas.microsoft.com/office/drawing/2014/main" id="{8F250E90-8B01-E312-4DFF-3AD2B47EAE44}"/>
              </a:ext>
            </a:extLst>
          </p:cNvPr>
          <p:cNvSpPr txBox="1"/>
          <p:nvPr/>
        </p:nvSpPr>
        <p:spPr>
          <a:xfrm>
            <a:off x="7539574" y="1904670"/>
            <a:ext cx="2700670" cy="923330"/>
          </a:xfrm>
          <a:prstGeom prst="rect">
            <a:avLst/>
          </a:prstGeom>
          <a:noFill/>
          <a:ln w="25400">
            <a:solidFill>
              <a:schemeClr val="accent1"/>
            </a:solidFill>
          </a:ln>
        </p:spPr>
        <p:txBody>
          <a:bodyPr wrap="square" rtlCol="0">
            <a:spAutoFit/>
          </a:bodyPr>
          <a:lstStyle/>
          <a:p>
            <a:r>
              <a:rPr lang="zh-CN" altLang="en-US" dirty="0"/>
              <a:t>按照风味物质种类、</a:t>
            </a:r>
            <a:r>
              <a:rPr lang="en-US" altLang="zh-CN" dirty="0"/>
              <a:t>CAS</a:t>
            </a:r>
            <a:r>
              <a:rPr lang="zh-CN" altLang="en-US" dirty="0"/>
              <a:t>编号、化合物结构、进行整理统计，进行数据录入</a:t>
            </a:r>
          </a:p>
        </p:txBody>
      </p:sp>
      <p:sp>
        <p:nvSpPr>
          <p:cNvPr id="22" name="文本框 21">
            <a:extLst>
              <a:ext uri="{FF2B5EF4-FFF2-40B4-BE49-F238E27FC236}">
                <a16:creationId xmlns:a16="http://schemas.microsoft.com/office/drawing/2014/main" id="{8A9D90B0-E356-7D67-4A61-5826E6C03FCB}"/>
              </a:ext>
            </a:extLst>
          </p:cNvPr>
          <p:cNvSpPr txBox="1"/>
          <p:nvPr/>
        </p:nvSpPr>
        <p:spPr>
          <a:xfrm>
            <a:off x="5914614" y="4989150"/>
            <a:ext cx="2000373" cy="369332"/>
          </a:xfrm>
          <a:prstGeom prst="rect">
            <a:avLst/>
          </a:prstGeom>
          <a:noFill/>
        </p:spPr>
        <p:txBody>
          <a:bodyPr wrap="square" rtlCol="0">
            <a:spAutoFit/>
          </a:bodyPr>
          <a:lstStyle/>
          <a:p>
            <a:r>
              <a:rPr lang="zh-CN" altLang="en-US" b="1" dirty="0">
                <a:solidFill>
                  <a:srgbClr val="FF0000"/>
                </a:solidFill>
              </a:rPr>
              <a:t>完成目标（本月）</a:t>
            </a:r>
          </a:p>
        </p:txBody>
      </p:sp>
      <p:sp>
        <p:nvSpPr>
          <p:cNvPr id="26" name="文本框 25">
            <a:extLst>
              <a:ext uri="{FF2B5EF4-FFF2-40B4-BE49-F238E27FC236}">
                <a16:creationId xmlns:a16="http://schemas.microsoft.com/office/drawing/2014/main" id="{4A6A4A33-D864-EFF2-2813-BFF56D3F4960}"/>
              </a:ext>
            </a:extLst>
          </p:cNvPr>
          <p:cNvSpPr txBox="1"/>
          <p:nvPr/>
        </p:nvSpPr>
        <p:spPr>
          <a:xfrm>
            <a:off x="5786061" y="6135361"/>
            <a:ext cx="3507025" cy="369332"/>
          </a:xfrm>
          <a:prstGeom prst="rect">
            <a:avLst/>
          </a:prstGeom>
          <a:noFill/>
        </p:spPr>
        <p:txBody>
          <a:bodyPr wrap="square" rtlCol="0">
            <a:spAutoFit/>
          </a:bodyPr>
          <a:lstStyle/>
          <a:p>
            <a:r>
              <a:rPr lang="zh-CN" altLang="en-US" dirty="0"/>
              <a:t>工艺、产区、检测方法标记划分</a:t>
            </a:r>
          </a:p>
        </p:txBody>
      </p:sp>
      <p:sp>
        <p:nvSpPr>
          <p:cNvPr id="28" name="文本框 27">
            <a:extLst>
              <a:ext uri="{FF2B5EF4-FFF2-40B4-BE49-F238E27FC236}">
                <a16:creationId xmlns:a16="http://schemas.microsoft.com/office/drawing/2014/main" id="{EB65C79F-4418-131F-1D18-6B30838A4A2F}"/>
              </a:ext>
            </a:extLst>
          </p:cNvPr>
          <p:cNvSpPr txBox="1"/>
          <p:nvPr/>
        </p:nvSpPr>
        <p:spPr>
          <a:xfrm>
            <a:off x="6010785" y="5571938"/>
            <a:ext cx="2673893" cy="369332"/>
          </a:xfrm>
          <a:prstGeom prst="rect">
            <a:avLst/>
          </a:prstGeom>
          <a:noFill/>
        </p:spPr>
        <p:txBody>
          <a:bodyPr wrap="square" rtlCol="0">
            <a:spAutoFit/>
          </a:bodyPr>
          <a:lstStyle/>
          <a:p>
            <a:r>
              <a:rPr lang="zh-CN" altLang="en-US" dirty="0"/>
              <a:t>数据进行统一化处理</a:t>
            </a:r>
          </a:p>
        </p:txBody>
      </p:sp>
      <p:cxnSp>
        <p:nvCxnSpPr>
          <p:cNvPr id="38" name="直接连接符 37">
            <a:extLst>
              <a:ext uri="{FF2B5EF4-FFF2-40B4-BE49-F238E27FC236}">
                <a16:creationId xmlns:a16="http://schemas.microsoft.com/office/drawing/2014/main" id="{CFD3FC73-8CCE-C959-7872-B080F8A3E948}"/>
              </a:ext>
            </a:extLst>
          </p:cNvPr>
          <p:cNvCxnSpPr/>
          <p:nvPr/>
        </p:nvCxnSpPr>
        <p:spPr>
          <a:xfrm>
            <a:off x="5599814" y="1121332"/>
            <a:ext cx="0" cy="5461665"/>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1" name="组合 50">
            <a:extLst>
              <a:ext uri="{FF2B5EF4-FFF2-40B4-BE49-F238E27FC236}">
                <a16:creationId xmlns:a16="http://schemas.microsoft.com/office/drawing/2014/main" id="{459E1CAC-58A7-335F-F9B7-D3DD7112DE70}"/>
              </a:ext>
            </a:extLst>
          </p:cNvPr>
          <p:cNvGrpSpPr/>
          <p:nvPr/>
        </p:nvGrpSpPr>
        <p:grpSpPr>
          <a:xfrm>
            <a:off x="2619854" y="2955471"/>
            <a:ext cx="2665161" cy="1650570"/>
            <a:chOff x="2145973" y="4687134"/>
            <a:chExt cx="2665161" cy="1650570"/>
          </a:xfrm>
        </p:grpSpPr>
        <p:pic>
          <p:nvPicPr>
            <p:cNvPr id="6" name="图片 5" descr="文本&#10;&#10;AI 生成的内容可能不正确。">
              <a:extLst>
                <a:ext uri="{FF2B5EF4-FFF2-40B4-BE49-F238E27FC236}">
                  <a16:creationId xmlns:a16="http://schemas.microsoft.com/office/drawing/2014/main" id="{3C49F520-9CF6-CA01-F39C-387B3B2E47A9}"/>
                </a:ext>
              </a:extLst>
            </p:cNvPr>
            <p:cNvPicPr>
              <a:picLocks noChangeAspect="1"/>
            </p:cNvPicPr>
            <p:nvPr/>
          </p:nvPicPr>
          <p:blipFill>
            <a:blip r:embed="rId4"/>
            <a:stretch>
              <a:fillRect/>
            </a:stretch>
          </p:blipFill>
          <p:spPr>
            <a:xfrm>
              <a:off x="2814167" y="4765586"/>
              <a:ext cx="1996967" cy="1493667"/>
            </a:xfrm>
            <a:prstGeom prst="rect">
              <a:avLst/>
            </a:prstGeom>
          </p:spPr>
        </p:pic>
        <p:sp>
          <p:nvSpPr>
            <p:cNvPr id="41" name="矩形 40">
              <a:extLst>
                <a:ext uri="{FF2B5EF4-FFF2-40B4-BE49-F238E27FC236}">
                  <a16:creationId xmlns:a16="http://schemas.microsoft.com/office/drawing/2014/main" id="{6D398D3B-53F3-4638-7485-D7E3BBC21FF8}"/>
                </a:ext>
              </a:extLst>
            </p:cNvPr>
            <p:cNvSpPr/>
            <p:nvPr/>
          </p:nvSpPr>
          <p:spPr>
            <a:xfrm>
              <a:off x="2739235" y="4687134"/>
              <a:ext cx="281792" cy="16505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箭头: 右 41">
              <a:extLst>
                <a:ext uri="{FF2B5EF4-FFF2-40B4-BE49-F238E27FC236}">
                  <a16:creationId xmlns:a16="http://schemas.microsoft.com/office/drawing/2014/main" id="{955ECBEA-2C50-09E6-2CB5-8665634A45BF}"/>
                </a:ext>
              </a:extLst>
            </p:cNvPr>
            <p:cNvSpPr/>
            <p:nvPr/>
          </p:nvSpPr>
          <p:spPr>
            <a:xfrm rot="10800000">
              <a:off x="2145973" y="5342526"/>
              <a:ext cx="562936" cy="23330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pSp>
      <p:sp>
        <p:nvSpPr>
          <p:cNvPr id="45" name="文本框 44">
            <a:extLst>
              <a:ext uri="{FF2B5EF4-FFF2-40B4-BE49-F238E27FC236}">
                <a16:creationId xmlns:a16="http://schemas.microsoft.com/office/drawing/2014/main" id="{A6D3D8AC-8E4E-23F8-CBE1-8348910A55F8}"/>
              </a:ext>
            </a:extLst>
          </p:cNvPr>
          <p:cNvSpPr txBox="1"/>
          <p:nvPr/>
        </p:nvSpPr>
        <p:spPr>
          <a:xfrm>
            <a:off x="268703" y="1459486"/>
            <a:ext cx="2295730" cy="369332"/>
          </a:xfrm>
          <a:prstGeom prst="rect">
            <a:avLst/>
          </a:prstGeom>
          <a:solidFill>
            <a:schemeClr val="tx1">
              <a:alpha val="14000"/>
            </a:schemeClr>
          </a:solidFill>
        </p:spPr>
        <p:txBody>
          <a:bodyPr wrap="square" rtlCol="0">
            <a:spAutoFit/>
          </a:bodyPr>
          <a:lstStyle/>
          <a:p>
            <a:r>
              <a:rPr lang="zh-CN" altLang="en-US" sz="1600" dirty="0"/>
              <a:t>一：</a:t>
            </a:r>
            <a:r>
              <a:rPr lang="en-US" altLang="zh-CN" sz="1600" dirty="0"/>
              <a:t> WOS</a:t>
            </a:r>
            <a:r>
              <a:rPr lang="zh-CN" altLang="en-US" dirty="0"/>
              <a:t>文献检索</a:t>
            </a:r>
          </a:p>
        </p:txBody>
      </p:sp>
      <p:pic>
        <p:nvPicPr>
          <p:cNvPr id="47" name="图片 46" descr="图形用户界面, 文本, 应用程序, 聊天或短信&#10;&#10;AI 生成的内容可能不正确。">
            <a:extLst>
              <a:ext uri="{FF2B5EF4-FFF2-40B4-BE49-F238E27FC236}">
                <a16:creationId xmlns:a16="http://schemas.microsoft.com/office/drawing/2014/main" id="{2088B218-F0B5-0330-AB81-CA6A2E6CAF87}"/>
              </a:ext>
            </a:extLst>
          </p:cNvPr>
          <p:cNvPicPr>
            <a:picLocks noChangeAspect="1"/>
          </p:cNvPicPr>
          <p:nvPr/>
        </p:nvPicPr>
        <p:blipFill>
          <a:blip r:embed="rId5"/>
          <a:stretch>
            <a:fillRect/>
          </a:stretch>
        </p:blipFill>
        <p:spPr>
          <a:xfrm>
            <a:off x="410921" y="1974269"/>
            <a:ext cx="1114810" cy="1217400"/>
          </a:xfrm>
          <a:prstGeom prst="rect">
            <a:avLst/>
          </a:prstGeom>
        </p:spPr>
      </p:pic>
      <p:sp>
        <p:nvSpPr>
          <p:cNvPr id="48" name="矩形 47">
            <a:extLst>
              <a:ext uri="{FF2B5EF4-FFF2-40B4-BE49-F238E27FC236}">
                <a16:creationId xmlns:a16="http://schemas.microsoft.com/office/drawing/2014/main" id="{051921D6-3869-80F9-1C1E-C6C78082D6F2}"/>
              </a:ext>
            </a:extLst>
          </p:cNvPr>
          <p:cNvSpPr/>
          <p:nvPr/>
        </p:nvSpPr>
        <p:spPr>
          <a:xfrm>
            <a:off x="387443" y="1879699"/>
            <a:ext cx="1197031" cy="7032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9A971748-5036-81A9-F046-AF8C4B78E8A2}"/>
              </a:ext>
            </a:extLst>
          </p:cNvPr>
          <p:cNvSpPr/>
          <p:nvPr/>
        </p:nvSpPr>
        <p:spPr>
          <a:xfrm>
            <a:off x="2172775" y="1984521"/>
            <a:ext cx="562936" cy="23330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0" name="文本框 49">
            <a:extLst>
              <a:ext uri="{FF2B5EF4-FFF2-40B4-BE49-F238E27FC236}">
                <a16:creationId xmlns:a16="http://schemas.microsoft.com/office/drawing/2014/main" id="{FD364549-A19C-9FFF-B1A5-5519D4FCAFF0}"/>
              </a:ext>
            </a:extLst>
          </p:cNvPr>
          <p:cNvSpPr txBox="1"/>
          <p:nvPr/>
        </p:nvSpPr>
        <p:spPr>
          <a:xfrm>
            <a:off x="2802620" y="1485561"/>
            <a:ext cx="2671716" cy="923330"/>
          </a:xfrm>
          <a:prstGeom prst="rect">
            <a:avLst/>
          </a:prstGeom>
          <a:noFill/>
          <a:ln w="25400">
            <a:solidFill>
              <a:schemeClr val="accent1"/>
            </a:solidFill>
          </a:ln>
        </p:spPr>
        <p:txBody>
          <a:bodyPr wrap="square" rtlCol="0">
            <a:spAutoFit/>
          </a:bodyPr>
          <a:lstStyle/>
          <a:p>
            <a:r>
              <a:rPr lang="zh-CN" altLang="en-US" dirty="0"/>
              <a:t>以</a:t>
            </a:r>
            <a:r>
              <a:rPr lang="en-US" altLang="zh-CN" dirty="0"/>
              <a:t>strong flavor</a:t>
            </a:r>
            <a:r>
              <a:rPr lang="zh-CN" altLang="en-US" dirty="0"/>
              <a:t>、</a:t>
            </a:r>
            <a:r>
              <a:rPr lang="en-US" altLang="zh-CN" dirty="0"/>
              <a:t>aroma</a:t>
            </a:r>
            <a:r>
              <a:rPr lang="zh-CN" altLang="en-US" dirty="0"/>
              <a:t>、</a:t>
            </a:r>
            <a:r>
              <a:rPr lang="en-US" altLang="zh-CN" dirty="0" err="1"/>
              <a:t>luzhou</a:t>
            </a:r>
            <a:r>
              <a:rPr lang="en-US" altLang="zh-CN" dirty="0"/>
              <a:t> baijiu</a:t>
            </a:r>
            <a:r>
              <a:rPr lang="zh-CN" altLang="en-US" dirty="0"/>
              <a:t>为主题检索共</a:t>
            </a:r>
            <a:r>
              <a:rPr lang="en-US" altLang="zh-CN" dirty="0"/>
              <a:t>300</a:t>
            </a:r>
            <a:r>
              <a:rPr lang="zh-CN" altLang="en-US" dirty="0"/>
              <a:t>余篇文献进行筛选</a:t>
            </a:r>
          </a:p>
        </p:txBody>
      </p:sp>
      <p:sp>
        <p:nvSpPr>
          <p:cNvPr id="52" name="箭头: 右 51">
            <a:extLst>
              <a:ext uri="{FF2B5EF4-FFF2-40B4-BE49-F238E27FC236}">
                <a16:creationId xmlns:a16="http://schemas.microsoft.com/office/drawing/2014/main" id="{0A29A795-23BC-D7F1-8D93-05BA500958F7}"/>
              </a:ext>
            </a:extLst>
          </p:cNvPr>
          <p:cNvSpPr/>
          <p:nvPr/>
        </p:nvSpPr>
        <p:spPr>
          <a:xfrm rot="5400000">
            <a:off x="3983547" y="2580340"/>
            <a:ext cx="562936" cy="23330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3" name="文本框 52">
            <a:extLst>
              <a:ext uri="{FF2B5EF4-FFF2-40B4-BE49-F238E27FC236}">
                <a16:creationId xmlns:a16="http://schemas.microsoft.com/office/drawing/2014/main" id="{93DE2A27-8EC2-441C-FF81-ADCF8C460263}"/>
              </a:ext>
            </a:extLst>
          </p:cNvPr>
          <p:cNvSpPr txBox="1"/>
          <p:nvPr/>
        </p:nvSpPr>
        <p:spPr>
          <a:xfrm>
            <a:off x="268703" y="3390499"/>
            <a:ext cx="2290959" cy="923330"/>
          </a:xfrm>
          <a:prstGeom prst="rect">
            <a:avLst/>
          </a:prstGeom>
          <a:noFill/>
          <a:ln w="25400">
            <a:solidFill>
              <a:schemeClr val="accent1"/>
            </a:solidFill>
          </a:ln>
        </p:spPr>
        <p:txBody>
          <a:bodyPr wrap="square" rtlCol="0">
            <a:spAutoFit/>
          </a:bodyPr>
          <a:lstStyle/>
          <a:p>
            <a:r>
              <a:rPr lang="zh-CN" altLang="en-US" sz="1600" dirty="0"/>
              <a:t>共计</a:t>
            </a:r>
            <a:r>
              <a:rPr lang="en-US" altLang="zh-CN" dirty="0"/>
              <a:t>20</a:t>
            </a:r>
            <a:r>
              <a:rPr lang="zh-CN" altLang="en-US" dirty="0"/>
              <a:t>余篇，每篇提供</a:t>
            </a:r>
            <a:r>
              <a:rPr lang="en-US" altLang="zh-CN" dirty="0"/>
              <a:t>2~10</a:t>
            </a:r>
            <a:r>
              <a:rPr lang="zh-CN" altLang="en-US" dirty="0"/>
              <a:t>款有差异的浓香型定量数据</a:t>
            </a:r>
          </a:p>
        </p:txBody>
      </p:sp>
      <p:sp>
        <p:nvSpPr>
          <p:cNvPr id="54" name="文本框 53">
            <a:extLst>
              <a:ext uri="{FF2B5EF4-FFF2-40B4-BE49-F238E27FC236}">
                <a16:creationId xmlns:a16="http://schemas.microsoft.com/office/drawing/2014/main" id="{7C4A4613-7DD5-57D8-9C90-82E38597B8DA}"/>
              </a:ext>
            </a:extLst>
          </p:cNvPr>
          <p:cNvSpPr txBox="1"/>
          <p:nvPr/>
        </p:nvSpPr>
        <p:spPr>
          <a:xfrm>
            <a:off x="268703" y="4590197"/>
            <a:ext cx="2295730" cy="338554"/>
          </a:xfrm>
          <a:prstGeom prst="rect">
            <a:avLst/>
          </a:prstGeom>
          <a:solidFill>
            <a:schemeClr val="tx1">
              <a:alpha val="14000"/>
            </a:schemeClr>
          </a:solidFill>
        </p:spPr>
        <p:txBody>
          <a:bodyPr wrap="square" rtlCol="0">
            <a:spAutoFit/>
          </a:bodyPr>
          <a:lstStyle/>
          <a:p>
            <a:r>
              <a:rPr lang="zh-CN" altLang="en-US" sz="1600" dirty="0"/>
              <a:t>二：中文文献搜集</a:t>
            </a:r>
          </a:p>
        </p:txBody>
      </p:sp>
      <p:sp>
        <p:nvSpPr>
          <p:cNvPr id="3" name="文本框 2">
            <a:extLst>
              <a:ext uri="{FF2B5EF4-FFF2-40B4-BE49-F238E27FC236}">
                <a16:creationId xmlns:a16="http://schemas.microsoft.com/office/drawing/2014/main" id="{9FF7634D-FB08-BA32-BE78-F586577DAC40}"/>
              </a:ext>
            </a:extLst>
          </p:cNvPr>
          <p:cNvSpPr txBox="1"/>
          <p:nvPr/>
        </p:nvSpPr>
        <p:spPr>
          <a:xfrm>
            <a:off x="5863201" y="1465098"/>
            <a:ext cx="2274957" cy="369332"/>
          </a:xfrm>
          <a:prstGeom prst="rect">
            <a:avLst/>
          </a:prstGeom>
          <a:solidFill>
            <a:schemeClr val="tx1">
              <a:alpha val="14000"/>
            </a:schemeClr>
          </a:solidFill>
        </p:spPr>
        <p:txBody>
          <a:bodyPr wrap="square" rtlCol="0">
            <a:spAutoFit/>
          </a:bodyPr>
          <a:lstStyle/>
          <a:p>
            <a:r>
              <a:rPr lang="zh-CN" altLang="en-US" dirty="0"/>
              <a:t>第三步：数据库建立</a:t>
            </a:r>
          </a:p>
        </p:txBody>
      </p:sp>
      <p:pic>
        <p:nvPicPr>
          <p:cNvPr id="7" name="图片 6" descr="电脑屏幕截图&#10;&#10;AI 生成的内容可能不正确。">
            <a:extLst>
              <a:ext uri="{FF2B5EF4-FFF2-40B4-BE49-F238E27FC236}">
                <a16:creationId xmlns:a16="http://schemas.microsoft.com/office/drawing/2014/main" id="{BC4BD83F-7F21-4F3D-85F9-889A7236E025}"/>
              </a:ext>
            </a:extLst>
          </p:cNvPr>
          <p:cNvPicPr>
            <a:picLocks noChangeAspect="1"/>
          </p:cNvPicPr>
          <p:nvPr/>
        </p:nvPicPr>
        <p:blipFill>
          <a:blip r:embed="rId6"/>
          <a:stretch>
            <a:fillRect/>
          </a:stretch>
        </p:blipFill>
        <p:spPr>
          <a:xfrm>
            <a:off x="5777004" y="2952301"/>
            <a:ext cx="6337153" cy="1950289"/>
          </a:xfrm>
          <a:prstGeom prst="rect">
            <a:avLst/>
          </a:prstGeom>
        </p:spPr>
      </p:pic>
      <p:sp>
        <p:nvSpPr>
          <p:cNvPr id="4" name="文本框 3">
            <a:extLst>
              <a:ext uri="{FF2B5EF4-FFF2-40B4-BE49-F238E27FC236}">
                <a16:creationId xmlns:a16="http://schemas.microsoft.com/office/drawing/2014/main" id="{68C9E5D8-A61E-B63C-3C78-F339677355E4}"/>
              </a:ext>
            </a:extLst>
          </p:cNvPr>
          <p:cNvSpPr txBox="1"/>
          <p:nvPr/>
        </p:nvSpPr>
        <p:spPr>
          <a:xfrm>
            <a:off x="2179185" y="2582969"/>
            <a:ext cx="1033931" cy="369332"/>
          </a:xfrm>
          <a:prstGeom prst="rect">
            <a:avLst/>
          </a:prstGeom>
          <a:noFill/>
        </p:spPr>
        <p:txBody>
          <a:bodyPr wrap="square" rtlCol="0">
            <a:spAutoFit/>
          </a:bodyPr>
          <a:lstStyle/>
          <a:p>
            <a:r>
              <a:rPr lang="zh-CN" altLang="en-US" b="1" dirty="0">
                <a:solidFill>
                  <a:srgbClr val="FF0000"/>
                </a:solidFill>
              </a:rPr>
              <a:t>已录入</a:t>
            </a:r>
          </a:p>
        </p:txBody>
      </p:sp>
      <p:pic>
        <p:nvPicPr>
          <p:cNvPr id="9" name="图片 8">
            <a:extLst>
              <a:ext uri="{FF2B5EF4-FFF2-40B4-BE49-F238E27FC236}">
                <a16:creationId xmlns:a16="http://schemas.microsoft.com/office/drawing/2014/main" id="{290B3D45-DB45-41BE-9249-16C2D9FB14DF}"/>
              </a:ext>
            </a:extLst>
          </p:cNvPr>
          <p:cNvPicPr>
            <a:picLocks noChangeAspect="1"/>
          </p:cNvPicPr>
          <p:nvPr/>
        </p:nvPicPr>
        <p:blipFill>
          <a:blip r:embed="rId7"/>
          <a:stretch>
            <a:fillRect/>
          </a:stretch>
        </p:blipFill>
        <p:spPr>
          <a:xfrm>
            <a:off x="3811127" y="4759474"/>
            <a:ext cx="858212" cy="1963486"/>
          </a:xfrm>
          <a:prstGeom prst="rect">
            <a:avLst/>
          </a:prstGeom>
        </p:spPr>
      </p:pic>
      <p:sp>
        <p:nvSpPr>
          <p:cNvPr id="11" name="文本框 10">
            <a:extLst>
              <a:ext uri="{FF2B5EF4-FFF2-40B4-BE49-F238E27FC236}">
                <a16:creationId xmlns:a16="http://schemas.microsoft.com/office/drawing/2014/main" id="{E16C3FDE-0A8C-6061-16EA-BCC88D85104E}"/>
              </a:ext>
            </a:extLst>
          </p:cNvPr>
          <p:cNvSpPr txBox="1"/>
          <p:nvPr/>
        </p:nvSpPr>
        <p:spPr>
          <a:xfrm>
            <a:off x="558145" y="5418051"/>
            <a:ext cx="1986766" cy="646331"/>
          </a:xfrm>
          <a:prstGeom prst="rect">
            <a:avLst/>
          </a:prstGeom>
          <a:noFill/>
          <a:ln w="25400">
            <a:solidFill>
              <a:schemeClr val="accent1"/>
            </a:solidFill>
          </a:ln>
        </p:spPr>
        <p:txBody>
          <a:bodyPr wrap="square" rtlCol="0">
            <a:spAutoFit/>
          </a:bodyPr>
          <a:lstStyle/>
          <a:p>
            <a:r>
              <a:rPr lang="zh-CN" altLang="en-US" sz="1600" dirty="0"/>
              <a:t>近</a:t>
            </a:r>
            <a:r>
              <a:rPr lang="en-US" altLang="zh-CN" sz="1600" dirty="0"/>
              <a:t>30</a:t>
            </a:r>
            <a:r>
              <a:rPr lang="zh-CN" altLang="en-US" dirty="0"/>
              <a:t>篇，包含基酒与成品酒</a:t>
            </a:r>
          </a:p>
        </p:txBody>
      </p:sp>
      <p:sp>
        <p:nvSpPr>
          <p:cNvPr id="12" name="箭头: 右 11">
            <a:extLst>
              <a:ext uri="{FF2B5EF4-FFF2-40B4-BE49-F238E27FC236}">
                <a16:creationId xmlns:a16="http://schemas.microsoft.com/office/drawing/2014/main" id="{CD1B3062-6AFD-8838-D17D-E4C3009A6615}"/>
              </a:ext>
            </a:extLst>
          </p:cNvPr>
          <p:cNvSpPr/>
          <p:nvPr/>
        </p:nvSpPr>
        <p:spPr>
          <a:xfrm rot="10800000">
            <a:off x="2985146" y="5797490"/>
            <a:ext cx="562936" cy="233306"/>
          </a:xfrm>
          <a:prstGeom prst="rightArrow">
            <a:avLst/>
          </a:prstGeom>
          <a:gradFill flip="none" rotWithShape="1">
            <a:gsLst>
              <a:gs pos="8000">
                <a:schemeClr val="bg1"/>
              </a:gs>
              <a:gs pos="100000">
                <a:srgbClr val="FF0000"/>
              </a:gs>
              <a:gs pos="100000">
                <a:srgbClr val="FF000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3" name="文本框 12">
            <a:extLst>
              <a:ext uri="{FF2B5EF4-FFF2-40B4-BE49-F238E27FC236}">
                <a16:creationId xmlns:a16="http://schemas.microsoft.com/office/drawing/2014/main" id="{D97A166E-5E78-95BC-B698-E68B2979EDF1}"/>
              </a:ext>
            </a:extLst>
          </p:cNvPr>
          <p:cNvSpPr txBox="1"/>
          <p:nvPr/>
        </p:nvSpPr>
        <p:spPr>
          <a:xfrm>
            <a:off x="2213922" y="6320027"/>
            <a:ext cx="1033931" cy="369332"/>
          </a:xfrm>
          <a:prstGeom prst="rect">
            <a:avLst/>
          </a:prstGeom>
          <a:noFill/>
        </p:spPr>
        <p:txBody>
          <a:bodyPr wrap="square" rtlCol="0">
            <a:spAutoFit/>
          </a:bodyPr>
          <a:lstStyle/>
          <a:p>
            <a:r>
              <a:rPr lang="zh-CN" altLang="en-US" b="1" dirty="0">
                <a:solidFill>
                  <a:srgbClr val="FF0000"/>
                </a:solidFill>
              </a:rPr>
              <a:t>未录入</a:t>
            </a:r>
          </a:p>
        </p:txBody>
      </p:sp>
      <p:sp>
        <p:nvSpPr>
          <p:cNvPr id="14" name="矩形 13">
            <a:extLst>
              <a:ext uri="{FF2B5EF4-FFF2-40B4-BE49-F238E27FC236}">
                <a16:creationId xmlns:a16="http://schemas.microsoft.com/office/drawing/2014/main" id="{7E03603D-AC37-81FF-88EF-A1E71D27E501}"/>
              </a:ext>
            </a:extLst>
          </p:cNvPr>
          <p:cNvSpPr/>
          <p:nvPr/>
        </p:nvSpPr>
        <p:spPr>
          <a:xfrm>
            <a:off x="3747401" y="4750053"/>
            <a:ext cx="300229" cy="19823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左大括号 19">
            <a:extLst>
              <a:ext uri="{FF2B5EF4-FFF2-40B4-BE49-F238E27FC236}">
                <a16:creationId xmlns:a16="http://schemas.microsoft.com/office/drawing/2014/main" id="{FD104FF6-DEAB-DA36-0CD6-22DAA303ED13}"/>
              </a:ext>
            </a:extLst>
          </p:cNvPr>
          <p:cNvSpPr/>
          <p:nvPr/>
        </p:nvSpPr>
        <p:spPr>
          <a:xfrm rot="10800000">
            <a:off x="9284030" y="5526735"/>
            <a:ext cx="331125" cy="1056262"/>
          </a:xfrm>
          <a:prstGeom prst="leftBrace">
            <a:avLst>
              <a:gd name="adj1" fmla="val 8333"/>
              <a:gd name="adj2" fmla="val 50000"/>
            </a:avLst>
          </a:prstGeom>
          <a:noFill/>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0C0CA8F7-BE2E-36A3-6924-C4E74D3FFF0E}"/>
              </a:ext>
            </a:extLst>
          </p:cNvPr>
          <p:cNvSpPr txBox="1"/>
          <p:nvPr/>
        </p:nvSpPr>
        <p:spPr>
          <a:xfrm>
            <a:off x="9994793" y="5846130"/>
            <a:ext cx="1033931" cy="369332"/>
          </a:xfrm>
          <a:prstGeom prst="rect">
            <a:avLst/>
          </a:prstGeom>
          <a:noFill/>
        </p:spPr>
        <p:txBody>
          <a:bodyPr wrap="square" rtlCol="0">
            <a:spAutoFit/>
          </a:bodyPr>
          <a:lstStyle/>
          <a:p>
            <a:r>
              <a:rPr lang="zh-CN" altLang="en-US" b="1" dirty="0">
                <a:solidFill>
                  <a:srgbClr val="FF0000"/>
                </a:solidFill>
              </a:rPr>
              <a:t>提交</a:t>
            </a:r>
          </a:p>
        </p:txBody>
      </p:sp>
    </p:spTree>
    <p:extLst>
      <p:ext uri="{BB962C8B-B14F-4D97-AF65-F5344CB8AC3E}">
        <p14:creationId xmlns:p14="http://schemas.microsoft.com/office/powerpoint/2010/main" val="3242738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4C699-AF76-4194-5A40-BF59B07488DA}"/>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6271538B-BBBE-8340-7505-B7C9D00EC3CC}"/>
              </a:ext>
            </a:extLst>
          </p:cNvPr>
          <p:cNvSpPr txBox="1"/>
          <p:nvPr/>
        </p:nvSpPr>
        <p:spPr>
          <a:xfrm>
            <a:off x="26391" y="2771"/>
            <a:ext cx="9968402" cy="584775"/>
          </a:xfrm>
          <a:prstGeom prst="rect">
            <a:avLst/>
          </a:prstGeom>
          <a:noFill/>
        </p:spPr>
        <p:txBody>
          <a:bodyPr wrap="square">
            <a:spAutoFit/>
          </a:bodyPr>
          <a:lstStyle/>
          <a:p>
            <a:r>
              <a:rPr lang="zh-CN" altLang="en-US" sz="3200" b="1" dirty="0">
                <a:solidFill>
                  <a:srgbClr val="2F5597"/>
                </a:solidFill>
                <a:latin typeface="微软雅黑" panose="020B0503020204020204" charset="-122"/>
                <a:ea typeface="微软雅黑" panose="020B0503020204020204" charset="-122"/>
                <a:cs typeface="微软雅黑" panose="020B0503020204020204" charset="-122"/>
              </a:rPr>
              <a:t>本学期各目标开展方案</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pic>
        <p:nvPicPr>
          <p:cNvPr id="17" name="图片 16">
            <a:extLst>
              <a:ext uri="{FF2B5EF4-FFF2-40B4-BE49-F238E27FC236}">
                <a16:creationId xmlns:a16="http://schemas.microsoft.com/office/drawing/2014/main" id="{E27AD19E-4C59-5650-695C-D16A060E72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714" y="64216"/>
            <a:ext cx="646689" cy="643954"/>
          </a:xfrm>
          <a:prstGeom prst="rect">
            <a:avLst/>
          </a:prstGeom>
        </p:spPr>
      </p:pic>
      <p:cxnSp>
        <p:nvCxnSpPr>
          <p:cNvPr id="19" name="直接连接符 18">
            <a:extLst>
              <a:ext uri="{FF2B5EF4-FFF2-40B4-BE49-F238E27FC236}">
                <a16:creationId xmlns:a16="http://schemas.microsoft.com/office/drawing/2014/main" id="{5825BC37-6304-2934-7C5D-337077A4C20F}"/>
              </a:ext>
            </a:extLst>
          </p:cNvPr>
          <p:cNvCxnSpPr/>
          <p:nvPr/>
        </p:nvCxnSpPr>
        <p:spPr>
          <a:xfrm>
            <a:off x="127220" y="598747"/>
            <a:ext cx="10312842" cy="0"/>
          </a:xfrm>
          <a:prstGeom prst="line">
            <a:avLst/>
          </a:prstGeom>
          <a:ln w="28575">
            <a:solidFill>
              <a:srgbClr val="A50021"/>
            </a:solidFill>
          </a:ln>
        </p:spPr>
        <p:style>
          <a:lnRef idx="1">
            <a:schemeClr val="accent2"/>
          </a:lnRef>
          <a:fillRef idx="0">
            <a:schemeClr val="accent2"/>
          </a:fillRef>
          <a:effectRef idx="0">
            <a:schemeClr val="accent2"/>
          </a:effectRef>
          <a:fontRef idx="minor">
            <a:schemeClr val="tx1"/>
          </a:fontRef>
        </p:style>
      </p:cxnSp>
      <p:sp>
        <p:nvSpPr>
          <p:cNvPr id="2" name="文本框 1">
            <a:extLst>
              <a:ext uri="{FF2B5EF4-FFF2-40B4-BE49-F238E27FC236}">
                <a16:creationId xmlns:a16="http://schemas.microsoft.com/office/drawing/2014/main" id="{3DA04CD2-49B6-CBDC-C218-D042A4DC91A2}"/>
              </a:ext>
            </a:extLst>
          </p:cNvPr>
          <p:cNvSpPr txBox="1"/>
          <p:nvPr/>
        </p:nvSpPr>
        <p:spPr>
          <a:xfrm>
            <a:off x="410921" y="752000"/>
            <a:ext cx="5188891" cy="369332"/>
          </a:xfrm>
          <a:prstGeom prst="rect">
            <a:avLst/>
          </a:prstGeom>
          <a:noFill/>
        </p:spPr>
        <p:txBody>
          <a:bodyPr wrap="square" rtlCol="0">
            <a:spAutoFit/>
          </a:bodyPr>
          <a:lstStyle/>
          <a:p>
            <a:r>
              <a:rPr lang="en-US" altLang="zh-CN" b="1" dirty="0">
                <a:solidFill>
                  <a:srgbClr val="FF0000"/>
                </a:solidFill>
              </a:rPr>
              <a:t>3-6</a:t>
            </a:r>
            <a:r>
              <a:rPr lang="zh-CN" altLang="en-US" b="1" dirty="0">
                <a:solidFill>
                  <a:srgbClr val="FF0000"/>
                </a:solidFill>
              </a:rPr>
              <a:t>月目标：结合风味轮廓选取模型库进行训练</a:t>
            </a:r>
          </a:p>
        </p:txBody>
      </p:sp>
      <p:cxnSp>
        <p:nvCxnSpPr>
          <p:cNvPr id="38" name="直接连接符 37">
            <a:extLst>
              <a:ext uri="{FF2B5EF4-FFF2-40B4-BE49-F238E27FC236}">
                <a16:creationId xmlns:a16="http://schemas.microsoft.com/office/drawing/2014/main" id="{BBF21C3F-A15D-6802-40BE-8B046D2C6214}"/>
              </a:ext>
            </a:extLst>
          </p:cNvPr>
          <p:cNvCxnSpPr/>
          <p:nvPr/>
        </p:nvCxnSpPr>
        <p:spPr>
          <a:xfrm>
            <a:off x="5599814" y="1121332"/>
            <a:ext cx="0" cy="5461665"/>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A3314A36-D471-7DF7-DC4C-671539CF8D3B}"/>
              </a:ext>
            </a:extLst>
          </p:cNvPr>
          <p:cNvSpPr txBox="1"/>
          <p:nvPr/>
        </p:nvSpPr>
        <p:spPr>
          <a:xfrm>
            <a:off x="6096000" y="1477774"/>
            <a:ext cx="1511807" cy="338554"/>
          </a:xfrm>
          <a:prstGeom prst="rect">
            <a:avLst/>
          </a:prstGeom>
          <a:solidFill>
            <a:schemeClr val="tx1">
              <a:alpha val="14000"/>
            </a:schemeClr>
          </a:solidFill>
        </p:spPr>
        <p:txBody>
          <a:bodyPr wrap="square" rtlCol="0">
            <a:spAutoFit/>
          </a:bodyPr>
          <a:lstStyle/>
          <a:p>
            <a:r>
              <a:rPr lang="zh-CN" altLang="en-US" sz="1600" dirty="0"/>
              <a:t>三：</a:t>
            </a:r>
            <a:r>
              <a:rPr lang="en-US" altLang="zh-CN" sz="1600" dirty="0"/>
              <a:t> </a:t>
            </a:r>
            <a:r>
              <a:rPr lang="zh-CN" altLang="en-US" sz="1600" dirty="0"/>
              <a:t>模型选取</a:t>
            </a:r>
            <a:endParaRPr lang="zh-CN" altLang="en-US" dirty="0"/>
          </a:p>
        </p:txBody>
      </p:sp>
      <p:sp>
        <p:nvSpPr>
          <p:cNvPr id="50" name="文本框 49">
            <a:extLst>
              <a:ext uri="{FF2B5EF4-FFF2-40B4-BE49-F238E27FC236}">
                <a16:creationId xmlns:a16="http://schemas.microsoft.com/office/drawing/2014/main" id="{6F67DFDB-12B0-FEA9-C6A2-4822B9F36874}"/>
              </a:ext>
            </a:extLst>
          </p:cNvPr>
          <p:cNvSpPr txBox="1"/>
          <p:nvPr/>
        </p:nvSpPr>
        <p:spPr>
          <a:xfrm>
            <a:off x="6096000" y="2063842"/>
            <a:ext cx="2484852" cy="1200329"/>
          </a:xfrm>
          <a:prstGeom prst="rect">
            <a:avLst/>
          </a:prstGeom>
          <a:noFill/>
          <a:ln w="25400">
            <a:solidFill>
              <a:schemeClr val="accent1"/>
            </a:solidFill>
          </a:ln>
        </p:spPr>
        <p:txBody>
          <a:bodyPr wrap="square" rtlCol="0">
            <a:spAutoFit/>
          </a:bodyPr>
          <a:lstStyle/>
          <a:p>
            <a:r>
              <a:rPr lang="zh-CN" altLang="en-US" dirty="0"/>
              <a:t>由于风味感官评价与定性定量数据的关系非线性且复杂，所以优先选择神经网络</a:t>
            </a:r>
          </a:p>
        </p:txBody>
      </p:sp>
      <p:sp>
        <p:nvSpPr>
          <p:cNvPr id="53" name="文本框 52">
            <a:extLst>
              <a:ext uri="{FF2B5EF4-FFF2-40B4-BE49-F238E27FC236}">
                <a16:creationId xmlns:a16="http://schemas.microsoft.com/office/drawing/2014/main" id="{71EF85D6-DA2F-4514-D3DC-84170677844A}"/>
              </a:ext>
            </a:extLst>
          </p:cNvPr>
          <p:cNvSpPr txBox="1"/>
          <p:nvPr/>
        </p:nvSpPr>
        <p:spPr>
          <a:xfrm>
            <a:off x="6148565" y="4697275"/>
            <a:ext cx="2290959" cy="1477328"/>
          </a:xfrm>
          <a:prstGeom prst="rect">
            <a:avLst/>
          </a:prstGeom>
          <a:noFill/>
          <a:ln w="25400">
            <a:solidFill>
              <a:schemeClr val="accent1"/>
            </a:solidFill>
          </a:ln>
        </p:spPr>
        <p:txBody>
          <a:bodyPr wrap="square" rtlCol="0">
            <a:spAutoFit/>
          </a:bodyPr>
          <a:lstStyle/>
          <a:p>
            <a:r>
              <a:rPr lang="zh-CN" altLang="en-US" dirty="0"/>
              <a:t>将数据投入观测空间，使用模拟仿真测试观察适配度，使用</a:t>
            </a:r>
            <a:r>
              <a:rPr lang="en-US" altLang="zh-CN" dirty="0"/>
              <a:t>ai</a:t>
            </a:r>
            <a:r>
              <a:rPr lang="zh-CN" altLang="en-US" dirty="0"/>
              <a:t>进行帮助编写筛选代码，并投入训练</a:t>
            </a:r>
          </a:p>
        </p:txBody>
      </p:sp>
      <p:sp>
        <p:nvSpPr>
          <p:cNvPr id="54" name="文本框 53">
            <a:extLst>
              <a:ext uri="{FF2B5EF4-FFF2-40B4-BE49-F238E27FC236}">
                <a16:creationId xmlns:a16="http://schemas.microsoft.com/office/drawing/2014/main" id="{D30910D8-9864-095E-B151-50D3DAA9ABEA}"/>
              </a:ext>
            </a:extLst>
          </p:cNvPr>
          <p:cNvSpPr txBox="1"/>
          <p:nvPr/>
        </p:nvSpPr>
        <p:spPr>
          <a:xfrm>
            <a:off x="6076477" y="3649942"/>
            <a:ext cx="3410875" cy="338554"/>
          </a:xfrm>
          <a:prstGeom prst="rect">
            <a:avLst/>
          </a:prstGeom>
          <a:solidFill>
            <a:schemeClr val="tx1">
              <a:alpha val="14000"/>
            </a:schemeClr>
          </a:solidFill>
        </p:spPr>
        <p:txBody>
          <a:bodyPr wrap="square" rtlCol="0">
            <a:spAutoFit/>
          </a:bodyPr>
          <a:lstStyle/>
          <a:p>
            <a:r>
              <a:rPr lang="zh-CN" altLang="en-US" sz="1600" dirty="0"/>
              <a:t>四：调参库</a:t>
            </a:r>
            <a:r>
              <a:rPr lang="en-US" altLang="zh-CN" sz="1600" dirty="0" err="1"/>
              <a:t>PyTorch</a:t>
            </a:r>
            <a:r>
              <a:rPr lang="zh-CN" altLang="en-US" sz="1600" dirty="0"/>
              <a:t>安装学习及调试</a:t>
            </a:r>
          </a:p>
        </p:txBody>
      </p:sp>
      <p:pic>
        <p:nvPicPr>
          <p:cNvPr id="5" name="图片 4" descr="图示, 示意图&#10;&#10;AI 生成的内容可能不正确。">
            <a:extLst>
              <a:ext uri="{FF2B5EF4-FFF2-40B4-BE49-F238E27FC236}">
                <a16:creationId xmlns:a16="http://schemas.microsoft.com/office/drawing/2014/main" id="{0BF55013-ED21-70A1-3F94-E03DF9D53A4A}"/>
              </a:ext>
            </a:extLst>
          </p:cNvPr>
          <p:cNvPicPr>
            <a:picLocks noChangeAspect="1"/>
          </p:cNvPicPr>
          <p:nvPr/>
        </p:nvPicPr>
        <p:blipFill>
          <a:blip r:embed="rId4"/>
          <a:stretch>
            <a:fillRect/>
          </a:stretch>
        </p:blipFill>
        <p:spPr>
          <a:xfrm>
            <a:off x="9093911" y="2019338"/>
            <a:ext cx="2005681" cy="1095771"/>
          </a:xfrm>
          <a:prstGeom prst="rect">
            <a:avLst/>
          </a:prstGeom>
        </p:spPr>
      </p:pic>
      <p:pic>
        <p:nvPicPr>
          <p:cNvPr id="16" name="图片 15">
            <a:extLst>
              <a:ext uri="{FF2B5EF4-FFF2-40B4-BE49-F238E27FC236}">
                <a16:creationId xmlns:a16="http://schemas.microsoft.com/office/drawing/2014/main" id="{0EECD2B6-61C6-FC47-80CF-0AC395C6C9F9}"/>
              </a:ext>
            </a:extLst>
          </p:cNvPr>
          <p:cNvPicPr>
            <a:picLocks noChangeAspect="1"/>
          </p:cNvPicPr>
          <p:nvPr/>
        </p:nvPicPr>
        <p:blipFill>
          <a:blip r:embed="rId5"/>
          <a:stretch>
            <a:fillRect/>
          </a:stretch>
        </p:blipFill>
        <p:spPr>
          <a:xfrm>
            <a:off x="9166604" y="4624345"/>
            <a:ext cx="1932988" cy="1532723"/>
          </a:xfrm>
          <a:prstGeom prst="rect">
            <a:avLst/>
          </a:prstGeom>
        </p:spPr>
      </p:pic>
      <p:sp>
        <p:nvSpPr>
          <p:cNvPr id="18" name="文本框 17">
            <a:extLst>
              <a:ext uri="{FF2B5EF4-FFF2-40B4-BE49-F238E27FC236}">
                <a16:creationId xmlns:a16="http://schemas.microsoft.com/office/drawing/2014/main" id="{7D22ED3B-715F-C861-7E12-CB261BF22E8B}"/>
              </a:ext>
            </a:extLst>
          </p:cNvPr>
          <p:cNvSpPr txBox="1"/>
          <p:nvPr/>
        </p:nvSpPr>
        <p:spPr>
          <a:xfrm>
            <a:off x="410920" y="1477774"/>
            <a:ext cx="2533445" cy="338554"/>
          </a:xfrm>
          <a:prstGeom prst="rect">
            <a:avLst/>
          </a:prstGeom>
          <a:solidFill>
            <a:schemeClr val="tx1">
              <a:alpha val="14000"/>
            </a:schemeClr>
          </a:solidFill>
        </p:spPr>
        <p:txBody>
          <a:bodyPr wrap="square" rtlCol="0">
            <a:spAutoFit/>
          </a:bodyPr>
          <a:lstStyle/>
          <a:p>
            <a:r>
              <a:rPr lang="zh-CN" altLang="en-US" sz="1600" dirty="0"/>
              <a:t>一：数据库白酒性质确定</a:t>
            </a:r>
            <a:endParaRPr lang="zh-CN" altLang="en-US" dirty="0"/>
          </a:p>
        </p:txBody>
      </p:sp>
      <p:sp>
        <p:nvSpPr>
          <p:cNvPr id="21" name="文本框 20">
            <a:extLst>
              <a:ext uri="{FF2B5EF4-FFF2-40B4-BE49-F238E27FC236}">
                <a16:creationId xmlns:a16="http://schemas.microsoft.com/office/drawing/2014/main" id="{174D362C-C55A-49D8-B063-356568196C04}"/>
              </a:ext>
            </a:extLst>
          </p:cNvPr>
          <p:cNvSpPr txBox="1"/>
          <p:nvPr/>
        </p:nvSpPr>
        <p:spPr>
          <a:xfrm>
            <a:off x="416857" y="2172770"/>
            <a:ext cx="2710390" cy="1477328"/>
          </a:xfrm>
          <a:prstGeom prst="rect">
            <a:avLst/>
          </a:prstGeom>
          <a:noFill/>
          <a:ln w="25400">
            <a:solidFill>
              <a:schemeClr val="accent1"/>
            </a:solidFill>
          </a:ln>
        </p:spPr>
        <p:txBody>
          <a:bodyPr wrap="square" rtlCol="0">
            <a:spAutoFit/>
          </a:bodyPr>
          <a:lstStyle/>
          <a:p>
            <a:r>
              <a:rPr lang="zh-CN" altLang="en-US" dirty="0"/>
              <a:t>确定数据库中浓香型白酒的产区、品牌、制作工艺，购入市面相对应的白酒成品酒进行感官测试如</a:t>
            </a:r>
            <a:r>
              <a:rPr lang="en-US" altLang="zh-CN" dirty="0"/>
              <a:t>QDA</a:t>
            </a:r>
            <a:r>
              <a:rPr lang="zh-CN" altLang="en-US" dirty="0"/>
              <a:t>，得到感官数据</a:t>
            </a:r>
          </a:p>
        </p:txBody>
      </p:sp>
      <p:pic>
        <p:nvPicPr>
          <p:cNvPr id="1026" name="Picture 2" descr="酒桌涨知识~三分钟带你读懂浓香型白酒！_河南日月酒窖品牌管理有限公司官网">
            <a:extLst>
              <a:ext uri="{FF2B5EF4-FFF2-40B4-BE49-F238E27FC236}">
                <a16:creationId xmlns:a16="http://schemas.microsoft.com/office/drawing/2014/main" id="{3B729AAB-97B3-DBCD-D0E0-E6D988A39D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9510" y="2249714"/>
            <a:ext cx="1985160" cy="1323440"/>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49E02376-5E71-D3D6-22C2-878B5E054A98}"/>
              </a:ext>
            </a:extLst>
          </p:cNvPr>
          <p:cNvSpPr txBox="1"/>
          <p:nvPr/>
        </p:nvSpPr>
        <p:spPr>
          <a:xfrm>
            <a:off x="410919" y="4138185"/>
            <a:ext cx="2131113" cy="338554"/>
          </a:xfrm>
          <a:prstGeom prst="rect">
            <a:avLst/>
          </a:prstGeom>
          <a:solidFill>
            <a:schemeClr val="tx1">
              <a:alpha val="14000"/>
            </a:schemeClr>
          </a:solidFill>
        </p:spPr>
        <p:txBody>
          <a:bodyPr wrap="square" rtlCol="0">
            <a:spAutoFit/>
          </a:bodyPr>
          <a:lstStyle/>
          <a:p>
            <a:r>
              <a:rPr lang="zh-CN" altLang="en-US" sz="1600" dirty="0"/>
              <a:t>二：数据处理与分析</a:t>
            </a:r>
            <a:endParaRPr lang="zh-CN" altLang="en-US" dirty="0"/>
          </a:p>
        </p:txBody>
      </p:sp>
      <p:pic>
        <p:nvPicPr>
          <p:cNvPr id="1028" name="Picture 4" descr="酱香型白酒风味轮（包含其异嗅味风味轮）及案例分享_感官课堂_感官资料_感知网">
            <a:extLst>
              <a:ext uri="{FF2B5EF4-FFF2-40B4-BE49-F238E27FC236}">
                <a16:creationId xmlns:a16="http://schemas.microsoft.com/office/drawing/2014/main" id="{BD0E4943-7C43-CF33-5B0B-8C862E5F94E4}"/>
              </a:ext>
            </a:extLst>
          </p:cNvPr>
          <p:cNvPicPr>
            <a:picLocks noChangeArrowheads="1"/>
          </p:cNvPicPr>
          <p:nvPr/>
        </p:nvPicPr>
        <p:blipFill rotWithShape="1">
          <a:blip r:embed="rId7">
            <a:extLst>
              <a:ext uri="{28A0092B-C50C-407E-A947-70E740481C1C}">
                <a14:useLocalDpi xmlns:a14="http://schemas.microsoft.com/office/drawing/2010/main" val="0"/>
              </a:ext>
            </a:extLst>
          </a:blip>
          <a:srcRect r="788" b="8906"/>
          <a:stretch>
            <a:fillRect/>
          </a:stretch>
        </p:blipFill>
        <p:spPr bwMode="auto">
          <a:xfrm>
            <a:off x="3630368" y="4316606"/>
            <a:ext cx="1215949" cy="2148202"/>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C85EBBC3-E9E6-CB0B-AF7E-0848543C67DA}"/>
              </a:ext>
            </a:extLst>
          </p:cNvPr>
          <p:cNvSpPr txBox="1"/>
          <p:nvPr/>
        </p:nvSpPr>
        <p:spPr>
          <a:xfrm>
            <a:off x="427052" y="5048625"/>
            <a:ext cx="2624319" cy="1200329"/>
          </a:xfrm>
          <a:prstGeom prst="rect">
            <a:avLst/>
          </a:prstGeom>
          <a:noFill/>
          <a:ln w="25400">
            <a:solidFill>
              <a:schemeClr val="accent1"/>
            </a:solidFill>
          </a:ln>
        </p:spPr>
        <p:txBody>
          <a:bodyPr wrap="square" rtlCol="0">
            <a:spAutoFit/>
          </a:bodyPr>
          <a:lstStyle/>
          <a:p>
            <a:r>
              <a:rPr lang="zh-CN" altLang="en-US" dirty="0"/>
              <a:t>进行数据预处理和详细分析，如</a:t>
            </a:r>
            <a:r>
              <a:rPr lang="en-US" altLang="zh-CN" dirty="0"/>
              <a:t>PCA</a:t>
            </a:r>
            <a:r>
              <a:rPr lang="zh-CN" altLang="en-US" dirty="0"/>
              <a:t>主成分分析，并制作风味轮，作为机器学习输入数据</a:t>
            </a:r>
          </a:p>
        </p:txBody>
      </p:sp>
    </p:spTree>
    <p:extLst>
      <p:ext uri="{BB962C8B-B14F-4D97-AF65-F5344CB8AC3E}">
        <p14:creationId xmlns:p14="http://schemas.microsoft.com/office/powerpoint/2010/main" val="93738442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2912</TotalTime>
  <Words>1151</Words>
  <Application>Microsoft Office PowerPoint</Application>
  <PresentationFormat>宽屏</PresentationFormat>
  <Paragraphs>156</Paragraphs>
  <Slides>11</Slides>
  <Notes>11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等线</vt:lpstr>
      <vt:lpstr>等线 Light</vt:lpstr>
      <vt:lpstr>黑体</vt:lpstr>
      <vt:lpstr>微软雅黑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 d</dc:creator>
  <cp:lastModifiedBy>d d</cp:lastModifiedBy>
  <cp:revision>17</cp:revision>
  <dcterms:created xsi:type="dcterms:W3CDTF">2025-11-02T18:02:50Z</dcterms:created>
  <dcterms:modified xsi:type="dcterms:W3CDTF">2026-03-13T04:40:13Z</dcterms:modified>
</cp:coreProperties>
</file>